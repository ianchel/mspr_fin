
<file path=[Content_Types].xml><?xml version="1.0" encoding="utf-8"?>
<Types xmlns="http://schemas.openxmlformats.org/package/2006/content-types">
  <Default Extension="bin" ContentType="application/vnd.openxmlformats-officedocument.oleObject"/>
  <Default Extension="jpeg" ContentType="image/jpeg"/>
  <Default Extension="rels" ContentType="application/vnd.openxmlformats-package.relationships+xml"/>
  <Default Extension="xml" ContentType="application/xml"/>
  <Default Extension="png" ContentType="image/png"/>
  <Default Extension="wmf" ContentType="image/x-wmf"/>
  <Default Extension="svg" ContentType="image/svg+xml"/>
  <Override PartName="/ppt/theme/theme2.xml" ContentType="application/vnd.openxmlformats-officedocument.theme+xml"/>
  <Override PartName="/ppt/slideLayouts/slideLayout10.xml" ContentType="application/vnd.openxmlformats-officedocument.presentationml.slideLayout+xml"/>
  <Override PartName="/ppt/presentation.xml" ContentType="application/vnd.openxmlformats-officedocument.presentationml.presentation.main+xml"/>
  <Override PartName="/ppt/slideLayouts/slideLayout5.xml" ContentType="application/vnd.openxmlformats-officedocument.presentationml.slideLayout+xml"/>
  <Override PartName="/ppt/tableStyles.xml" ContentType="application/vnd.openxmlformats-officedocument.presentationml.tableStyles+xml"/>
  <Override PartName="/ppt/presProps.xml" ContentType="application/vnd.openxmlformats-officedocument.presentationml.presProps+xml"/>
  <Override PartName="/ppt/slides/slide15.xml" ContentType="application/vnd.openxmlformats-officedocument.presentationml.slide+xml"/>
  <Override PartName="/docProps/app.xml" ContentType="application/vnd.openxmlformats-officedocument.extended-properties+xml"/>
  <Override PartName="/ppt/viewProps.xml" ContentType="application/vnd.openxmlformats-officedocument.presentationml.viewProps+xml"/>
  <Override PartName="/ppt/slideLayouts/slideLayout6.xml" ContentType="application/vnd.openxmlformats-officedocument.presentationml.slideLayout+xml"/>
  <Override PartName="/docProps/core.xml" ContentType="application/vnd.openxmlformats-package.core-properties+xml"/>
  <Override PartName="/ppt/theme/theme1.xml" ContentType="application/vnd.openxmlformats-officedocument.theme+xml"/>
  <Override PartName="/ppt/slides/slide23.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1.xml" ContentType="application/vnd.openxmlformats-officedocument.presentationml.slideLayout+xml"/>
  <Override PartName="/ppt/notesSlides/notesSlide1.xml" ContentType="application/vnd.openxmlformats-officedocument.presentationml.notesSlide+xml"/>
  <Override PartName="/ppt/slides/slide18.xml" ContentType="application/vnd.openxmlformats-officedocument.presentationml.slide+xml"/>
  <Override PartName="/ppt/slides/slide1.xml" ContentType="application/vnd.openxmlformats-officedocument.presentationml.slide+xml"/>
  <Override PartName="/ppt/notesSlides/notesSlide2.xml" ContentType="application/vnd.openxmlformats-officedocument.presentationml.notesSlide+xml"/>
  <Override PartName="/ppt/slides/slide2.xml" ContentType="application/vnd.openxmlformats-officedocument.presentationml.slide+xml"/>
  <Override PartName="/ppt/notesSlides/notesSlide3.xml" ContentType="application/vnd.openxmlformats-officedocument.presentationml.notesSlide+xml"/>
  <Override PartName="/ppt/slides/slide3.xml" ContentType="application/vnd.openxmlformats-officedocument.presentationml.slide+xml"/>
  <Override PartName="/ppt/notesSlides/notesSlide4.xml" ContentType="application/vnd.openxmlformats-officedocument.presentationml.notesSlide+xml"/>
  <Override PartName="/ppt/slides/slide4.xml" ContentType="application/vnd.openxmlformats-officedocument.presentationml.slide+xml"/>
  <Override PartName="/ppt/notesSlides/notesSlide5.xml" ContentType="application/vnd.openxmlformats-officedocument.presentationml.notesSlide+xml"/>
  <Override PartName="/ppt/slides/slide5.xml" ContentType="application/vnd.openxmlformats-officedocument.presentationml.slide+xml"/>
  <Override PartName="/ppt/notesSlides/notesSlide6.xml" ContentType="application/vnd.openxmlformats-officedocument.presentationml.notesSlide+xml"/>
  <Override PartName="/ppt/slides/slide6.xml" ContentType="application/vnd.openxmlformats-officedocument.presentationml.slide+xml"/>
  <Override PartName="/ppt/notesSlides/notesSlide7.xml" ContentType="application/vnd.openxmlformats-officedocument.presentationml.notesSlide+xml"/>
  <Override PartName="/ppt/slides/slide7.xml" ContentType="application/vnd.openxmlformats-officedocument.presentationml.slide+xml"/>
  <Override PartName="/ppt/notesSlides/notesSlide11.xml" ContentType="application/vnd.openxmlformats-officedocument.presentationml.notesSlide+xml"/>
  <Override PartName="/ppt/notesSlides/notesSlide8.xml" ContentType="application/vnd.openxmlformats-officedocument.presentationml.notesSlide+xml"/>
  <Override PartName="/ppt/slides/slide11.xml" ContentType="application/vnd.openxmlformats-officedocument.presentationml.slide+xml"/>
  <Override PartName="/ppt/slides/slide8.xml" ContentType="application/vnd.openxmlformats-officedocument.presentationml.slide+xml"/>
  <Override PartName="/ppt/notesSlides/notesSlide10.xml" ContentType="application/vnd.openxmlformats-officedocument.presentationml.notesSlide+xml"/>
  <Override PartName="/ppt/notesSlides/notesSlide9.xml" ContentType="application/vnd.openxmlformats-officedocument.presentationml.notesSlide+xml"/>
  <Override PartName="/ppt/slides/slide10.xml" ContentType="application/vnd.openxmlformats-officedocument.presentationml.slide+xml"/>
  <Override PartName="/ppt/slides/slide9.xml" ContentType="application/vnd.openxmlformats-officedocument.presentationml.slide+xml"/>
  <Override PartName="/ppt/notesSlides/notesSlide12.xml" ContentType="application/vnd.openxmlformats-officedocument.presentationml.notesSlide+xml"/>
  <Override PartName="/ppt/slides/slide12.xml" ContentType="application/vnd.openxmlformats-officedocument.presentationml.slide+xml"/>
  <Override PartName="/ppt/notesSlides/notesSlide13.xml" ContentType="application/vnd.openxmlformats-officedocument.presentationml.notesSlide+xml"/>
  <Override PartName="/ppt/slides/slide13.xml" ContentType="application/vnd.openxmlformats-officedocument.presentationml.slide+xml"/>
  <Override PartName="/ppt/slides/slide14.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Types>
</file>

<file path=_rels/.rels><?xml version="1.0" encoding="UTF-8" standalone="yes"?><Relationships xmlns="http://schemas.openxmlformats.org/package/2006/relationships"><Relationship Id="rId3" Type="http://schemas.openxmlformats.org/package/2006/relationships/metadata/core-properties" Target="docProps/core.xml"/><Relationship Id="rId1" Type="http://schemas.openxmlformats.org/officeDocument/2006/relationships/officeDocument" Target="ppt/presentation.xml"/><Relationship Id="rId2"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aveSubsetFonts="1">
  <p:sldMasterIdLst>
    <p:sldMasterId id="2147483648" r:id="rId1"/>
  </p:sldMasterIdLst>
  <p:notesMasterIdLst>
    <p:notesMasterId r:id="rId34"/>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 id="280" r:id="rId28"/>
    <p:sldId id="281" r:id="rId29"/>
    <p:sldId id="282" r:id="rId30"/>
    <p:sldId id="283" r:id="rId31"/>
    <p:sldId id="284" r:id="rId32"/>
    <p:sldId id="285" r:id="rId33"/>
  </p:sldIdLst>
  <p:sldSz cx="12192000" cy="6858000"/>
  <p:notesSz cx="6858000" cy="9144000"/>
  <p:defaultTextStyle>
    <a:defPPr>
      <a:defRPr lang="fr-FR"/>
    </a:defPPr>
    <a:lvl1pPr marL="0" algn="l" defTabSz="914400" rtl="0">
      <a:defRPr sz="1800">
        <a:solidFill>
          <a:schemeClr val="tx1"/>
        </a:solidFill>
        <a:latin typeface="+mn-lt"/>
        <a:ea typeface="+mn-ea"/>
        <a:cs typeface="+mn-cs"/>
      </a:defRPr>
    </a:lvl1pPr>
    <a:lvl2pPr marL="457200" algn="l" defTabSz="914400" rtl="0">
      <a:defRPr sz="1800">
        <a:solidFill>
          <a:schemeClr val="tx1"/>
        </a:solidFill>
        <a:latin typeface="+mn-lt"/>
        <a:ea typeface="+mn-ea"/>
        <a:cs typeface="+mn-cs"/>
      </a:defRPr>
    </a:lvl2pPr>
    <a:lvl3pPr marL="914400" algn="l" defTabSz="914400" rtl="0">
      <a:defRPr sz="1800">
        <a:solidFill>
          <a:schemeClr val="tx1"/>
        </a:solidFill>
        <a:latin typeface="+mn-lt"/>
        <a:ea typeface="+mn-ea"/>
        <a:cs typeface="+mn-cs"/>
      </a:defRPr>
    </a:lvl3pPr>
    <a:lvl4pPr marL="1371600" algn="l" defTabSz="914400" rtl="0">
      <a:defRPr sz="1800">
        <a:solidFill>
          <a:schemeClr val="tx1"/>
        </a:solidFill>
        <a:latin typeface="+mn-lt"/>
        <a:ea typeface="+mn-ea"/>
        <a:cs typeface="+mn-cs"/>
      </a:defRPr>
    </a:lvl4pPr>
    <a:lvl5pPr marL="1828800" algn="l" defTabSz="914400" rtl="0">
      <a:defRPr sz="1800">
        <a:solidFill>
          <a:schemeClr val="tx1"/>
        </a:solidFill>
        <a:latin typeface="+mn-lt"/>
        <a:ea typeface="+mn-ea"/>
        <a:cs typeface="+mn-cs"/>
      </a:defRPr>
    </a:lvl5pPr>
    <a:lvl6pPr marL="2286000" algn="l" defTabSz="914400" rtl="0">
      <a:defRPr sz="1800">
        <a:solidFill>
          <a:schemeClr val="tx1"/>
        </a:solidFill>
        <a:latin typeface="+mn-lt"/>
        <a:ea typeface="+mn-ea"/>
        <a:cs typeface="+mn-cs"/>
      </a:defRPr>
    </a:lvl6pPr>
    <a:lvl7pPr marL="2743200" algn="l" defTabSz="914400" rtl="0">
      <a:defRPr sz="1800">
        <a:solidFill>
          <a:schemeClr val="tx1"/>
        </a:solidFill>
        <a:latin typeface="+mn-lt"/>
        <a:ea typeface="+mn-ea"/>
        <a:cs typeface="+mn-cs"/>
      </a:defRPr>
    </a:lvl7pPr>
    <a:lvl8pPr marL="3200400" algn="l" defTabSz="914400" rtl="0">
      <a:defRPr sz="1800">
        <a:solidFill>
          <a:schemeClr val="tx1"/>
        </a:solidFill>
        <a:latin typeface="+mn-lt"/>
        <a:ea typeface="+mn-ea"/>
        <a:cs typeface="+mn-cs"/>
      </a:defRPr>
    </a:lvl8pPr>
    <a:lvl9pPr marL="3657600" algn="l" defTabSz="914400" rtl="0">
      <a:defRPr sz="18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varScale="1">
        <p:scale>
          <a:sx n="61" d="100"/>
          <a:sy n="61" d="100"/>
        </p:scale>
        <p:origin x="84" y="354"/>
      </p:cViewPr>
      <p:guideLst>
        <p:guide pos="3840"/>
        <p:guide pos="2160" orient="horz"/>
      </p:guideLst>
    </p:cSldViewPr>
  </p:slideViewPr>
  <p:gridSpacing cx="76200" cy="76200"/>
</p:viewPr>
</file>

<file path=ppt/_rels/presentation.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3" Type="http://schemas.openxmlformats.org/officeDocument/2006/relationships/theme" Target="theme/theme2.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20" Type="http://schemas.openxmlformats.org/officeDocument/2006/relationships/slide" Target="slides/slide17.xml"/><Relationship Id="rId21" Type="http://schemas.openxmlformats.org/officeDocument/2006/relationships/slide" Target="slides/slide18.xml"/><Relationship Id="rId22" Type="http://schemas.openxmlformats.org/officeDocument/2006/relationships/slide" Target="slides/slide19.xml"/><Relationship Id="rId23" Type="http://schemas.openxmlformats.org/officeDocument/2006/relationships/slide" Target="slides/slide20.xml"/><Relationship Id="rId24" Type="http://schemas.openxmlformats.org/officeDocument/2006/relationships/slide" Target="slides/slide21.xml"/><Relationship Id="rId25" Type="http://schemas.openxmlformats.org/officeDocument/2006/relationships/slide" Target="slides/slide22.xml"/><Relationship Id="rId26" Type="http://schemas.openxmlformats.org/officeDocument/2006/relationships/slide" Target="slides/slide23.xml"/><Relationship Id="rId27" Type="http://schemas.openxmlformats.org/officeDocument/2006/relationships/slide" Target="slides/slide24.xml"/><Relationship Id="rId28" Type="http://schemas.openxmlformats.org/officeDocument/2006/relationships/slide" Target="slides/slide25.xml"/><Relationship Id="rId29" Type="http://schemas.openxmlformats.org/officeDocument/2006/relationships/slide" Target="slides/slide26.xml"/><Relationship Id="rId30" Type="http://schemas.openxmlformats.org/officeDocument/2006/relationships/slide" Target="slides/slide27.xml"/><Relationship Id="rId31" Type="http://schemas.openxmlformats.org/officeDocument/2006/relationships/slide" Target="slides/slide28.xml"/><Relationship Id="rId32" Type="http://schemas.openxmlformats.org/officeDocument/2006/relationships/slide" Target="slides/slide29.xml"/><Relationship Id="rId33" Type="http://schemas.openxmlformats.org/officeDocument/2006/relationships/slide" Target="slides/slide30.xml"/><Relationship Id="rId34" Type="http://schemas.openxmlformats.org/officeDocument/2006/relationships/notesMaster" Target="notesMasters/notesMaster1.xml"/><Relationship Id="rId35" Type="http://schemas.openxmlformats.org/officeDocument/2006/relationships/presProps" Target="presProps.xml" /><Relationship Id="rId36" Type="http://schemas.openxmlformats.org/officeDocument/2006/relationships/tableStyles" Target="tableStyles.xml" /><Relationship Id="rId37" Type="http://schemas.openxmlformats.org/officeDocument/2006/relationships/viewProps" Target="viewProps.xml" /></Relationships>
</file>

<file path=ppt/notesMasters/_rels/notesMaster1.xml.rels><?xml version="1.0" encoding="UTF-8" standalone="yes"?><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name="">
    <p:bg>
      <p:bgRef idx="1001">
        <a:schemeClr val="bg1"/>
      </p:bgRef>
    </p:bg>
    <p:spTree>
      <p:nvGrpSpPr>
        <p:cNvPr id="1" name=""/>
        <p:cNvGrpSpPr/>
        <p:nvPr/>
      </p:nvGrpSpPr>
      <p:grpSpPr bwMode="auto">
        <a:xfrm>
          <a:off x="0" y="0"/>
          <a:ext cx="0" cy="0"/>
          <a:chOff x="0" y="0"/>
          <a:chExt cx="0" cy="0"/>
        </a:xfrm>
      </p:grpSpPr>
      <p:sp>
        <p:nvSpPr>
          <p:cNvPr id="1929374301" name="Espace réservé de l'en-tête 1"/>
          <p:cNvSpPr>
            <a:spLocks noGrp="1"/>
          </p:cNvSpPr>
          <p:nvPr>
            <p:ph type="hdr" sz="quarter"/>
          </p:nvPr>
        </p:nvSpPr>
        <p:spPr bwMode="auto">
          <a:xfrm>
            <a:off x="0" y="0"/>
            <a:ext cx="2971800" cy="458788"/>
          </a:xfrm>
          <a:prstGeom prst="rect">
            <a:avLst/>
          </a:prstGeom>
        </p:spPr>
        <p:txBody>
          <a:bodyPr vert="horz" lIns="91440" tIns="45720" rIns="91440" bIns="45720" rtlCol="0"/>
          <a:lstStyle>
            <a:lvl1pPr algn="l">
              <a:defRPr sz="1200"/>
            </a:lvl1pPr>
          </a:lstStyle>
          <a:p>
            <a:pPr>
              <a:defRPr/>
            </a:pPr>
            <a:endParaRPr lang="fr-FR"/>
          </a:p>
        </p:txBody>
      </p:sp>
      <p:sp>
        <p:nvSpPr>
          <p:cNvPr id="280838368" name="Espace réservé de la date 2"/>
          <p:cNvSpPr>
            <a:spLocks noGrp="1"/>
          </p:cNvSpPr>
          <p:nvPr>
            <p:ph type="dt" idx="1"/>
          </p:nvPr>
        </p:nvSpPr>
        <p:spPr bwMode="auto">
          <a:xfrm>
            <a:off x="3884613" y="0"/>
            <a:ext cx="2971800" cy="458788"/>
          </a:xfrm>
          <a:prstGeom prst="rect">
            <a:avLst/>
          </a:prstGeom>
        </p:spPr>
        <p:txBody>
          <a:bodyPr vert="horz" lIns="91440" tIns="45720" rIns="91440" bIns="45720" rtlCol="0"/>
          <a:lstStyle>
            <a:lvl1pPr algn="r">
              <a:defRPr sz="1200"/>
            </a:lvl1pPr>
          </a:lstStyle>
          <a:p>
            <a:pPr>
              <a:defRPr/>
            </a:pPr>
            <a:fld id="{CD45171B-432F-432A-A0EF-AFBD5342B0F8}" type="datetimeFigureOut">
              <a:rPr/>
              <a:t>10/06/2026</a:t>
            </a:fld>
            <a:endParaRPr lang="fr-FR"/>
          </a:p>
        </p:txBody>
      </p:sp>
      <p:sp>
        <p:nvSpPr>
          <p:cNvPr id="1968690995" name="Espace réservé de l'image des diapositives 3"/>
          <p:cNvSpPr>
            <a:spLocks noChangeAspect="1" noGrp="1" noRot="1"/>
          </p:cNvSpPr>
          <p:nvPr>
            <p:ph type="sldImg" idx="2"/>
          </p:nvPr>
        </p:nvSpPr>
        <p:spPr bwMode="auto">
          <a:xfrm>
            <a:off x="685800" y="1143000"/>
            <a:ext cx="5486400" cy="3086100"/>
          </a:xfrm>
          <a:prstGeom prst="rect">
            <a:avLst/>
          </a:prstGeom>
          <a:noFill/>
          <a:ln w="12700">
            <a:solidFill>
              <a:prstClr val="black"/>
            </a:solidFill>
          </a:ln>
        </p:spPr>
        <p:txBody>
          <a:bodyPr vert="horz" lIns="91440" tIns="45720" rIns="91440" bIns="45720" rtlCol="0" anchor="ctr"/>
          <a:lstStyle/>
          <a:p>
            <a:pPr>
              <a:defRPr/>
            </a:pPr>
            <a:endParaRPr lang="fr-FR"/>
          </a:p>
        </p:txBody>
      </p:sp>
      <p:sp>
        <p:nvSpPr>
          <p:cNvPr id="819665704" name="Espace réservé des notes 4"/>
          <p:cNvSpPr>
            <a:spLocks noGrp="1"/>
          </p:cNvSpPr>
          <p:nvPr>
            <p:ph type="body" sz="quarter" idx="3"/>
          </p:nvPr>
        </p:nvSpPr>
        <p:spPr bwMode="auto">
          <a:xfrm>
            <a:off x="685800" y="4400550"/>
            <a:ext cx="5486400" cy="3600450"/>
          </a:xfrm>
          <a:prstGeom prst="rect">
            <a:avLst/>
          </a:prstGeom>
        </p:spPr>
        <p:txBody>
          <a:bodyPr vert="horz" lIns="91440" tIns="45720" rIns="91440" bIns="45720" rtlCol="0"/>
          <a:lstStyle/>
          <a:p>
            <a:pPr lvl="0">
              <a:defRPr/>
            </a:pPr>
            <a:r>
              <a:rPr lang="fr-FR"/>
              <a:t>Cliquez pour modifier les styles du texte du masque</a:t>
            </a:r>
            <a:endParaRPr/>
          </a:p>
          <a:p>
            <a:pPr lvl="1">
              <a:defRPr/>
            </a:pPr>
            <a:r>
              <a:rPr lang="fr-FR"/>
              <a:t>Deuxième niveau</a:t>
            </a:r>
            <a:endParaRPr/>
          </a:p>
          <a:p>
            <a:pPr lvl="2">
              <a:defRPr/>
            </a:pPr>
            <a:r>
              <a:rPr lang="fr-FR"/>
              <a:t>Troisième niveau</a:t>
            </a:r>
            <a:endParaRPr/>
          </a:p>
          <a:p>
            <a:pPr lvl="3">
              <a:defRPr/>
            </a:pPr>
            <a:r>
              <a:rPr lang="fr-FR"/>
              <a:t>Quatrième niveau</a:t>
            </a:r>
            <a:endParaRPr/>
          </a:p>
          <a:p>
            <a:pPr lvl="4">
              <a:defRPr/>
            </a:pPr>
            <a:r>
              <a:rPr lang="fr-FR"/>
              <a:t>Cinquième niveau</a:t>
            </a:r>
            <a:endParaRPr/>
          </a:p>
        </p:txBody>
      </p:sp>
      <p:sp>
        <p:nvSpPr>
          <p:cNvPr id="1184448977" name="Espace réservé du pied de page 5"/>
          <p:cNvSpPr>
            <a:spLocks noGrp="1"/>
          </p:cNvSpPr>
          <p:nvPr>
            <p:ph type="ftr" sz="quarter" idx="4"/>
          </p:nvPr>
        </p:nvSpPr>
        <p:spPr bwMode="auto">
          <a:xfrm>
            <a:off x="0" y="8685213"/>
            <a:ext cx="2971800" cy="458787"/>
          </a:xfrm>
          <a:prstGeom prst="rect">
            <a:avLst/>
          </a:prstGeom>
        </p:spPr>
        <p:txBody>
          <a:bodyPr vert="horz" lIns="91440" tIns="45720" rIns="91440" bIns="45720" rtlCol="0" anchor="b"/>
          <a:lstStyle>
            <a:lvl1pPr algn="l">
              <a:defRPr sz="1200"/>
            </a:lvl1pPr>
          </a:lstStyle>
          <a:p>
            <a:pPr>
              <a:defRPr/>
            </a:pPr>
            <a:endParaRPr lang="fr-FR"/>
          </a:p>
        </p:txBody>
      </p:sp>
      <p:sp>
        <p:nvSpPr>
          <p:cNvPr id="955471505" name="Espace réservé du numéro de diapositive 6"/>
          <p:cNvSpPr>
            <a:spLocks noGrp="1"/>
          </p:cNvSpPr>
          <p:nvPr>
            <p:ph type="sldNum" sz="quarter" idx="5"/>
          </p:nvPr>
        </p:nvSpPr>
        <p:spPr bwMode="auto">
          <a:xfrm>
            <a:off x="3884613" y="8685213"/>
            <a:ext cx="2971800" cy="458787"/>
          </a:xfrm>
          <a:prstGeom prst="rect">
            <a:avLst/>
          </a:prstGeom>
        </p:spPr>
        <p:txBody>
          <a:bodyPr vert="horz" lIns="91440" tIns="45720" rIns="91440" bIns="45720" rtlCol="0" anchor="b"/>
          <a:lstStyle>
            <a:lvl1pPr algn="r">
              <a:defRPr sz="1200"/>
            </a:lvl1pPr>
          </a:lstStyle>
          <a:p>
            <a:pPr>
              <a:defRPr/>
            </a:pPr>
            <a:fld id="{8361D727-3E2B-4B36-B6E2-0AE1CF681EB4}" type="slidenum">
              <a:rPr/>
              <a:t>‹N°›</a:t>
            </a:fld>
            <a:endParaRPr lang="fr-FR"/>
          </a:p>
        </p:txBody>
      </p:sp>
    </p:spTree>
  </p:cSld>
  <p:clrMap bg1="lt1" tx1="dk1" bg2="lt2" tx2="dk2" accent1="accent1" accent2="accent2" accent3="accent3" accent4="accent4" accent5="accent5" accent6="accent6" hlink="hlink" folHlink="folHlink"/>
  <p:notesStyle>
    <a:lvl1pPr marL="0" algn="l" defTabSz="914400" rtl="0">
      <a:defRPr sz="1200">
        <a:solidFill>
          <a:schemeClr val="tx1"/>
        </a:solidFill>
        <a:latin typeface="+mn-lt"/>
        <a:ea typeface="+mn-ea"/>
        <a:cs typeface="+mn-cs"/>
      </a:defRPr>
    </a:lvl1pPr>
    <a:lvl2pPr marL="457200" algn="l" defTabSz="914400" rtl="0">
      <a:defRPr sz="1200">
        <a:solidFill>
          <a:schemeClr val="tx1"/>
        </a:solidFill>
        <a:latin typeface="+mn-lt"/>
        <a:ea typeface="+mn-ea"/>
        <a:cs typeface="+mn-cs"/>
      </a:defRPr>
    </a:lvl2pPr>
    <a:lvl3pPr marL="914400" algn="l" defTabSz="914400" rtl="0">
      <a:defRPr sz="1200">
        <a:solidFill>
          <a:schemeClr val="tx1"/>
        </a:solidFill>
        <a:latin typeface="+mn-lt"/>
        <a:ea typeface="+mn-ea"/>
        <a:cs typeface="+mn-cs"/>
      </a:defRPr>
    </a:lvl3pPr>
    <a:lvl4pPr marL="1371600" algn="l" defTabSz="914400" rtl="0">
      <a:defRPr sz="1200">
        <a:solidFill>
          <a:schemeClr val="tx1"/>
        </a:solidFill>
        <a:latin typeface="+mn-lt"/>
        <a:ea typeface="+mn-ea"/>
        <a:cs typeface="+mn-cs"/>
      </a:defRPr>
    </a:lvl4pPr>
    <a:lvl5pPr marL="1828800" algn="l" defTabSz="914400" rtl="0">
      <a:defRPr sz="1200">
        <a:solidFill>
          <a:schemeClr val="tx1"/>
        </a:solidFill>
        <a:latin typeface="+mn-lt"/>
        <a:ea typeface="+mn-ea"/>
        <a:cs typeface="+mn-cs"/>
      </a:defRPr>
    </a:lvl5pPr>
    <a:lvl6pPr marL="2286000" algn="l" defTabSz="914400" rtl="0">
      <a:defRPr sz="1200">
        <a:solidFill>
          <a:schemeClr val="tx1"/>
        </a:solidFill>
        <a:latin typeface="+mn-lt"/>
        <a:ea typeface="+mn-ea"/>
        <a:cs typeface="+mn-cs"/>
      </a:defRPr>
    </a:lvl6pPr>
    <a:lvl7pPr marL="2743200" algn="l" defTabSz="914400" rtl="0">
      <a:defRPr sz="1200">
        <a:solidFill>
          <a:schemeClr val="tx1"/>
        </a:solidFill>
        <a:latin typeface="+mn-lt"/>
        <a:ea typeface="+mn-ea"/>
        <a:cs typeface="+mn-cs"/>
      </a:defRPr>
    </a:lvl7pPr>
    <a:lvl8pPr marL="3200400" algn="l" defTabSz="914400" rtl="0">
      <a:defRPr sz="1200">
        <a:solidFill>
          <a:schemeClr val="tx1"/>
        </a:solidFill>
        <a:latin typeface="+mn-lt"/>
        <a:ea typeface="+mn-ea"/>
        <a:cs typeface="+mn-cs"/>
      </a:defRPr>
    </a:lvl8pPr>
    <a:lvl9pPr marL="3657600" algn="l" defTabSz="914400" rtl="0">
      <a:defRPr sz="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099092155" name="Notes Placeholder 1"/>
          <p:cNvSpPr>
            <a:spLocks noGrp="1"/>
          </p:cNvSpPr>
          <p:nvPr>
            <p:ph type="body" idx="1"/>
          </p:nvPr>
        </p:nvSpPr>
        <p:spPr bwMode="auto"/>
        <p:txBody>
          <a:bodyPr/>
          <a:lstStyle/>
          <a:p>
            <a:pPr>
              <a:defRPr/>
            </a:pPr>
            <a:r>
              <a:rPr lang="fr-FR"/>
              <a:t>Bonjour, nous sommes l'équipe Electio-Analytics et nous vous présentons notre POC de Bloc 3 sur l'analyse prédictive des tendances électorales. Le projet croise des indicateurs socio-économiques pour anticiper les dynamiques de vote en Nouvelle-Aquitaine. Je vous propose de dérouler la soutenance en six parties, de l'introduction à la conclusion.</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26718853" name="Notes Placeholder 1"/>
          <p:cNvSpPr>
            <a:spLocks noGrp="1"/>
          </p:cNvSpPr>
          <p:nvPr>
            <p:ph type="body" idx="1"/>
          </p:nvPr>
        </p:nvSpPr>
        <p:spPr bwMode="auto"/>
        <p:txBody>
          <a:bodyPr/>
          <a:lstStyle/>
          <a:p>
            <a:pPr>
              <a:defRPr/>
            </a:pPr>
            <a:r>
              <a:rPr lang="fr-FR"/>
              <a:t>Voici le déroulé de notre présentation en six temps. Nous commençons par le contexte et les objectifs du POC, puis nous détaillons nos choix techniques et l'analyse conceptuelle. Nous terminons par la réalisation, le volet machine learning et notre conclusion.</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347365034" name="Notes Placeholder 1"/>
          <p:cNvSpPr>
            <a:spLocks noGrp="1"/>
          </p:cNvSpPr>
          <p:nvPr>
            <p:ph type="body" idx="1"/>
          </p:nvPr>
        </p:nvSpPr>
        <p:spPr bwMode="auto"/>
        <p:txBody>
          <a:bodyPr/>
          <a:lstStyle/>
          <a:p>
            <a:pPr>
              <a:defRPr/>
            </a:pPr>
            <a:r>
              <a:rPr lang="fr-FR"/>
              <a:t>Electio-Analytics est un acteur de la civic-tech qui cherche à anticiper les dynamiques électorales sur un horizon de un à trois ans. Notre hypothèse de départ est que les indicateurs socio-économiques constituent des signaux prédictifs du vote. Ce POC vise à prouver la faisabilité de l'approche sur la Nouvelle-Aquitaine avant tout passage à l'échelle.</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87590394" name="Notes Placeholder 1"/>
          <p:cNvSpPr>
            <a:spLocks noGrp="1"/>
          </p:cNvSpPr>
          <p:nvPr>
            <p:ph type="body" idx="1"/>
          </p:nvPr>
        </p:nvSpPr>
        <p:spPr bwMode="auto"/>
        <p:txBody>
          <a:bodyPr/>
          <a:lstStyle/>
          <a:p>
            <a:pPr>
              <a:defRPr/>
            </a:pPr>
            <a:r>
              <a:rPr lang="fr-FR"/>
              <a:t>Le POC poursuit cinq objectifs complémentaires. Il s'agit d'abord de collecter des données publiques, puis de les fiabiliser via un pipeline ETL et d'identifier les indicateurs les plus prédictifs. Enfin, nous comparons plusieurs modèles de machine learning avant de restituer les résultats dans un dashboard décisionnel.</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956099196" name="Notes Placeholder 1"/>
          <p:cNvSpPr>
            <a:spLocks noGrp="1"/>
          </p:cNvSpPr>
          <p:nvPr>
            <p:ph type="body" idx="1"/>
          </p:nvPr>
        </p:nvSpPr>
        <p:spPr bwMode="auto"/>
        <p:txBody>
          <a:bodyPr/>
          <a:lstStyle/>
          <a:p>
            <a:pPr>
              <a:defRPr/>
            </a:pPr>
            <a:r>
              <a:rPr lang="fr-FR"/>
              <a:t>Nous avons choisi la Nouvelle-Aquitaine comme terrain d'étude. Avec ses douze départements et cent vingt-sept cantons, la région offre une vraie diversité — urbain, rural et littoral — et donc une bonne représentativité. La granularité du canton nous donne un maillage fin, idéal pour entraîner et tester nos modèles.</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93585246" name="Notes Placeholder 1"/>
          <p:cNvSpPr>
            <a:spLocks noGrp="1"/>
          </p:cNvSpPr>
          <p:nvPr>
            <p:ph type="body" idx="1"/>
          </p:nvPr>
        </p:nvSpPr>
        <p:spPr bwMode="auto"/>
        <p:txBody>
          <a:bodyPr/>
          <a:lstStyle/>
          <a:p>
            <a:pPr>
              <a:defRPr/>
            </a:pPr>
            <a:r>
              <a:rPr lang="fr-FR"/>
              <a:t>Nous avons structuré le projet selon la méthode CRISP-DM, déclinée en sept phases, de la compréhension métier jusqu'au suivi et à l'itération. Cette démarche itérative nous a permis de revenir sur la préparation des données chaque fois que l'évaluation le nécessitait. Côté organisation, le travail d'équipe a été piloté avec un tableau Trello en mode Kanban et des points d'avancement hebdomadaires.</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707723113" name="Notes Placeholder 1"/>
          <p:cNvSpPr>
            <a:spLocks noGrp="1"/>
          </p:cNvSpPr>
          <p:nvPr>
            <p:ph type="body" idx="1"/>
          </p:nvPr>
        </p:nvSpPr>
        <p:spPr bwMode="auto"/>
        <p:txBody>
          <a:bodyPr/>
          <a:lstStyle/>
          <a:p>
            <a:pPr>
              <a:defRPr/>
            </a:pPr>
            <a:r>
              <a:rPr lang="fr-FR"/>
              <a:t>Pour caractériser chaque territoire, nous avons construit vingt-huit variables dites « delta », qui mesurent une évolution entre deux périodes plutôt qu'une valeur absolue. Elles couvrent cinq familles : délinquance, démographie, emploi, logement et entreprises. Le tableau présente les cinq variables les plus discriminantes selon l'importance calculée par nos modèles.</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194660273" name="Notes Placeholder 1"/>
          <p:cNvSpPr>
            <a:spLocks noGrp="1"/>
          </p:cNvSpPr>
          <p:nvPr>
            <p:ph type="body" idx="1"/>
          </p:nvPr>
        </p:nvSpPr>
        <p:spPr bwMode="auto"/>
        <p:txBody>
          <a:bodyPr/>
          <a:lstStyle/>
          <a:p>
            <a:pPr>
              <a:defRPr/>
            </a:pPr>
            <a:r>
              <a:rPr lang="fr-FR"/>
              <a:t>Le cœur conceptuel du projet consiste à traduire l'état socio-économique d'un canton en une orientation politique, positionnée sur un spectre allant de l'extrême gauche à l'extrême droite. Concrètement, nos variables delta alimentent un score qui place chaque territoire sur cet axe. Le dashboard restitue ce positionnement de manière visuelle et interactive.</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398727500" name="Notes Placeholder 1"/>
          <p:cNvSpPr>
            <a:spLocks noGrp="1"/>
          </p:cNvSpPr>
          <p:nvPr>
            <p:ph type="body" idx="1"/>
          </p:nvPr>
        </p:nvSpPr>
        <p:spPr bwMode="auto"/>
        <p:txBody>
          <a:bodyPr/>
          <a:lstStyle/>
          <a:p>
            <a:pPr>
              <a:defRPr/>
            </a:pPr>
            <a:r>
              <a:rPr lang="fr-FR"/>
              <a:t>Côté technique, notre socle est entièrement en Python : pandas pour la manipulation des données, scikit-learn et XGBoost pour la modélisation, Jupyter pour l'exploration. Les données sont stockées en format lakehouse avec Delta Lake, le dashboard est développé en React avec Recharts, et le projet est suivi sous Trello. Une stack open source, robuste et largement éprouvée.</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453331706" name="Notes Placeholder 1"/>
          <p:cNvSpPr>
            <a:spLocks noGrp="1"/>
          </p:cNvSpPr>
          <p:nvPr>
            <p:ph type="body" idx="1"/>
          </p:nvPr>
        </p:nvSpPr>
        <p:spPr bwMode="auto"/>
        <p:txBody>
          <a:bodyPr/>
          <a:lstStyle/>
          <a:p>
            <a:pPr>
              <a:defRPr/>
            </a:pPr>
            <a:r>
              <a:rPr lang="fr-FR"/>
              <a:t>Le modèle conceptuel de données s'articule autour de sept entités principales : le canton, le département, l'élection, le résultat, l'indicateur socio-économique, la source de données et la période. Elles sont reliées par des cardinalités classiques, de un-à-plusieurs et plusieurs-à-plusieurs. Ce modèle garantit la cohérence et la traçabilité des données tout au long du pipeline.</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076647721" name="Notes Placeholder 1"/>
          <p:cNvSpPr>
            <a:spLocks noGrp="1"/>
          </p:cNvSpPr>
          <p:nvPr>
            <p:ph type="body" idx="1"/>
          </p:nvPr>
        </p:nvSpPr>
        <p:spPr bwMode="auto"/>
        <p:txBody>
          <a:bodyPr/>
          <a:lstStyle/>
          <a:p>
            <a:pPr>
              <a:defRPr/>
            </a:pPr>
            <a:r>
              <a:rPr lang="fr-FR"/>
              <a:t>Le modèle conceptuel de données s'articule autour de sept entités principales : le canton, le département, l'élection, le résultat, l'indicateur socio-économique, la source de données et la période. Elles sont reliées par des cardinalités classiques, de un-à-plusieurs et plusieurs-à-plusieurs. Ce modèle garantit la cohérence et la traçabilité des données tout au long du pipeline.</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616988752" name="Notes Placeholder 1"/>
          <p:cNvSpPr>
            <a:spLocks noGrp="1"/>
          </p:cNvSpPr>
          <p:nvPr>
            <p:ph type="body" idx="1"/>
          </p:nvPr>
        </p:nvSpPr>
        <p:spPr bwMode="auto"/>
        <p:txBody>
          <a:bodyPr/>
          <a:lstStyle/>
          <a:p>
            <a:pPr>
              <a:defRPr/>
            </a:pPr>
            <a:r>
              <a:rPr lang="fr-FR"/>
              <a:t>L'architecture ETL se décompose en huit phases, depuis la collecte des sources brutes jusqu'à la restitution dans le dashboard. Les données passent par l'extraction, le nettoyage, la transformation, puis le chargement dans Delta Lake, avant l'agrégation, la modélisation et la restitution. Ce pipeline est automatisé et reproductible, ce qui garantit la fiabilité des résultats à chaque exécution.</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994334101" name="Notes Placeholder 1"/>
          <p:cNvSpPr>
            <a:spLocks noGrp="1"/>
          </p:cNvSpPr>
          <p:nvPr>
            <p:ph type="body" idx="1"/>
          </p:nvPr>
        </p:nvSpPr>
        <p:spPr bwMode="auto"/>
        <p:txBody>
          <a:bodyPr/>
          <a:lstStyle/>
          <a:p>
            <a:pPr>
              <a:defRPr/>
            </a:pPr>
            <a:r>
              <a:rPr lang="fr-FR"/>
              <a:t>La collecte s'appuie sur quatre sources publiques et ouvertes. Les résultats électoraux proviennent de data.gouv.fr, les données socio-économiques de l'INSEE, les faits de délinquance du ministère de l'Intérieur, et les données d'entreprises de l'INSEE et data.gouv. Toutes sont libres de droits, ce qui garantit la reproductibilité du POC.</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097753728" name="Notes Placeholder 1"/>
          <p:cNvSpPr>
            <a:spLocks noGrp="1"/>
          </p:cNvSpPr>
          <p:nvPr>
            <p:ph type="body" idx="1"/>
          </p:nvPr>
        </p:nvSpPr>
        <p:spPr bwMode="auto"/>
        <p:txBody>
          <a:bodyPr/>
          <a:lstStyle/>
          <a:p>
            <a:pPr>
              <a:defRPr/>
            </a:pPr>
            <a:r>
              <a:rPr lang="fr-FR"/>
              <a:t>Voici à quoi ressemble le jeu de données au départ. Il s'agit des résultats des élections 2017, à la maille canton, avec les voix réelles par nuance politique. Ces données sont brutes : hétérogènes, comportant des valeurs manquantes et non normalisées — d'où la nécessité des étapes de nettoyage qui suivent.</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987765569" name="Notes Placeholder 1"/>
          <p:cNvSpPr>
            <a:spLocks noGrp="1"/>
          </p:cNvSpPr>
          <p:nvPr>
            <p:ph type="body" idx="1"/>
          </p:nvPr>
        </p:nvSpPr>
        <p:spPr bwMode="auto"/>
        <p:txBody>
          <a:bodyPr/>
          <a:lstStyle/>
          <a:p>
            <a:pPr>
              <a:defRPr/>
            </a:pPr>
            <a:r>
              <a:rPr lang="fr-FR"/>
              <a:t>Le nettoyage est une étape déterminante. Les valeurs manquantes sont imputées par la médiane, qui est robuste aux valeurs extrêmes ; les doublons sont détectés et supprimés ; les valeurs infinies sont remplacées ou exclues. Enfin, nous vérifions la cohérence des codes géographiques CODGEO, indispensables pour relier correctement chaque canton à ses indicateurs.</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433326655" name="Notes Placeholder 1"/>
          <p:cNvSpPr>
            <a:spLocks noGrp="1"/>
          </p:cNvSpPr>
          <p:nvPr>
            <p:ph type="body" idx="1"/>
          </p:nvPr>
        </p:nvSpPr>
        <p:spPr bwMode="auto"/>
        <p:txBody>
          <a:bodyPr/>
          <a:lstStyle/>
          <a:p>
            <a:pPr>
              <a:defRPr/>
            </a:pPr>
            <a:r>
              <a:rPr lang="fr-FR"/>
              <a:t>Le feature engineering transforme les données nettoyées en variables exploitables. D'une part, nous calculons des deltas, c'est-à-dire l'évolution de chaque indicateur entre deux périodes, ce qui capte mieux les dynamiques que des valeurs brutes. D'autre part, nous intégrons un indicateur de délinquance codé de manière binaire par département — par exemple, un pour la Gironde, zéro pour la Creuse.</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704611387" name="Notes Placeholder 1"/>
          <p:cNvSpPr>
            <a:spLocks noGrp="1"/>
          </p:cNvSpPr>
          <p:nvPr>
            <p:ph type="body" idx="1"/>
          </p:nvPr>
        </p:nvSpPr>
        <p:spPr bwMode="auto"/>
        <p:txBody>
          <a:bodyPr/>
          <a:lstStyle/>
          <a:p>
            <a:pPr>
              <a:defRPr/>
            </a:pPr>
            <a:r>
              <a:rPr lang="fr-FR"/>
              <a:t>Pour entraîner des modèles robustes, nous avons augmenté le volume de données. En combinant trois fenêtres temporelles et l'ajout d'un bruit gaussien, nous multiplions le jeu initial par trente-quatre. Au total, le jeu de données final compte huit cent cinquante-huit mille vingt-quatre lignes, ce qui donne aux modèles suffisamment d'exemples pour généraliser.</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782141014" name="Notes Placeholder 1"/>
          <p:cNvSpPr>
            <a:spLocks noGrp="1"/>
          </p:cNvSpPr>
          <p:nvPr>
            <p:ph type="body" idx="1"/>
          </p:nvPr>
        </p:nvSpPr>
        <p:spPr bwMode="auto"/>
        <p:txBody>
          <a:bodyPr/>
          <a:lstStyle/>
          <a:p>
            <a:pPr>
              <a:defRPr/>
            </a:pPr>
            <a:r>
              <a:rPr lang="fr-FR"/>
              <a:t>Au terme du pipeline, le jeu de données final est entièrement normalisé : toutes les variables sont ramenées entre zéro et un, ce qui facilite l'apprentissage. Le vainqueur réel de chaque canton est conservé, afin de pouvoir valider les prédictions des modèles. Ce jeu propre et équilibré constitue la base de la phase de machine learning.</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247556007" name="Notes Placeholder 1"/>
          <p:cNvSpPr>
            <a:spLocks noGrp="1"/>
          </p:cNvSpPr>
          <p:nvPr>
            <p:ph type="body" idx="1"/>
          </p:nvPr>
        </p:nvSpPr>
        <p:spPr bwMode="auto"/>
        <p:txBody>
          <a:bodyPr/>
          <a:lstStyle/>
          <a:p>
            <a:pPr>
              <a:defRPr/>
            </a:pPr>
            <a:r>
              <a:rPr lang="fr-FR"/>
              <a:t>La matrice de corrélation met en évidence une relation forte entre la délinquance et le score économique : moins zéro virgule soixante-dix. C'est la corrélation la plus marquée du jeu de données : quand la délinquance progresse, le score économique recule nettement. Ce signal confirme tout l'intérêt d'intégrer la délinquance comme variable prédictive.</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252023845" name="Notes Placeholder 1"/>
          <p:cNvSpPr>
            <a:spLocks noGrp="1"/>
          </p:cNvSpPr>
          <p:nvPr>
            <p:ph type="body" idx="1"/>
          </p:nvPr>
        </p:nvSpPr>
        <p:spPr bwMode="auto"/>
        <p:txBody>
          <a:bodyPr/>
          <a:lstStyle/>
          <a:p>
            <a:pPr>
              <a:defRPr/>
            </a:pPr>
            <a:r>
              <a:rPr lang="fr-FR"/>
              <a:t>C'est sans doute le résultat le plus important de notre étude, et une réponse directe à la question du jury. Parmi toutes les variables, la délinquance arrive en tête, avec une importance de dix-sept virgule quarante-six pour cent — soit plus du double de la deuxième variable. Autrement dit, l'évolution de la délinquance est le signal le plus prédictif de l'orientation d'un territoire.</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451911473" name="Notes Placeholder 1"/>
          <p:cNvSpPr>
            <a:spLocks noGrp="1"/>
          </p:cNvSpPr>
          <p:nvPr>
            <p:ph type="body" idx="1"/>
          </p:nvPr>
        </p:nvSpPr>
        <p:spPr bwMode="auto"/>
        <p:txBody>
          <a:bodyPr/>
          <a:lstStyle/>
          <a:p>
            <a:pPr>
              <a:defRPr/>
            </a:pPr>
            <a:r>
              <a:rPr lang="fr-FR"/>
              <a:t>Pour évaluer nos modèles, nous avons retenu une classification multiclasse à cinq niveaux, de la crise au boom économique. Ce choix est volontaire : un découpage multiclasse est bien plus fin et informatif qu'un simple binaire gauche-droite. Nous avons utilisé un découpage stratifié quatre-vingt vingt pour le train et le test, complété par une validation croisée en cinq blocs pour fiabiliser les résultats.</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690229704" name="Notes Placeholder 1"/>
          <p:cNvSpPr>
            <a:spLocks noGrp="1"/>
          </p:cNvSpPr>
          <p:nvPr>
            <p:ph type="body" idx="1"/>
          </p:nvPr>
        </p:nvSpPr>
        <p:spPr bwMode="auto"/>
        <p:txBody>
          <a:bodyPr/>
          <a:lstStyle/>
          <a:p>
            <a:pPr>
              <a:defRPr/>
            </a:pPr>
            <a:r>
              <a:rPr lang="fr-FR"/>
              <a:t>Nous avons comparé cinq modèles de classification : régression logistique, XGBoost, Gradient Boosting, Random Forest et SVM. Le tableau et les visualisations en barres et en radar montrent que XGBoost se détache nettement, avec la meilleure précision en test comme en validation croisée. C'est donc ce modèle que nous avons retenu pour la suite.</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26134025" name="Notes Placeholder 1"/>
          <p:cNvSpPr>
            <a:spLocks noGrp="1"/>
          </p:cNvSpPr>
          <p:nvPr>
            <p:ph type="body" idx="1"/>
          </p:nvPr>
        </p:nvSpPr>
        <p:spPr bwMode="auto"/>
        <p:txBody>
          <a:bodyPr/>
          <a:lstStyle/>
          <a:p>
            <a:pPr>
              <a:defRPr/>
            </a:pPr>
            <a:r>
              <a:rPr lang="fr-FR"/>
              <a:t>Le modèle retenu est XGBoost. Il atteint soixante-seize virgule soixante-sept pour cent de précision sur le jeu de test, et soixante-seize virgule cinquante-neuf en validation croisée. L'écart entre les deux est infime : il n'y a donc pas de surapprentissage, le modèle généralise bien sur des données qu'il n'a jamais vues. La matrice de confusion confirme une bonne répartition des prédictions entre les classes.</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600540845" name="Notes Placeholder 1"/>
          <p:cNvSpPr>
            <a:spLocks noGrp="1"/>
          </p:cNvSpPr>
          <p:nvPr>
            <p:ph type="body" idx="1"/>
          </p:nvPr>
        </p:nvSpPr>
        <p:spPr bwMode="auto"/>
        <p:txBody>
          <a:bodyPr/>
          <a:lstStyle/>
          <a:p>
            <a:pPr>
              <a:defRPr/>
            </a:pPr>
            <a:r>
              <a:rPr lang="fr-FR"/>
              <a:t>Les courbes d'apprentissage confirment la robustesse du modèle. Sur cent itérations, la précision d'entraînement plafonne autour de quatre-vingt-deux virgule trois pour cent, et celle de validation autour de soixante-quinze virgule huit. L'écart reste maîtrisé et stable, sans divergence : c'est le signe d'un modèle bien réglé, qui n'apprend pas par cœur.</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737252276" name="Notes Placeholder 1"/>
          <p:cNvSpPr>
            <a:spLocks noGrp="1"/>
          </p:cNvSpPr>
          <p:nvPr>
            <p:ph type="body" idx="1"/>
          </p:nvPr>
        </p:nvSpPr>
        <p:spPr bwMode="auto"/>
        <p:txBody>
          <a:bodyPr/>
          <a:lstStyle/>
          <a:p>
            <a:pPr>
              <a:defRPr/>
            </a:pPr>
            <a:r>
              <a:rPr lang="fr-FR"/>
              <a:t>Sur la Nouvelle-Aquitaine, le modèle prédit correctement dix départements sur douze, soit quatre-vingt-trois pour cent. En toute transparence, deux départements posent problème : la Gironde et le Lot-et-Garonne, des territoires atypiques entre la métropole bordelaise et des dynamiques rurales particulières. Cette analyse honnête des erreurs nous indique aussi les marges de progrès du modèle.</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418175783" name="Notes Placeholder 1"/>
          <p:cNvSpPr>
            <a:spLocks noGrp="1"/>
          </p:cNvSpPr>
          <p:nvPr>
            <p:ph type="body" idx="1"/>
          </p:nvPr>
        </p:nvSpPr>
        <p:spPr bwMode="auto"/>
        <p:txBody>
          <a:bodyPr/>
          <a:lstStyle/>
          <a:p>
            <a:pPr>
              <a:defRPr/>
            </a:pPr>
            <a:r>
              <a:rPr lang="fr-FR"/>
              <a:t>À partir du modèle, nous proposons des projections à un, deux et trois ans selon trois scénarios. Le scénario optimiste suppose une amélioration des indicateurs socio-économiques, le scénario neutre prolonge les tendances actuelles, et le scénario pessimiste anticipe une dégradation. Ces projections sont indicatives et seront réévaluées à mesure que de nouvelles données arrivent.</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086716692" name="Notes Placeholder 1"/>
          <p:cNvSpPr>
            <a:spLocks noGrp="1"/>
          </p:cNvSpPr>
          <p:nvPr>
            <p:ph type="body" idx="1"/>
          </p:nvPr>
        </p:nvSpPr>
        <p:spPr bwMode="auto"/>
        <p:txBody>
          <a:bodyPr/>
          <a:lstStyle/>
          <a:p>
            <a:pPr>
              <a:defRPr/>
            </a:pPr>
            <a:r>
              <a:rPr lang="fr-FR"/>
              <a:t>En résumé, le POC est livré et fonctionnel : un pipeline complet, de la donnée brute jusqu'au dashboard. Le modèle atteint près de soixante-dix-sept pour cent de précision, et il confirme que la délinquance est le premier facteur prédictif. Enfin, l'ensemble repose sur des données publiques et ouvertes, dans le respect du RGPD.</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858461721" name="Notes Placeholder 1"/>
          <p:cNvSpPr>
            <a:spLocks noGrp="1"/>
          </p:cNvSpPr>
          <p:nvPr>
            <p:ph type="body" idx="1"/>
          </p:nvPr>
        </p:nvSpPr>
        <p:spPr bwMode="auto"/>
        <p:txBody>
          <a:bodyPr/>
          <a:lstStyle/>
          <a:p>
            <a:pPr>
              <a:defRPr/>
            </a:pPr>
            <a:r>
              <a:rPr lang="fr-FR"/>
              <a:t>Notre POC comporte aussi des limites qu'il faut assumer. La délinquance n'est disponible qu'à la maille départementale, les données sont statiques, et le périmètre se limite à une seule région. Nos recommandations en découlent directement : descendre la délinquance à la maille cantonale, automatiser les mises à jour via une API, et étendre l'approche à l'échelle nationale.</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84035142" name="Notes Placeholder 1"/>
          <p:cNvSpPr>
            <a:spLocks noGrp="1"/>
          </p:cNvSpPr>
          <p:nvPr>
            <p:ph type="body" idx="1"/>
          </p:nvPr>
        </p:nvSpPr>
        <p:spPr bwMode="auto"/>
        <p:txBody>
          <a:bodyPr/>
          <a:lstStyle/>
          <a:p>
            <a:pPr>
              <a:defRPr/>
            </a:pPr>
            <a:r>
              <a:rPr lang="fr-FR"/>
              <a:t>L'objectif initial est atteint : le POC démontre qu'il est possible de prédire les tendances à partir d'indicateurs socio-économiques. Au-delà du résultat, ce projet nous a permis d'acquérir des compétences solides : la construction d'un pipeline ETL Big Data, le machine learning multiclasse, le développement d'un dashboard interactif, et la gestion de projet en équipe.</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852438546" name="Notes Placeholder 1"/>
          <p:cNvSpPr>
            <a:spLocks noGrp="1"/>
          </p:cNvSpPr>
          <p:nvPr>
            <p:ph type="body" idx="1"/>
          </p:nvPr>
        </p:nvSpPr>
        <p:spPr bwMode="auto"/>
        <p:txBody>
          <a:bodyPr/>
          <a:lstStyle/>
          <a:p>
            <a:pPr>
              <a:defRPr/>
            </a:pPr>
            <a:r>
              <a:rPr lang="fr-FR"/>
              <a:t>Merci de votre attention. Nous sommes à votre disposition pour répondre à vos questions et pour échanger sur les choix techniques, les résultats ou les perspectives du projet Electio-Analytics.</a:t>
            </a:r>
            <a:endParaRPr/>
          </a:p>
        </p:txBody>
      </p:sp>
    </p:spTree>
  </p:cSld>
  <p:clrMapOvr>
    <a:masterClrMapping/>
  </p:clrMapOvr>
</p:notes>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0" showMasterPhAnim="0" showMasterSp="1" type="title" userDrawn="1">
  <p:cSld name="Diapositive de titre">
    <p:spTree>
      <p:nvGrpSpPr>
        <p:cNvPr id="1" name=""/>
        <p:cNvGrpSpPr/>
        <p:nvPr/>
      </p:nvGrpSpPr>
      <p:grpSpPr bwMode="auto">
        <a:xfrm>
          <a:off x="0" y="0"/>
          <a:ext cx="0" cy="0"/>
          <a:chOff x="0" y="0"/>
          <a:chExt cx="0" cy="0"/>
        </a:xfrm>
      </p:grpSpPr>
      <p:sp>
        <p:nvSpPr>
          <p:cNvPr id="1604018429" name="Titre 1"/>
          <p:cNvSpPr>
            <a:spLocks noGrp="1"/>
          </p:cNvSpPr>
          <p:nvPr>
            <p:ph type="ctrTitle"/>
          </p:nvPr>
        </p:nvSpPr>
        <p:spPr bwMode="auto">
          <a:xfrm>
            <a:off x="1524000" y="1122363"/>
            <a:ext cx="9144000" cy="2387600"/>
          </a:xfrm>
        </p:spPr>
        <p:txBody>
          <a:bodyPr anchor="b"/>
          <a:lstStyle>
            <a:lvl1pPr algn="ctr">
              <a:defRPr sz="6000"/>
            </a:lvl1pPr>
          </a:lstStyle>
          <a:p>
            <a:pPr>
              <a:defRPr/>
            </a:pPr>
            <a:r>
              <a:rPr lang="fr-FR"/>
              <a:t>Modifiez le style du titre</a:t>
            </a:r>
            <a:endParaRPr/>
          </a:p>
        </p:txBody>
      </p:sp>
      <p:sp>
        <p:nvSpPr>
          <p:cNvPr id="467207925" name="Sous-titre 2"/>
          <p:cNvSpPr>
            <a:spLocks noGrp="1"/>
          </p:cNvSpPr>
          <p:nvPr>
            <p:ph type="subTitle" idx="1"/>
          </p:nvPr>
        </p:nvSpPr>
        <p:spPr bwMode="auto">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a:defRPr/>
            </a:pPr>
            <a:r>
              <a:rPr lang="fr-FR"/>
              <a:t>Modifiez le style des sous-titres du masque</a:t>
            </a:r>
            <a:endParaRPr/>
          </a:p>
        </p:txBody>
      </p:sp>
      <p:sp>
        <p:nvSpPr>
          <p:cNvPr id="940585956" name="Espace réservé de la date 3"/>
          <p:cNvSpPr>
            <a:spLocks noGrp="1"/>
          </p:cNvSpPr>
          <p:nvPr>
            <p:ph type="dt" sz="half" idx="10"/>
          </p:nvPr>
        </p:nvSpPr>
        <p:spPr bwMode="auto"/>
        <p:txBody>
          <a:bodyPr/>
          <a:lstStyle/>
          <a:p>
            <a:pPr>
              <a:defRPr/>
            </a:pPr>
            <a:fld id="{638941B0-F4D5-4460-BCAD-F7E2B41A8257}" type="datetimeFigureOut">
              <a:rPr lang="fr-FR"/>
              <a:t>10/06/2026</a:t>
            </a:fld>
            <a:endParaRPr lang="fr-FR"/>
          </a:p>
        </p:txBody>
      </p:sp>
      <p:sp>
        <p:nvSpPr>
          <p:cNvPr id="1340185399" name="Espace réservé du pied de page 4"/>
          <p:cNvSpPr>
            <a:spLocks noGrp="1"/>
          </p:cNvSpPr>
          <p:nvPr>
            <p:ph type="ftr" sz="quarter" idx="11"/>
          </p:nvPr>
        </p:nvSpPr>
        <p:spPr bwMode="auto"/>
        <p:txBody>
          <a:bodyPr/>
          <a:lstStyle/>
          <a:p>
            <a:pPr>
              <a:defRPr/>
            </a:pPr>
            <a:endParaRPr lang="fr-FR"/>
          </a:p>
        </p:txBody>
      </p:sp>
      <p:sp>
        <p:nvSpPr>
          <p:cNvPr id="147179716" name="Espace réservé du numéro de diapositive 5"/>
          <p:cNvSpPr>
            <a:spLocks noGrp="1"/>
          </p:cNvSpPr>
          <p:nvPr>
            <p:ph type="sldNum" sz="quarter" idx="12"/>
          </p:nvPr>
        </p:nvSpPr>
        <p:spPr bwMode="auto"/>
        <p:txBody>
          <a:bodyPr/>
          <a:lstStyle/>
          <a:p>
            <a:pPr>
              <a:defRPr/>
            </a:pPr>
            <a:fld id="{27C6CCC6-2BE5-4E42-96A4-D1E8E81A3D8E}" type="slidenum">
              <a:rPr lang="fr-FR"/>
              <a:t>‹N°›</a:t>
            </a:fld>
            <a:endParaRPr lang="fr-F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0" showMasterPhAnim="0" showMasterSp="1" type="obj" userDrawn="1">
  <p:cSld name="Titre et contenu">
    <p:spTree>
      <p:nvGrpSpPr>
        <p:cNvPr id="1" name=""/>
        <p:cNvGrpSpPr/>
        <p:nvPr/>
      </p:nvGrpSpPr>
      <p:grpSpPr bwMode="auto">
        <a:xfrm>
          <a:off x="0" y="0"/>
          <a:ext cx="0" cy="0"/>
          <a:chOff x="0" y="0"/>
          <a:chExt cx="0" cy="0"/>
        </a:xfrm>
      </p:grpSpPr>
      <p:sp>
        <p:nvSpPr>
          <p:cNvPr id="1280603285" name="Titre 1"/>
          <p:cNvSpPr>
            <a:spLocks noGrp="1"/>
          </p:cNvSpPr>
          <p:nvPr>
            <p:ph type="title"/>
          </p:nvPr>
        </p:nvSpPr>
        <p:spPr bwMode="auto"/>
        <p:txBody>
          <a:bodyPr/>
          <a:lstStyle/>
          <a:p>
            <a:pPr>
              <a:defRPr/>
            </a:pPr>
            <a:r>
              <a:rPr lang="fr-FR"/>
              <a:t>Modifiez le style du titre</a:t>
            </a:r>
            <a:endParaRPr/>
          </a:p>
        </p:txBody>
      </p:sp>
      <p:sp>
        <p:nvSpPr>
          <p:cNvPr id="605180014" name="Espace réservé du contenu 2"/>
          <p:cNvSpPr>
            <a:spLocks noGrp="1"/>
          </p:cNvSpPr>
          <p:nvPr>
            <p:ph idx="1"/>
          </p:nvPr>
        </p:nvSpPr>
        <p:spPr bwMode="auto"/>
        <p:txBody>
          <a:bodyPr/>
          <a:lstStyle/>
          <a:p>
            <a:pPr lvl="0">
              <a:defRPr/>
            </a:pPr>
            <a:r>
              <a:rPr lang="fr-FR"/>
              <a:t>Modifiez les styles du texte du masque</a:t>
            </a:r>
            <a:endParaRPr/>
          </a:p>
          <a:p>
            <a:pPr lvl="1">
              <a:defRPr/>
            </a:pPr>
            <a:r>
              <a:rPr lang="fr-FR"/>
              <a:t>Deuxième niveau</a:t>
            </a:r>
            <a:endParaRPr/>
          </a:p>
          <a:p>
            <a:pPr lvl="2">
              <a:defRPr/>
            </a:pPr>
            <a:r>
              <a:rPr lang="fr-FR"/>
              <a:t>Troisième niveau</a:t>
            </a:r>
            <a:endParaRPr/>
          </a:p>
          <a:p>
            <a:pPr lvl="3">
              <a:defRPr/>
            </a:pPr>
            <a:r>
              <a:rPr lang="fr-FR"/>
              <a:t>Quatrième niveau</a:t>
            </a:r>
            <a:endParaRPr/>
          </a:p>
          <a:p>
            <a:pPr lvl="4">
              <a:defRPr/>
            </a:pPr>
            <a:r>
              <a:rPr lang="fr-FR"/>
              <a:t>Cinquième niveau</a:t>
            </a:r>
            <a:endParaRPr/>
          </a:p>
        </p:txBody>
      </p:sp>
      <p:sp>
        <p:nvSpPr>
          <p:cNvPr id="1142115470" name="Espace réservé de la date 3"/>
          <p:cNvSpPr>
            <a:spLocks noGrp="1"/>
          </p:cNvSpPr>
          <p:nvPr>
            <p:ph type="dt" sz="half" idx="10"/>
          </p:nvPr>
        </p:nvSpPr>
        <p:spPr bwMode="auto"/>
        <p:txBody>
          <a:bodyPr/>
          <a:lstStyle/>
          <a:p>
            <a:pPr>
              <a:defRPr/>
            </a:pPr>
            <a:fld id="{638941B0-F4D5-4460-BCAD-F7E2B41A8257}" type="datetimeFigureOut">
              <a:rPr lang="fr-FR"/>
              <a:t>10/06/2026</a:t>
            </a:fld>
            <a:endParaRPr lang="fr-FR"/>
          </a:p>
        </p:txBody>
      </p:sp>
      <p:sp>
        <p:nvSpPr>
          <p:cNvPr id="489114394" name="Espace réservé du pied de page 4"/>
          <p:cNvSpPr>
            <a:spLocks noGrp="1"/>
          </p:cNvSpPr>
          <p:nvPr>
            <p:ph type="ftr" sz="quarter" idx="11"/>
          </p:nvPr>
        </p:nvSpPr>
        <p:spPr bwMode="auto"/>
        <p:txBody>
          <a:bodyPr/>
          <a:lstStyle/>
          <a:p>
            <a:pPr>
              <a:defRPr/>
            </a:pPr>
            <a:endParaRPr lang="fr-FR"/>
          </a:p>
        </p:txBody>
      </p:sp>
      <p:sp>
        <p:nvSpPr>
          <p:cNvPr id="1340938821" name="Espace réservé du numéro de diapositive 5"/>
          <p:cNvSpPr>
            <a:spLocks noGrp="1"/>
          </p:cNvSpPr>
          <p:nvPr>
            <p:ph type="sldNum" sz="quarter" idx="12"/>
          </p:nvPr>
        </p:nvSpPr>
        <p:spPr bwMode="auto"/>
        <p:txBody>
          <a:bodyPr/>
          <a:lstStyle/>
          <a:p>
            <a:pPr>
              <a:defRPr/>
            </a:pPr>
            <a:fld id="{27C6CCC6-2BE5-4E42-96A4-D1E8E81A3D8E}" type="slidenum">
              <a:rPr lang="fr-FR"/>
              <a:t>‹N°›</a:t>
            </a:fld>
            <a:endParaRPr lang="fr-F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0" showMasterPhAnim="0" showMasterSp="1" type="secHead" userDrawn="1">
  <p:cSld name="Titre de section">
    <p:spTree>
      <p:nvGrpSpPr>
        <p:cNvPr id="1" name=""/>
        <p:cNvGrpSpPr/>
        <p:nvPr/>
      </p:nvGrpSpPr>
      <p:grpSpPr bwMode="auto">
        <a:xfrm>
          <a:off x="0" y="0"/>
          <a:ext cx="0" cy="0"/>
          <a:chOff x="0" y="0"/>
          <a:chExt cx="0" cy="0"/>
        </a:xfrm>
      </p:grpSpPr>
      <p:sp>
        <p:nvSpPr>
          <p:cNvPr id="1233795720" name="Titre 1"/>
          <p:cNvSpPr>
            <a:spLocks noGrp="1"/>
          </p:cNvSpPr>
          <p:nvPr>
            <p:ph type="title"/>
          </p:nvPr>
        </p:nvSpPr>
        <p:spPr bwMode="auto">
          <a:xfrm>
            <a:off x="831850" y="1709738"/>
            <a:ext cx="10515600" cy="2852737"/>
          </a:xfrm>
        </p:spPr>
        <p:txBody>
          <a:bodyPr anchor="b"/>
          <a:lstStyle>
            <a:lvl1pPr>
              <a:defRPr sz="6000"/>
            </a:lvl1pPr>
          </a:lstStyle>
          <a:p>
            <a:pPr>
              <a:defRPr/>
            </a:pPr>
            <a:r>
              <a:rPr lang="fr-FR"/>
              <a:t>Modifiez le style du titre</a:t>
            </a:r>
            <a:endParaRPr/>
          </a:p>
        </p:txBody>
      </p:sp>
      <p:sp>
        <p:nvSpPr>
          <p:cNvPr id="1260342549" name="Espace réservé du texte 2"/>
          <p:cNvSpPr>
            <a:spLocks noGrp="1"/>
          </p:cNvSpPr>
          <p:nvPr>
            <p:ph type="body" idx="1"/>
          </p:nvPr>
        </p:nvSpPr>
        <p:spPr bwMode="auto">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defRPr/>
            </a:pPr>
            <a:r>
              <a:rPr lang="fr-FR"/>
              <a:t>Modifiez les styles du texte du masque</a:t>
            </a:r>
            <a:endParaRPr/>
          </a:p>
        </p:txBody>
      </p:sp>
      <p:sp>
        <p:nvSpPr>
          <p:cNvPr id="1930997568" name="Espace réservé de la date 3"/>
          <p:cNvSpPr>
            <a:spLocks noGrp="1"/>
          </p:cNvSpPr>
          <p:nvPr>
            <p:ph type="dt" sz="half" idx="10"/>
          </p:nvPr>
        </p:nvSpPr>
        <p:spPr bwMode="auto"/>
        <p:txBody>
          <a:bodyPr/>
          <a:lstStyle/>
          <a:p>
            <a:pPr>
              <a:defRPr/>
            </a:pPr>
            <a:fld id="{638941B0-F4D5-4460-BCAD-F7E2B41A8257}" type="datetimeFigureOut">
              <a:rPr lang="fr-FR"/>
              <a:t>10/06/2026</a:t>
            </a:fld>
            <a:endParaRPr lang="fr-FR"/>
          </a:p>
        </p:txBody>
      </p:sp>
      <p:sp>
        <p:nvSpPr>
          <p:cNvPr id="63808667" name="Espace réservé du pied de page 4"/>
          <p:cNvSpPr>
            <a:spLocks noGrp="1"/>
          </p:cNvSpPr>
          <p:nvPr>
            <p:ph type="ftr" sz="quarter" idx="11"/>
          </p:nvPr>
        </p:nvSpPr>
        <p:spPr bwMode="auto"/>
        <p:txBody>
          <a:bodyPr/>
          <a:lstStyle/>
          <a:p>
            <a:pPr>
              <a:defRPr/>
            </a:pPr>
            <a:endParaRPr lang="fr-FR"/>
          </a:p>
        </p:txBody>
      </p:sp>
      <p:sp>
        <p:nvSpPr>
          <p:cNvPr id="1478337428" name="Espace réservé du numéro de diapositive 5"/>
          <p:cNvSpPr>
            <a:spLocks noGrp="1"/>
          </p:cNvSpPr>
          <p:nvPr>
            <p:ph type="sldNum" sz="quarter" idx="12"/>
          </p:nvPr>
        </p:nvSpPr>
        <p:spPr bwMode="auto"/>
        <p:txBody>
          <a:bodyPr/>
          <a:lstStyle/>
          <a:p>
            <a:pPr>
              <a:defRPr/>
            </a:pPr>
            <a:fld id="{27C6CCC6-2BE5-4E42-96A4-D1E8E81A3D8E}" type="slidenum">
              <a:rPr lang="fr-FR"/>
              <a:t>‹N°›</a:t>
            </a:fld>
            <a:endParaRPr lang="fr-F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0" showMasterPhAnim="0" showMasterSp="1" type="twoObj" userDrawn="1">
  <p:cSld name="Deux contenus">
    <p:spTree>
      <p:nvGrpSpPr>
        <p:cNvPr id="1" name=""/>
        <p:cNvGrpSpPr/>
        <p:nvPr/>
      </p:nvGrpSpPr>
      <p:grpSpPr bwMode="auto">
        <a:xfrm>
          <a:off x="0" y="0"/>
          <a:ext cx="0" cy="0"/>
          <a:chOff x="0" y="0"/>
          <a:chExt cx="0" cy="0"/>
        </a:xfrm>
      </p:grpSpPr>
      <p:sp>
        <p:nvSpPr>
          <p:cNvPr id="1519397241" name="Titre 1"/>
          <p:cNvSpPr>
            <a:spLocks noGrp="1"/>
          </p:cNvSpPr>
          <p:nvPr>
            <p:ph type="title"/>
          </p:nvPr>
        </p:nvSpPr>
        <p:spPr bwMode="auto"/>
        <p:txBody>
          <a:bodyPr/>
          <a:lstStyle/>
          <a:p>
            <a:pPr>
              <a:defRPr/>
            </a:pPr>
            <a:r>
              <a:rPr lang="fr-FR"/>
              <a:t>Modifiez le style du titre</a:t>
            </a:r>
            <a:endParaRPr/>
          </a:p>
        </p:txBody>
      </p:sp>
      <p:sp>
        <p:nvSpPr>
          <p:cNvPr id="854646312" name="Espace réservé du contenu 2"/>
          <p:cNvSpPr>
            <a:spLocks noGrp="1"/>
          </p:cNvSpPr>
          <p:nvPr>
            <p:ph sz="half" idx="1"/>
          </p:nvPr>
        </p:nvSpPr>
        <p:spPr bwMode="auto">
          <a:xfrm>
            <a:off x="838200" y="1825625"/>
            <a:ext cx="5181600" cy="4351338"/>
          </a:xfrm>
        </p:spPr>
        <p:txBody>
          <a:bodyPr/>
          <a:lstStyle/>
          <a:p>
            <a:pPr lvl="0">
              <a:defRPr/>
            </a:pPr>
            <a:r>
              <a:rPr lang="fr-FR"/>
              <a:t>Modifiez les styles du texte du masque</a:t>
            </a:r>
            <a:endParaRPr/>
          </a:p>
          <a:p>
            <a:pPr lvl="1">
              <a:defRPr/>
            </a:pPr>
            <a:r>
              <a:rPr lang="fr-FR"/>
              <a:t>Deuxième niveau</a:t>
            </a:r>
            <a:endParaRPr/>
          </a:p>
          <a:p>
            <a:pPr lvl="2">
              <a:defRPr/>
            </a:pPr>
            <a:r>
              <a:rPr lang="fr-FR"/>
              <a:t>Troisième niveau</a:t>
            </a:r>
            <a:endParaRPr/>
          </a:p>
          <a:p>
            <a:pPr lvl="3">
              <a:defRPr/>
            </a:pPr>
            <a:r>
              <a:rPr lang="fr-FR"/>
              <a:t>Quatrième niveau</a:t>
            </a:r>
            <a:endParaRPr/>
          </a:p>
          <a:p>
            <a:pPr lvl="4">
              <a:defRPr/>
            </a:pPr>
            <a:r>
              <a:rPr lang="fr-FR"/>
              <a:t>Cinquième niveau</a:t>
            </a:r>
            <a:endParaRPr/>
          </a:p>
        </p:txBody>
      </p:sp>
      <p:sp>
        <p:nvSpPr>
          <p:cNvPr id="1478607906" name="Espace réservé du contenu 3"/>
          <p:cNvSpPr>
            <a:spLocks noGrp="1"/>
          </p:cNvSpPr>
          <p:nvPr>
            <p:ph sz="half" idx="2"/>
          </p:nvPr>
        </p:nvSpPr>
        <p:spPr bwMode="auto">
          <a:xfrm>
            <a:off x="6172200" y="1825625"/>
            <a:ext cx="5181600" cy="4351338"/>
          </a:xfrm>
        </p:spPr>
        <p:txBody>
          <a:bodyPr/>
          <a:lstStyle/>
          <a:p>
            <a:pPr lvl="0">
              <a:defRPr/>
            </a:pPr>
            <a:r>
              <a:rPr lang="fr-FR"/>
              <a:t>Modifiez les styles du texte du masque</a:t>
            </a:r>
            <a:endParaRPr/>
          </a:p>
          <a:p>
            <a:pPr lvl="1">
              <a:defRPr/>
            </a:pPr>
            <a:r>
              <a:rPr lang="fr-FR"/>
              <a:t>Deuxième niveau</a:t>
            </a:r>
            <a:endParaRPr/>
          </a:p>
          <a:p>
            <a:pPr lvl="2">
              <a:defRPr/>
            </a:pPr>
            <a:r>
              <a:rPr lang="fr-FR"/>
              <a:t>Troisième niveau</a:t>
            </a:r>
            <a:endParaRPr/>
          </a:p>
          <a:p>
            <a:pPr lvl="3">
              <a:defRPr/>
            </a:pPr>
            <a:r>
              <a:rPr lang="fr-FR"/>
              <a:t>Quatrième niveau</a:t>
            </a:r>
            <a:endParaRPr/>
          </a:p>
          <a:p>
            <a:pPr lvl="4">
              <a:defRPr/>
            </a:pPr>
            <a:r>
              <a:rPr lang="fr-FR"/>
              <a:t>Cinquième niveau</a:t>
            </a:r>
            <a:endParaRPr/>
          </a:p>
        </p:txBody>
      </p:sp>
      <p:sp>
        <p:nvSpPr>
          <p:cNvPr id="263538261" name="Espace réservé de la date 4"/>
          <p:cNvSpPr>
            <a:spLocks noGrp="1"/>
          </p:cNvSpPr>
          <p:nvPr>
            <p:ph type="dt" sz="half" idx="10"/>
          </p:nvPr>
        </p:nvSpPr>
        <p:spPr bwMode="auto"/>
        <p:txBody>
          <a:bodyPr/>
          <a:lstStyle/>
          <a:p>
            <a:pPr>
              <a:defRPr/>
            </a:pPr>
            <a:fld id="{638941B0-F4D5-4460-BCAD-F7E2B41A8257}" type="datetimeFigureOut">
              <a:rPr lang="fr-FR"/>
              <a:t>10/06/2026</a:t>
            </a:fld>
            <a:endParaRPr lang="fr-FR"/>
          </a:p>
        </p:txBody>
      </p:sp>
      <p:sp>
        <p:nvSpPr>
          <p:cNvPr id="959721136" name="Espace réservé du pied de page 5"/>
          <p:cNvSpPr>
            <a:spLocks noGrp="1"/>
          </p:cNvSpPr>
          <p:nvPr>
            <p:ph type="ftr" sz="quarter" idx="11"/>
          </p:nvPr>
        </p:nvSpPr>
        <p:spPr bwMode="auto"/>
        <p:txBody>
          <a:bodyPr/>
          <a:lstStyle/>
          <a:p>
            <a:pPr>
              <a:defRPr/>
            </a:pPr>
            <a:endParaRPr lang="fr-FR"/>
          </a:p>
        </p:txBody>
      </p:sp>
      <p:sp>
        <p:nvSpPr>
          <p:cNvPr id="1686620736" name="Espace réservé du numéro de diapositive 6"/>
          <p:cNvSpPr>
            <a:spLocks noGrp="1"/>
          </p:cNvSpPr>
          <p:nvPr>
            <p:ph type="sldNum" sz="quarter" idx="12"/>
          </p:nvPr>
        </p:nvSpPr>
        <p:spPr bwMode="auto"/>
        <p:txBody>
          <a:bodyPr/>
          <a:lstStyle/>
          <a:p>
            <a:pPr>
              <a:defRPr/>
            </a:pPr>
            <a:fld id="{27C6CCC6-2BE5-4E42-96A4-D1E8E81A3D8E}" type="slidenum">
              <a:rPr lang="fr-FR"/>
              <a:t>‹N°›</a:t>
            </a:fld>
            <a:endParaRPr lang="fr-F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0" showMasterPhAnim="0" showMasterSp="1" type="twoTxTwoObj" userDrawn="1">
  <p:cSld name="Comparaison">
    <p:spTree>
      <p:nvGrpSpPr>
        <p:cNvPr id="1" name=""/>
        <p:cNvGrpSpPr/>
        <p:nvPr/>
      </p:nvGrpSpPr>
      <p:grpSpPr bwMode="auto">
        <a:xfrm>
          <a:off x="0" y="0"/>
          <a:ext cx="0" cy="0"/>
          <a:chOff x="0" y="0"/>
          <a:chExt cx="0" cy="0"/>
        </a:xfrm>
      </p:grpSpPr>
      <p:sp>
        <p:nvSpPr>
          <p:cNvPr id="1352499632" name="Titre 1"/>
          <p:cNvSpPr>
            <a:spLocks noGrp="1"/>
          </p:cNvSpPr>
          <p:nvPr>
            <p:ph type="title"/>
          </p:nvPr>
        </p:nvSpPr>
        <p:spPr bwMode="auto">
          <a:xfrm>
            <a:off x="839788" y="365125"/>
            <a:ext cx="10515600" cy="1325563"/>
          </a:xfrm>
        </p:spPr>
        <p:txBody>
          <a:bodyPr/>
          <a:lstStyle/>
          <a:p>
            <a:pPr>
              <a:defRPr/>
            </a:pPr>
            <a:r>
              <a:rPr lang="fr-FR"/>
              <a:t>Modifiez le style du titre</a:t>
            </a:r>
            <a:endParaRPr/>
          </a:p>
        </p:txBody>
      </p:sp>
      <p:sp>
        <p:nvSpPr>
          <p:cNvPr id="1907812352" name="Espace réservé du texte 2"/>
          <p:cNvSpPr>
            <a:spLocks noGrp="1"/>
          </p:cNvSpPr>
          <p:nvPr>
            <p:ph type="body" idx="1"/>
          </p:nvPr>
        </p:nvSpPr>
        <p:spPr bwMode="auto">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defRPr/>
            </a:pPr>
            <a:r>
              <a:rPr lang="fr-FR"/>
              <a:t>Modifiez les styles du texte du masque</a:t>
            </a:r>
            <a:endParaRPr/>
          </a:p>
        </p:txBody>
      </p:sp>
      <p:sp>
        <p:nvSpPr>
          <p:cNvPr id="1824188501" name="Espace réservé du contenu 3"/>
          <p:cNvSpPr>
            <a:spLocks noGrp="1"/>
          </p:cNvSpPr>
          <p:nvPr>
            <p:ph sz="half" idx="2"/>
          </p:nvPr>
        </p:nvSpPr>
        <p:spPr bwMode="auto">
          <a:xfrm>
            <a:off x="839788" y="2505074"/>
            <a:ext cx="5157787" cy="3684588"/>
          </a:xfrm>
        </p:spPr>
        <p:txBody>
          <a:bodyPr/>
          <a:lstStyle/>
          <a:p>
            <a:pPr lvl="0">
              <a:defRPr/>
            </a:pPr>
            <a:r>
              <a:rPr lang="fr-FR"/>
              <a:t>Modifiez les styles du texte du masque</a:t>
            </a:r>
            <a:endParaRPr/>
          </a:p>
          <a:p>
            <a:pPr lvl="1">
              <a:defRPr/>
            </a:pPr>
            <a:r>
              <a:rPr lang="fr-FR"/>
              <a:t>Deuxième niveau</a:t>
            </a:r>
            <a:endParaRPr/>
          </a:p>
          <a:p>
            <a:pPr lvl="2">
              <a:defRPr/>
            </a:pPr>
            <a:r>
              <a:rPr lang="fr-FR"/>
              <a:t>Troisième niveau</a:t>
            </a:r>
            <a:endParaRPr/>
          </a:p>
          <a:p>
            <a:pPr lvl="3">
              <a:defRPr/>
            </a:pPr>
            <a:r>
              <a:rPr lang="fr-FR"/>
              <a:t>Quatrième niveau</a:t>
            </a:r>
            <a:endParaRPr/>
          </a:p>
          <a:p>
            <a:pPr lvl="4">
              <a:defRPr/>
            </a:pPr>
            <a:r>
              <a:rPr lang="fr-FR"/>
              <a:t>Cinquième niveau</a:t>
            </a:r>
            <a:endParaRPr/>
          </a:p>
        </p:txBody>
      </p:sp>
      <p:sp>
        <p:nvSpPr>
          <p:cNvPr id="1259496028" name="Espace réservé du texte 4"/>
          <p:cNvSpPr>
            <a:spLocks noGrp="1"/>
          </p:cNvSpPr>
          <p:nvPr>
            <p:ph type="body" sz="quarter" idx="3"/>
          </p:nvPr>
        </p:nvSpPr>
        <p:spPr bwMode="auto">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defRPr/>
            </a:pPr>
            <a:r>
              <a:rPr lang="fr-FR"/>
              <a:t>Modifiez les styles du texte du masque</a:t>
            </a:r>
            <a:endParaRPr/>
          </a:p>
        </p:txBody>
      </p:sp>
      <p:sp>
        <p:nvSpPr>
          <p:cNvPr id="1385743084" name="Espace réservé du contenu 5"/>
          <p:cNvSpPr>
            <a:spLocks noGrp="1"/>
          </p:cNvSpPr>
          <p:nvPr>
            <p:ph sz="quarter" idx="4"/>
          </p:nvPr>
        </p:nvSpPr>
        <p:spPr bwMode="auto">
          <a:xfrm>
            <a:off x="6172200" y="2505074"/>
            <a:ext cx="5183188" cy="3684588"/>
          </a:xfrm>
        </p:spPr>
        <p:txBody>
          <a:bodyPr/>
          <a:lstStyle/>
          <a:p>
            <a:pPr lvl="0">
              <a:defRPr/>
            </a:pPr>
            <a:r>
              <a:rPr lang="fr-FR"/>
              <a:t>Modifiez les styles du texte du masque</a:t>
            </a:r>
            <a:endParaRPr/>
          </a:p>
          <a:p>
            <a:pPr lvl="1">
              <a:defRPr/>
            </a:pPr>
            <a:r>
              <a:rPr lang="fr-FR"/>
              <a:t>Deuxième niveau</a:t>
            </a:r>
            <a:endParaRPr/>
          </a:p>
          <a:p>
            <a:pPr lvl="2">
              <a:defRPr/>
            </a:pPr>
            <a:r>
              <a:rPr lang="fr-FR"/>
              <a:t>Troisième niveau</a:t>
            </a:r>
            <a:endParaRPr/>
          </a:p>
          <a:p>
            <a:pPr lvl="3">
              <a:defRPr/>
            </a:pPr>
            <a:r>
              <a:rPr lang="fr-FR"/>
              <a:t>Quatrième niveau</a:t>
            </a:r>
            <a:endParaRPr/>
          </a:p>
          <a:p>
            <a:pPr lvl="4">
              <a:defRPr/>
            </a:pPr>
            <a:r>
              <a:rPr lang="fr-FR"/>
              <a:t>Cinquième niveau</a:t>
            </a:r>
            <a:endParaRPr/>
          </a:p>
        </p:txBody>
      </p:sp>
      <p:sp>
        <p:nvSpPr>
          <p:cNvPr id="673045339" name="Espace réservé de la date 6"/>
          <p:cNvSpPr>
            <a:spLocks noGrp="1"/>
          </p:cNvSpPr>
          <p:nvPr>
            <p:ph type="dt" sz="half" idx="10"/>
          </p:nvPr>
        </p:nvSpPr>
        <p:spPr bwMode="auto"/>
        <p:txBody>
          <a:bodyPr/>
          <a:lstStyle/>
          <a:p>
            <a:pPr>
              <a:defRPr/>
            </a:pPr>
            <a:fld id="{638941B0-F4D5-4460-BCAD-F7E2B41A8257}" type="datetimeFigureOut">
              <a:rPr lang="fr-FR"/>
              <a:t>10/06/2026</a:t>
            </a:fld>
            <a:endParaRPr lang="fr-FR"/>
          </a:p>
        </p:txBody>
      </p:sp>
      <p:sp>
        <p:nvSpPr>
          <p:cNvPr id="483711889" name="Espace réservé du pied de page 7"/>
          <p:cNvSpPr>
            <a:spLocks noGrp="1"/>
          </p:cNvSpPr>
          <p:nvPr>
            <p:ph type="ftr" sz="quarter" idx="11"/>
          </p:nvPr>
        </p:nvSpPr>
        <p:spPr bwMode="auto"/>
        <p:txBody>
          <a:bodyPr/>
          <a:lstStyle/>
          <a:p>
            <a:pPr>
              <a:defRPr/>
            </a:pPr>
            <a:endParaRPr lang="fr-FR"/>
          </a:p>
        </p:txBody>
      </p:sp>
      <p:sp>
        <p:nvSpPr>
          <p:cNvPr id="1337455412" name="Espace réservé du numéro de diapositive 8"/>
          <p:cNvSpPr>
            <a:spLocks noGrp="1"/>
          </p:cNvSpPr>
          <p:nvPr>
            <p:ph type="sldNum" sz="quarter" idx="12"/>
          </p:nvPr>
        </p:nvSpPr>
        <p:spPr bwMode="auto"/>
        <p:txBody>
          <a:bodyPr/>
          <a:lstStyle/>
          <a:p>
            <a:pPr>
              <a:defRPr/>
            </a:pPr>
            <a:fld id="{27C6CCC6-2BE5-4E42-96A4-D1E8E81A3D8E}" type="slidenum">
              <a:rPr lang="fr-FR"/>
              <a:t>‹N°›</a:t>
            </a:fld>
            <a:endParaRPr lang="fr-F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0" showMasterPhAnim="0" showMasterSp="1" type="titleOnly" userDrawn="1">
  <p:cSld name="Titre seul">
    <p:spTree>
      <p:nvGrpSpPr>
        <p:cNvPr id="1" name=""/>
        <p:cNvGrpSpPr/>
        <p:nvPr/>
      </p:nvGrpSpPr>
      <p:grpSpPr bwMode="auto">
        <a:xfrm>
          <a:off x="0" y="0"/>
          <a:ext cx="0" cy="0"/>
          <a:chOff x="0" y="0"/>
          <a:chExt cx="0" cy="0"/>
        </a:xfrm>
      </p:grpSpPr>
      <p:sp>
        <p:nvSpPr>
          <p:cNvPr id="680754180" name="Titre 1"/>
          <p:cNvSpPr>
            <a:spLocks noGrp="1"/>
          </p:cNvSpPr>
          <p:nvPr>
            <p:ph type="title"/>
          </p:nvPr>
        </p:nvSpPr>
        <p:spPr bwMode="auto"/>
        <p:txBody>
          <a:bodyPr/>
          <a:lstStyle/>
          <a:p>
            <a:pPr>
              <a:defRPr/>
            </a:pPr>
            <a:r>
              <a:rPr lang="fr-FR"/>
              <a:t>Modifiez le style du titre</a:t>
            </a:r>
            <a:endParaRPr/>
          </a:p>
        </p:txBody>
      </p:sp>
      <p:sp>
        <p:nvSpPr>
          <p:cNvPr id="183925628" name="Espace réservé de la date 2"/>
          <p:cNvSpPr>
            <a:spLocks noGrp="1"/>
          </p:cNvSpPr>
          <p:nvPr>
            <p:ph type="dt" sz="half" idx="10"/>
          </p:nvPr>
        </p:nvSpPr>
        <p:spPr bwMode="auto"/>
        <p:txBody>
          <a:bodyPr/>
          <a:lstStyle/>
          <a:p>
            <a:pPr>
              <a:defRPr/>
            </a:pPr>
            <a:fld id="{638941B0-F4D5-4460-BCAD-F7E2B41A8257}" type="datetimeFigureOut">
              <a:rPr lang="fr-FR"/>
              <a:t>10/06/2026</a:t>
            </a:fld>
            <a:endParaRPr lang="fr-FR"/>
          </a:p>
        </p:txBody>
      </p:sp>
      <p:sp>
        <p:nvSpPr>
          <p:cNvPr id="1932747830" name="Espace réservé du pied de page 3"/>
          <p:cNvSpPr>
            <a:spLocks noGrp="1"/>
          </p:cNvSpPr>
          <p:nvPr>
            <p:ph type="ftr" sz="quarter" idx="11"/>
          </p:nvPr>
        </p:nvSpPr>
        <p:spPr bwMode="auto"/>
        <p:txBody>
          <a:bodyPr/>
          <a:lstStyle/>
          <a:p>
            <a:pPr>
              <a:defRPr/>
            </a:pPr>
            <a:endParaRPr lang="fr-FR"/>
          </a:p>
        </p:txBody>
      </p:sp>
      <p:sp>
        <p:nvSpPr>
          <p:cNvPr id="1950479380" name="Espace réservé du numéro de diapositive 4"/>
          <p:cNvSpPr>
            <a:spLocks noGrp="1"/>
          </p:cNvSpPr>
          <p:nvPr>
            <p:ph type="sldNum" sz="quarter" idx="12"/>
          </p:nvPr>
        </p:nvSpPr>
        <p:spPr bwMode="auto"/>
        <p:txBody>
          <a:bodyPr/>
          <a:lstStyle/>
          <a:p>
            <a:pPr>
              <a:defRPr/>
            </a:pPr>
            <a:fld id="{27C6CCC6-2BE5-4E42-96A4-D1E8E81A3D8E}" type="slidenum">
              <a:rPr lang="fr-FR"/>
              <a:t>‹N°›</a:t>
            </a:fld>
            <a:endParaRPr lang="fr-F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0" showMasterPhAnim="0" showMasterSp="1" type="blank" userDrawn="1">
  <p:cSld name="Vide">
    <p:spTree>
      <p:nvGrpSpPr>
        <p:cNvPr id="1" name=""/>
        <p:cNvGrpSpPr/>
        <p:nvPr/>
      </p:nvGrpSpPr>
      <p:grpSpPr bwMode="auto">
        <a:xfrm>
          <a:off x="0" y="0"/>
          <a:ext cx="0" cy="0"/>
          <a:chOff x="0" y="0"/>
          <a:chExt cx="0" cy="0"/>
        </a:xfrm>
      </p:grpSpPr>
      <p:sp>
        <p:nvSpPr>
          <p:cNvPr id="1262546754" name="Espace réservé de la date 1"/>
          <p:cNvSpPr>
            <a:spLocks noGrp="1"/>
          </p:cNvSpPr>
          <p:nvPr>
            <p:ph type="dt" sz="half" idx="10"/>
          </p:nvPr>
        </p:nvSpPr>
        <p:spPr bwMode="auto"/>
        <p:txBody>
          <a:bodyPr/>
          <a:lstStyle/>
          <a:p>
            <a:pPr>
              <a:defRPr/>
            </a:pPr>
            <a:fld id="{638941B0-F4D5-4460-BCAD-F7E2B41A8257}" type="datetimeFigureOut">
              <a:rPr lang="fr-FR"/>
              <a:t>10/06/2026</a:t>
            </a:fld>
            <a:endParaRPr lang="fr-FR"/>
          </a:p>
        </p:txBody>
      </p:sp>
      <p:sp>
        <p:nvSpPr>
          <p:cNvPr id="105123038" name="Espace réservé du pied de page 2"/>
          <p:cNvSpPr>
            <a:spLocks noGrp="1"/>
          </p:cNvSpPr>
          <p:nvPr>
            <p:ph type="ftr" sz="quarter" idx="11"/>
          </p:nvPr>
        </p:nvSpPr>
        <p:spPr bwMode="auto"/>
        <p:txBody>
          <a:bodyPr/>
          <a:lstStyle/>
          <a:p>
            <a:pPr>
              <a:defRPr/>
            </a:pPr>
            <a:endParaRPr lang="fr-FR"/>
          </a:p>
        </p:txBody>
      </p:sp>
      <p:sp>
        <p:nvSpPr>
          <p:cNvPr id="1152422579" name="Espace réservé du numéro de diapositive 3"/>
          <p:cNvSpPr>
            <a:spLocks noGrp="1"/>
          </p:cNvSpPr>
          <p:nvPr>
            <p:ph type="sldNum" sz="quarter" idx="12"/>
          </p:nvPr>
        </p:nvSpPr>
        <p:spPr bwMode="auto"/>
        <p:txBody>
          <a:bodyPr/>
          <a:lstStyle/>
          <a:p>
            <a:pPr>
              <a:defRPr/>
            </a:pPr>
            <a:fld id="{27C6CCC6-2BE5-4E42-96A4-D1E8E81A3D8E}" type="slidenum">
              <a:rPr lang="fr-FR"/>
              <a:t>‹N°›</a:t>
            </a:fld>
            <a:endParaRPr lang="fr-F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0" showMasterPhAnim="0" showMasterSp="1" type="objTx" userDrawn="1">
  <p:cSld name="Contenu avec légende">
    <p:spTree>
      <p:nvGrpSpPr>
        <p:cNvPr id="1" name=""/>
        <p:cNvGrpSpPr/>
        <p:nvPr/>
      </p:nvGrpSpPr>
      <p:grpSpPr bwMode="auto">
        <a:xfrm>
          <a:off x="0" y="0"/>
          <a:ext cx="0" cy="0"/>
          <a:chOff x="0" y="0"/>
          <a:chExt cx="0" cy="0"/>
        </a:xfrm>
      </p:grpSpPr>
      <p:sp>
        <p:nvSpPr>
          <p:cNvPr id="1272340464" name="Titre 1"/>
          <p:cNvSpPr>
            <a:spLocks noGrp="1"/>
          </p:cNvSpPr>
          <p:nvPr>
            <p:ph type="title"/>
          </p:nvPr>
        </p:nvSpPr>
        <p:spPr bwMode="auto">
          <a:xfrm>
            <a:off x="839788" y="457200"/>
            <a:ext cx="3932237" cy="1600200"/>
          </a:xfrm>
        </p:spPr>
        <p:txBody>
          <a:bodyPr anchor="b"/>
          <a:lstStyle>
            <a:lvl1pPr>
              <a:defRPr sz="3200"/>
            </a:lvl1pPr>
          </a:lstStyle>
          <a:p>
            <a:pPr>
              <a:defRPr/>
            </a:pPr>
            <a:r>
              <a:rPr lang="fr-FR"/>
              <a:t>Modifiez le style du titre</a:t>
            </a:r>
            <a:endParaRPr/>
          </a:p>
        </p:txBody>
      </p:sp>
      <p:sp>
        <p:nvSpPr>
          <p:cNvPr id="1376744928" name="Espace réservé du contenu 2"/>
          <p:cNvSpPr>
            <a:spLocks noGrp="1"/>
          </p:cNvSpPr>
          <p:nvPr>
            <p:ph idx="1"/>
          </p:nvPr>
        </p:nvSpPr>
        <p:spPr bwMode="auto">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defRPr/>
            </a:pPr>
            <a:r>
              <a:rPr lang="fr-FR"/>
              <a:t>Modifiez les styles du texte du masque</a:t>
            </a:r>
            <a:endParaRPr/>
          </a:p>
          <a:p>
            <a:pPr lvl="1">
              <a:defRPr/>
            </a:pPr>
            <a:r>
              <a:rPr lang="fr-FR"/>
              <a:t>Deuxième niveau</a:t>
            </a:r>
            <a:endParaRPr/>
          </a:p>
          <a:p>
            <a:pPr lvl="2">
              <a:defRPr/>
            </a:pPr>
            <a:r>
              <a:rPr lang="fr-FR"/>
              <a:t>Troisième niveau</a:t>
            </a:r>
            <a:endParaRPr/>
          </a:p>
          <a:p>
            <a:pPr lvl="3">
              <a:defRPr/>
            </a:pPr>
            <a:r>
              <a:rPr lang="fr-FR"/>
              <a:t>Quatrième niveau</a:t>
            </a:r>
            <a:endParaRPr/>
          </a:p>
          <a:p>
            <a:pPr lvl="4">
              <a:defRPr/>
            </a:pPr>
            <a:r>
              <a:rPr lang="fr-FR"/>
              <a:t>Cinquième niveau</a:t>
            </a:r>
            <a:endParaRPr/>
          </a:p>
        </p:txBody>
      </p:sp>
      <p:sp>
        <p:nvSpPr>
          <p:cNvPr id="669441117" name="Espace réservé du texte 3"/>
          <p:cNvSpPr>
            <a:spLocks noGrp="1"/>
          </p:cNvSpPr>
          <p:nvPr>
            <p:ph type="body" sz="half" idx="2"/>
          </p:nvPr>
        </p:nvSpPr>
        <p:spPr bwMode="auto">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defRPr/>
            </a:pPr>
            <a:r>
              <a:rPr lang="fr-FR"/>
              <a:t>Modifiez les styles du texte du masque</a:t>
            </a:r>
            <a:endParaRPr/>
          </a:p>
        </p:txBody>
      </p:sp>
      <p:sp>
        <p:nvSpPr>
          <p:cNvPr id="1064370653" name="Espace réservé de la date 4"/>
          <p:cNvSpPr>
            <a:spLocks noGrp="1"/>
          </p:cNvSpPr>
          <p:nvPr>
            <p:ph type="dt" sz="half" idx="10"/>
          </p:nvPr>
        </p:nvSpPr>
        <p:spPr bwMode="auto"/>
        <p:txBody>
          <a:bodyPr/>
          <a:lstStyle/>
          <a:p>
            <a:pPr>
              <a:defRPr/>
            </a:pPr>
            <a:fld id="{638941B0-F4D5-4460-BCAD-F7E2B41A8257}" type="datetimeFigureOut">
              <a:rPr lang="fr-FR"/>
              <a:t>10/06/2026</a:t>
            </a:fld>
            <a:endParaRPr lang="fr-FR"/>
          </a:p>
        </p:txBody>
      </p:sp>
      <p:sp>
        <p:nvSpPr>
          <p:cNvPr id="1865038703" name="Espace réservé du pied de page 5"/>
          <p:cNvSpPr>
            <a:spLocks noGrp="1"/>
          </p:cNvSpPr>
          <p:nvPr>
            <p:ph type="ftr" sz="quarter" idx="11"/>
          </p:nvPr>
        </p:nvSpPr>
        <p:spPr bwMode="auto"/>
        <p:txBody>
          <a:bodyPr/>
          <a:lstStyle/>
          <a:p>
            <a:pPr>
              <a:defRPr/>
            </a:pPr>
            <a:endParaRPr lang="fr-FR"/>
          </a:p>
        </p:txBody>
      </p:sp>
      <p:sp>
        <p:nvSpPr>
          <p:cNvPr id="1405874731" name="Espace réservé du numéro de diapositive 6"/>
          <p:cNvSpPr>
            <a:spLocks noGrp="1"/>
          </p:cNvSpPr>
          <p:nvPr>
            <p:ph type="sldNum" sz="quarter" idx="12"/>
          </p:nvPr>
        </p:nvSpPr>
        <p:spPr bwMode="auto"/>
        <p:txBody>
          <a:bodyPr/>
          <a:lstStyle/>
          <a:p>
            <a:pPr>
              <a:defRPr/>
            </a:pPr>
            <a:fld id="{27C6CCC6-2BE5-4E42-96A4-D1E8E81A3D8E}" type="slidenum">
              <a:rPr lang="fr-FR"/>
              <a:t>‹N°›</a:t>
            </a:fld>
            <a:endParaRPr lang="fr-F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0" showMasterPhAnim="0" showMasterSp="1" type="picTx" userDrawn="1">
  <p:cSld name="Image avec légende">
    <p:spTree>
      <p:nvGrpSpPr>
        <p:cNvPr id="1" name=""/>
        <p:cNvGrpSpPr/>
        <p:nvPr/>
      </p:nvGrpSpPr>
      <p:grpSpPr bwMode="auto">
        <a:xfrm>
          <a:off x="0" y="0"/>
          <a:ext cx="0" cy="0"/>
          <a:chOff x="0" y="0"/>
          <a:chExt cx="0" cy="0"/>
        </a:xfrm>
      </p:grpSpPr>
      <p:sp>
        <p:nvSpPr>
          <p:cNvPr id="728127505" name="Titre 1"/>
          <p:cNvSpPr>
            <a:spLocks noGrp="1"/>
          </p:cNvSpPr>
          <p:nvPr>
            <p:ph type="title"/>
          </p:nvPr>
        </p:nvSpPr>
        <p:spPr bwMode="auto">
          <a:xfrm>
            <a:off x="839788" y="457200"/>
            <a:ext cx="3932237" cy="1600200"/>
          </a:xfrm>
        </p:spPr>
        <p:txBody>
          <a:bodyPr anchor="b"/>
          <a:lstStyle>
            <a:lvl1pPr>
              <a:defRPr sz="3200"/>
            </a:lvl1pPr>
          </a:lstStyle>
          <a:p>
            <a:pPr>
              <a:defRPr/>
            </a:pPr>
            <a:r>
              <a:rPr lang="fr-FR"/>
              <a:t>Modifiez le style du titre</a:t>
            </a:r>
            <a:endParaRPr/>
          </a:p>
        </p:txBody>
      </p:sp>
      <p:sp>
        <p:nvSpPr>
          <p:cNvPr id="877369290" name="Espace réservé pour une image  2"/>
          <p:cNvSpPr>
            <a:spLocks noGrp="1"/>
          </p:cNvSpPr>
          <p:nvPr>
            <p:ph type="pic" idx="1"/>
          </p:nvPr>
        </p:nvSpPr>
        <p:spPr bwMode="auto">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a:defRPr/>
            </a:pPr>
            <a:endParaRPr lang="fr-FR"/>
          </a:p>
        </p:txBody>
      </p:sp>
      <p:sp>
        <p:nvSpPr>
          <p:cNvPr id="965071740" name="Espace réservé du texte 3"/>
          <p:cNvSpPr>
            <a:spLocks noGrp="1"/>
          </p:cNvSpPr>
          <p:nvPr>
            <p:ph type="body" sz="half" idx="2"/>
          </p:nvPr>
        </p:nvSpPr>
        <p:spPr bwMode="auto">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defRPr/>
            </a:pPr>
            <a:r>
              <a:rPr lang="fr-FR"/>
              <a:t>Modifiez les styles du texte du masque</a:t>
            </a:r>
            <a:endParaRPr/>
          </a:p>
        </p:txBody>
      </p:sp>
      <p:sp>
        <p:nvSpPr>
          <p:cNvPr id="206035400" name="Espace réservé de la date 4"/>
          <p:cNvSpPr>
            <a:spLocks noGrp="1"/>
          </p:cNvSpPr>
          <p:nvPr>
            <p:ph type="dt" sz="half" idx="10"/>
          </p:nvPr>
        </p:nvSpPr>
        <p:spPr bwMode="auto"/>
        <p:txBody>
          <a:bodyPr/>
          <a:lstStyle/>
          <a:p>
            <a:pPr>
              <a:defRPr/>
            </a:pPr>
            <a:fld id="{638941B0-F4D5-4460-BCAD-F7E2B41A8257}" type="datetimeFigureOut">
              <a:rPr lang="fr-FR"/>
              <a:t>10/06/2026</a:t>
            </a:fld>
            <a:endParaRPr lang="fr-FR"/>
          </a:p>
        </p:txBody>
      </p:sp>
      <p:sp>
        <p:nvSpPr>
          <p:cNvPr id="770573146" name="Espace réservé du pied de page 5"/>
          <p:cNvSpPr>
            <a:spLocks noGrp="1"/>
          </p:cNvSpPr>
          <p:nvPr>
            <p:ph type="ftr" sz="quarter" idx="11"/>
          </p:nvPr>
        </p:nvSpPr>
        <p:spPr bwMode="auto"/>
        <p:txBody>
          <a:bodyPr/>
          <a:lstStyle/>
          <a:p>
            <a:pPr>
              <a:defRPr/>
            </a:pPr>
            <a:endParaRPr lang="fr-FR"/>
          </a:p>
        </p:txBody>
      </p:sp>
      <p:sp>
        <p:nvSpPr>
          <p:cNvPr id="283304672" name="Espace réservé du numéro de diapositive 6"/>
          <p:cNvSpPr>
            <a:spLocks noGrp="1"/>
          </p:cNvSpPr>
          <p:nvPr>
            <p:ph type="sldNum" sz="quarter" idx="12"/>
          </p:nvPr>
        </p:nvSpPr>
        <p:spPr bwMode="auto"/>
        <p:txBody>
          <a:bodyPr/>
          <a:lstStyle/>
          <a:p>
            <a:pPr>
              <a:defRPr/>
            </a:pPr>
            <a:fld id="{27C6CCC6-2BE5-4E42-96A4-D1E8E81A3D8E}" type="slidenum">
              <a:rPr lang="fr-FR"/>
              <a:t>‹N°›</a:t>
            </a:fld>
            <a:endParaRPr lang="fr-F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0" showMasterPhAnim="0" showMasterSp="1" type="vertTx" userDrawn="1">
  <p:cSld name="Titre et texte vertical">
    <p:spTree>
      <p:nvGrpSpPr>
        <p:cNvPr id="1" name=""/>
        <p:cNvGrpSpPr/>
        <p:nvPr/>
      </p:nvGrpSpPr>
      <p:grpSpPr bwMode="auto">
        <a:xfrm>
          <a:off x="0" y="0"/>
          <a:ext cx="0" cy="0"/>
          <a:chOff x="0" y="0"/>
          <a:chExt cx="0" cy="0"/>
        </a:xfrm>
      </p:grpSpPr>
      <p:sp>
        <p:nvSpPr>
          <p:cNvPr id="528854568" name="Titre 1"/>
          <p:cNvSpPr>
            <a:spLocks noGrp="1"/>
          </p:cNvSpPr>
          <p:nvPr>
            <p:ph type="title"/>
          </p:nvPr>
        </p:nvSpPr>
        <p:spPr bwMode="auto"/>
        <p:txBody>
          <a:bodyPr/>
          <a:lstStyle/>
          <a:p>
            <a:pPr>
              <a:defRPr/>
            </a:pPr>
            <a:r>
              <a:rPr lang="fr-FR"/>
              <a:t>Modifiez le style du titre</a:t>
            </a:r>
            <a:endParaRPr/>
          </a:p>
        </p:txBody>
      </p:sp>
      <p:sp>
        <p:nvSpPr>
          <p:cNvPr id="2081427115" name="Espace réservé du texte vertical 2"/>
          <p:cNvSpPr>
            <a:spLocks noGrp="1"/>
          </p:cNvSpPr>
          <p:nvPr>
            <p:ph type="body" orient="vert" idx="1"/>
          </p:nvPr>
        </p:nvSpPr>
        <p:spPr bwMode="auto"/>
        <p:txBody>
          <a:bodyPr vert="eaVert"/>
          <a:lstStyle/>
          <a:p>
            <a:pPr lvl="0">
              <a:defRPr/>
            </a:pPr>
            <a:r>
              <a:rPr lang="fr-FR"/>
              <a:t>Modifiez les styles du texte du masque</a:t>
            </a:r>
            <a:endParaRPr/>
          </a:p>
          <a:p>
            <a:pPr lvl="1">
              <a:defRPr/>
            </a:pPr>
            <a:r>
              <a:rPr lang="fr-FR"/>
              <a:t>Deuxième niveau</a:t>
            </a:r>
            <a:endParaRPr/>
          </a:p>
          <a:p>
            <a:pPr lvl="2">
              <a:defRPr/>
            </a:pPr>
            <a:r>
              <a:rPr lang="fr-FR"/>
              <a:t>Troisième niveau</a:t>
            </a:r>
            <a:endParaRPr/>
          </a:p>
          <a:p>
            <a:pPr lvl="3">
              <a:defRPr/>
            </a:pPr>
            <a:r>
              <a:rPr lang="fr-FR"/>
              <a:t>Quatrième niveau</a:t>
            </a:r>
            <a:endParaRPr/>
          </a:p>
          <a:p>
            <a:pPr lvl="4">
              <a:defRPr/>
            </a:pPr>
            <a:r>
              <a:rPr lang="fr-FR"/>
              <a:t>Cinquième niveau</a:t>
            </a:r>
            <a:endParaRPr/>
          </a:p>
        </p:txBody>
      </p:sp>
      <p:sp>
        <p:nvSpPr>
          <p:cNvPr id="393621534" name="Espace réservé de la date 3"/>
          <p:cNvSpPr>
            <a:spLocks noGrp="1"/>
          </p:cNvSpPr>
          <p:nvPr>
            <p:ph type="dt" sz="half" idx="10"/>
          </p:nvPr>
        </p:nvSpPr>
        <p:spPr bwMode="auto"/>
        <p:txBody>
          <a:bodyPr/>
          <a:lstStyle/>
          <a:p>
            <a:pPr>
              <a:defRPr/>
            </a:pPr>
            <a:fld id="{638941B0-F4D5-4460-BCAD-F7E2B41A8257}" type="datetimeFigureOut">
              <a:rPr lang="fr-FR"/>
              <a:t>10/06/2026</a:t>
            </a:fld>
            <a:endParaRPr lang="fr-FR"/>
          </a:p>
        </p:txBody>
      </p:sp>
      <p:sp>
        <p:nvSpPr>
          <p:cNvPr id="1707037969" name="Espace réservé du pied de page 4"/>
          <p:cNvSpPr>
            <a:spLocks noGrp="1"/>
          </p:cNvSpPr>
          <p:nvPr>
            <p:ph type="ftr" sz="quarter" idx="11"/>
          </p:nvPr>
        </p:nvSpPr>
        <p:spPr bwMode="auto"/>
        <p:txBody>
          <a:bodyPr/>
          <a:lstStyle/>
          <a:p>
            <a:pPr>
              <a:defRPr/>
            </a:pPr>
            <a:endParaRPr lang="fr-FR"/>
          </a:p>
        </p:txBody>
      </p:sp>
      <p:sp>
        <p:nvSpPr>
          <p:cNvPr id="1674149836" name="Espace réservé du numéro de diapositive 5"/>
          <p:cNvSpPr>
            <a:spLocks noGrp="1"/>
          </p:cNvSpPr>
          <p:nvPr>
            <p:ph type="sldNum" sz="quarter" idx="12"/>
          </p:nvPr>
        </p:nvSpPr>
        <p:spPr bwMode="auto"/>
        <p:txBody>
          <a:bodyPr/>
          <a:lstStyle/>
          <a:p>
            <a:pPr>
              <a:defRPr/>
            </a:pPr>
            <a:fld id="{27C6CCC6-2BE5-4E42-96A4-D1E8E81A3D8E}" type="slidenum">
              <a:rPr lang="fr-FR"/>
              <a:t>‹N°›</a:t>
            </a:fld>
            <a:endParaRPr lang="fr-F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0" showMasterPhAnim="0" showMasterSp="1" type="vertTitleAndTx" userDrawn="1">
  <p:cSld name="Titre vertical et texte">
    <p:spTree>
      <p:nvGrpSpPr>
        <p:cNvPr id="1" name=""/>
        <p:cNvGrpSpPr/>
        <p:nvPr/>
      </p:nvGrpSpPr>
      <p:grpSpPr bwMode="auto">
        <a:xfrm>
          <a:off x="0" y="0"/>
          <a:ext cx="0" cy="0"/>
          <a:chOff x="0" y="0"/>
          <a:chExt cx="0" cy="0"/>
        </a:xfrm>
      </p:grpSpPr>
      <p:sp>
        <p:nvSpPr>
          <p:cNvPr id="23177427" name="Titre vertical 1"/>
          <p:cNvSpPr>
            <a:spLocks noGrp="1"/>
          </p:cNvSpPr>
          <p:nvPr>
            <p:ph type="title" orient="vert"/>
          </p:nvPr>
        </p:nvSpPr>
        <p:spPr bwMode="auto">
          <a:xfrm>
            <a:off x="8724900" y="365125"/>
            <a:ext cx="2628900" cy="5811838"/>
          </a:xfrm>
        </p:spPr>
        <p:txBody>
          <a:bodyPr vert="eaVert"/>
          <a:lstStyle/>
          <a:p>
            <a:pPr>
              <a:defRPr/>
            </a:pPr>
            <a:r>
              <a:rPr lang="fr-FR"/>
              <a:t>Modifiez le style du titre</a:t>
            </a:r>
            <a:endParaRPr/>
          </a:p>
        </p:txBody>
      </p:sp>
      <p:sp>
        <p:nvSpPr>
          <p:cNvPr id="1431784493" name="Espace réservé du texte vertical 2"/>
          <p:cNvSpPr>
            <a:spLocks noGrp="1"/>
          </p:cNvSpPr>
          <p:nvPr>
            <p:ph type="body" orient="vert" idx="1"/>
          </p:nvPr>
        </p:nvSpPr>
        <p:spPr bwMode="auto">
          <a:xfrm>
            <a:off x="838200" y="365125"/>
            <a:ext cx="7734300" cy="5811838"/>
          </a:xfrm>
        </p:spPr>
        <p:txBody>
          <a:bodyPr vert="eaVert"/>
          <a:lstStyle/>
          <a:p>
            <a:pPr lvl="0">
              <a:defRPr/>
            </a:pPr>
            <a:r>
              <a:rPr lang="fr-FR"/>
              <a:t>Modifiez les styles du texte du masque</a:t>
            </a:r>
            <a:endParaRPr/>
          </a:p>
          <a:p>
            <a:pPr lvl="1">
              <a:defRPr/>
            </a:pPr>
            <a:r>
              <a:rPr lang="fr-FR"/>
              <a:t>Deuxième niveau</a:t>
            </a:r>
            <a:endParaRPr/>
          </a:p>
          <a:p>
            <a:pPr lvl="2">
              <a:defRPr/>
            </a:pPr>
            <a:r>
              <a:rPr lang="fr-FR"/>
              <a:t>Troisième niveau</a:t>
            </a:r>
            <a:endParaRPr/>
          </a:p>
          <a:p>
            <a:pPr lvl="3">
              <a:defRPr/>
            </a:pPr>
            <a:r>
              <a:rPr lang="fr-FR"/>
              <a:t>Quatrième niveau</a:t>
            </a:r>
            <a:endParaRPr/>
          </a:p>
          <a:p>
            <a:pPr lvl="4">
              <a:defRPr/>
            </a:pPr>
            <a:r>
              <a:rPr lang="fr-FR"/>
              <a:t>Cinquième niveau</a:t>
            </a:r>
            <a:endParaRPr/>
          </a:p>
        </p:txBody>
      </p:sp>
      <p:sp>
        <p:nvSpPr>
          <p:cNvPr id="101473040" name="Espace réservé de la date 3"/>
          <p:cNvSpPr>
            <a:spLocks noGrp="1"/>
          </p:cNvSpPr>
          <p:nvPr>
            <p:ph type="dt" sz="half" idx="10"/>
          </p:nvPr>
        </p:nvSpPr>
        <p:spPr bwMode="auto"/>
        <p:txBody>
          <a:bodyPr/>
          <a:lstStyle/>
          <a:p>
            <a:pPr>
              <a:defRPr/>
            </a:pPr>
            <a:fld id="{638941B0-F4D5-4460-BCAD-F7E2B41A8257}" type="datetimeFigureOut">
              <a:rPr lang="fr-FR"/>
              <a:t>10/06/2026</a:t>
            </a:fld>
            <a:endParaRPr lang="fr-FR"/>
          </a:p>
        </p:txBody>
      </p:sp>
      <p:sp>
        <p:nvSpPr>
          <p:cNvPr id="540709930" name="Espace réservé du pied de page 4"/>
          <p:cNvSpPr>
            <a:spLocks noGrp="1"/>
          </p:cNvSpPr>
          <p:nvPr>
            <p:ph type="ftr" sz="quarter" idx="11"/>
          </p:nvPr>
        </p:nvSpPr>
        <p:spPr bwMode="auto"/>
        <p:txBody>
          <a:bodyPr/>
          <a:lstStyle/>
          <a:p>
            <a:pPr>
              <a:defRPr/>
            </a:pPr>
            <a:endParaRPr lang="fr-FR"/>
          </a:p>
        </p:txBody>
      </p:sp>
      <p:sp>
        <p:nvSpPr>
          <p:cNvPr id="1989379700" name="Espace réservé du numéro de diapositive 5"/>
          <p:cNvSpPr>
            <a:spLocks noGrp="1"/>
          </p:cNvSpPr>
          <p:nvPr>
            <p:ph type="sldNum" sz="quarter" idx="12"/>
          </p:nvPr>
        </p:nvSpPr>
        <p:spPr bwMode="auto"/>
        <p:txBody>
          <a:bodyPr/>
          <a:lstStyle/>
          <a:p>
            <a:pPr>
              <a:defRPr/>
            </a:pPr>
            <a:fld id="{27C6CCC6-2BE5-4E42-96A4-D1E8E81A3D8E}" type="slidenum">
              <a:rPr lang="fr-FR"/>
              <a:t>‹N°›</a:t>
            </a:fld>
            <a:endParaRPr lang="fr-FR"/>
          </a:p>
        </p:txBody>
      </p:sp>
    </p:spTree>
  </p:cSld>
  <p:clrMapOvr>
    <a:masterClrMapping/>
  </p:clrMapOvr>
</p:sldLayout>
</file>

<file path=ppt/slideMasters/_rels/slideMaster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reserve="0">
  <p:cSld name="">
    <p:bg>
      <p:bgPr shadeToTitle="0">
        <a:solidFill>
          <a:srgbClr val="F8F9FB"/>
        </a:solidFill>
      </p:bgPr>
    </p:bg>
    <p:spTree>
      <p:nvGrpSpPr>
        <p:cNvPr id="1" name=""/>
        <p:cNvGrpSpPr/>
        <p:nvPr/>
      </p:nvGrpSpPr>
      <p:grpSpPr bwMode="auto">
        <a:xfrm>
          <a:off x="0" y="0"/>
          <a:ext cx="0" cy="0"/>
          <a:chOff x="0" y="0"/>
          <a:chExt cx="0" cy="0"/>
        </a:xfrm>
      </p:grpSpPr>
      <p:sp>
        <p:nvSpPr>
          <p:cNvPr id="1303695447" name="Espace réservé du titre 1"/>
          <p:cNvSpPr>
            <a:spLocks noGrp="1"/>
          </p:cNvSpPr>
          <p:nvPr>
            <p:ph type="title"/>
          </p:nvPr>
        </p:nvSpPr>
        <p:spPr bwMode="auto">
          <a:xfrm>
            <a:off x="838200" y="365125"/>
            <a:ext cx="10515600" cy="1325563"/>
          </a:xfrm>
          <a:prstGeom prst="rect">
            <a:avLst/>
          </a:prstGeom>
        </p:spPr>
        <p:txBody>
          <a:bodyPr vert="horz" lIns="91440" tIns="45720" rIns="91440" bIns="45720" rtlCol="0" anchor="ctr">
            <a:normAutofit/>
          </a:bodyPr>
          <a:lstStyle/>
          <a:p>
            <a:pPr>
              <a:defRPr/>
            </a:pPr>
            <a:r>
              <a:rPr lang="fr-FR"/>
              <a:t>Modifiez le style du titre</a:t>
            </a:r>
            <a:endParaRPr/>
          </a:p>
        </p:txBody>
      </p:sp>
      <p:sp>
        <p:nvSpPr>
          <p:cNvPr id="1809247715" name="Espace réservé du texte 2"/>
          <p:cNvSpPr>
            <a:spLocks noGrp="1"/>
          </p:cNvSpPr>
          <p:nvPr>
            <p:ph type="body" idx="1"/>
          </p:nvPr>
        </p:nvSpPr>
        <p:spPr bwMode="auto">
          <a:xfrm>
            <a:off x="838200" y="1825625"/>
            <a:ext cx="10515600" cy="4351338"/>
          </a:xfrm>
          <a:prstGeom prst="rect">
            <a:avLst/>
          </a:prstGeom>
        </p:spPr>
        <p:txBody>
          <a:bodyPr vert="horz" lIns="91440" tIns="45720" rIns="91440" bIns="45720" rtlCol="0">
            <a:normAutofit/>
          </a:bodyPr>
          <a:lstStyle/>
          <a:p>
            <a:pPr lvl="0">
              <a:defRPr/>
            </a:pPr>
            <a:r>
              <a:rPr lang="fr-FR"/>
              <a:t>Modifiez les styles du texte du masque</a:t>
            </a:r>
            <a:endParaRPr/>
          </a:p>
          <a:p>
            <a:pPr lvl="1">
              <a:defRPr/>
            </a:pPr>
            <a:r>
              <a:rPr lang="fr-FR"/>
              <a:t>Deuxième niveau</a:t>
            </a:r>
            <a:endParaRPr/>
          </a:p>
          <a:p>
            <a:pPr lvl="2">
              <a:defRPr/>
            </a:pPr>
            <a:r>
              <a:rPr lang="fr-FR"/>
              <a:t>Troisième niveau</a:t>
            </a:r>
            <a:endParaRPr/>
          </a:p>
          <a:p>
            <a:pPr lvl="3">
              <a:defRPr/>
            </a:pPr>
            <a:r>
              <a:rPr lang="fr-FR"/>
              <a:t>Quatrième niveau</a:t>
            </a:r>
            <a:endParaRPr/>
          </a:p>
          <a:p>
            <a:pPr lvl="4">
              <a:defRPr/>
            </a:pPr>
            <a:r>
              <a:rPr lang="fr-FR"/>
              <a:t>Cinquième niveau</a:t>
            </a:r>
            <a:endParaRPr/>
          </a:p>
        </p:txBody>
      </p:sp>
      <p:sp>
        <p:nvSpPr>
          <p:cNvPr id="659017410" name="Espace réservé de la date 3"/>
          <p:cNvSpPr>
            <a:spLocks noGrp="1"/>
          </p:cNvSpPr>
          <p:nvPr>
            <p:ph type="dt" sz="half" idx="2"/>
          </p:nvPr>
        </p:nvSpPr>
        <p:spPr bwMode="auto">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pPr>
              <a:defRPr/>
            </a:pPr>
            <a:fld id="{638941B0-F4D5-4460-BCAD-F7E2B41A8257}" type="datetimeFigureOut">
              <a:rPr lang="fr-FR"/>
              <a:t>10/06/2026</a:t>
            </a:fld>
            <a:endParaRPr lang="fr-FR"/>
          </a:p>
        </p:txBody>
      </p:sp>
      <p:sp>
        <p:nvSpPr>
          <p:cNvPr id="1539445922" name="Espace réservé du pied de page 4"/>
          <p:cNvSpPr>
            <a:spLocks noGrp="1"/>
          </p:cNvSpPr>
          <p:nvPr>
            <p:ph type="ftr" sz="quarter" idx="3"/>
          </p:nvPr>
        </p:nvSpPr>
        <p:spPr bwMode="auto">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pPr>
              <a:defRPr/>
            </a:pPr>
            <a:endParaRPr lang="fr-FR"/>
          </a:p>
        </p:txBody>
      </p:sp>
      <p:sp>
        <p:nvSpPr>
          <p:cNvPr id="2063178842" name="Espace réservé du numéro de diapositive 5"/>
          <p:cNvSpPr>
            <a:spLocks noGrp="1"/>
          </p:cNvSpPr>
          <p:nvPr>
            <p:ph type="sldNum" sz="quarter" idx="4"/>
          </p:nvPr>
        </p:nvSpPr>
        <p:spPr bwMode="auto">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pPr>
              <a:defRPr/>
            </a:pPr>
            <a:fld id="{27C6CCC6-2BE5-4E42-96A4-D1E8E81A3D8E}" type="slidenum">
              <a:rPr lang="fr-FR"/>
              <a:t>‹N°›</a:t>
            </a:fld>
            <a:endParaRPr lang="fr-F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a:lnSpc>
          <a:spcPct val="90000"/>
        </a:lnSpc>
        <a:spcBef>
          <a:spcPts val="0"/>
        </a:spcBef>
        <a:buNone/>
        <a:defRPr sz="4400">
          <a:solidFill>
            <a:srgbClr val="0B1F3A"/>
          </a:solidFill>
          <a:latin typeface="+mj-lt"/>
          <a:ea typeface="+mj-ea"/>
          <a:cs typeface="+mj-cs"/>
        </a:defRPr>
      </a:lvl1pPr>
    </p:titleStyle>
    <p:bodyStyle>
      <a:lvl1pPr marL="228600" indent="-228600" algn="l" defTabSz="914400" rtl="0">
        <a:lnSpc>
          <a:spcPct val="90000"/>
        </a:lnSpc>
        <a:spcBef>
          <a:spcPts val="1000"/>
        </a:spcBef>
        <a:buFont typeface="Arial"/>
        <a:buChar char="•"/>
        <a:defRPr sz="2800">
          <a:solidFill>
            <a:srgbClr val="0B1F3A"/>
          </a:solidFill>
          <a:latin typeface="+mn-lt"/>
          <a:ea typeface="+mn-ea"/>
          <a:cs typeface="+mn-cs"/>
        </a:defRPr>
      </a:lvl1pPr>
      <a:lvl2pPr marL="685800" indent="-228600" algn="l" defTabSz="914400" rtl="0">
        <a:lnSpc>
          <a:spcPct val="90000"/>
        </a:lnSpc>
        <a:spcBef>
          <a:spcPts val="500"/>
        </a:spcBef>
        <a:buFont typeface="Arial"/>
        <a:buChar char="•"/>
        <a:defRPr sz="2400">
          <a:solidFill>
            <a:schemeClr val="tx1"/>
          </a:solidFill>
          <a:latin typeface="+mn-lt"/>
          <a:ea typeface="+mn-ea"/>
          <a:cs typeface="+mn-cs"/>
        </a:defRPr>
      </a:lvl2pPr>
      <a:lvl3pPr marL="1143000" indent="-228600" algn="l" defTabSz="914400" rtl="0">
        <a:lnSpc>
          <a:spcPct val="90000"/>
        </a:lnSpc>
        <a:spcBef>
          <a:spcPts val="500"/>
        </a:spcBef>
        <a:buFont typeface="Arial"/>
        <a:buChar char="•"/>
        <a:defRPr sz="2000">
          <a:solidFill>
            <a:schemeClr val="tx1"/>
          </a:solidFill>
          <a:latin typeface="+mn-lt"/>
          <a:ea typeface="+mn-ea"/>
          <a:cs typeface="+mn-cs"/>
        </a:defRPr>
      </a:lvl3pPr>
      <a:lvl4pPr marL="1600200" indent="-228600" algn="l" defTabSz="914400" rtl="0">
        <a:lnSpc>
          <a:spcPct val="90000"/>
        </a:lnSpc>
        <a:spcBef>
          <a:spcPts val="500"/>
        </a:spcBef>
        <a:buFont typeface="Arial"/>
        <a:buChar char="•"/>
        <a:defRPr sz="1800">
          <a:solidFill>
            <a:schemeClr val="tx1"/>
          </a:solidFill>
          <a:latin typeface="+mn-lt"/>
          <a:ea typeface="+mn-ea"/>
          <a:cs typeface="+mn-cs"/>
        </a:defRPr>
      </a:lvl4pPr>
      <a:lvl5pPr marL="2057400" indent="-228600" algn="l" defTabSz="914400" rtl="0">
        <a:lnSpc>
          <a:spcPct val="90000"/>
        </a:lnSpc>
        <a:spcBef>
          <a:spcPts val="500"/>
        </a:spcBef>
        <a:buFont typeface="Arial"/>
        <a:buChar char="•"/>
        <a:defRPr sz="1800">
          <a:solidFill>
            <a:schemeClr val="tx1"/>
          </a:solidFill>
          <a:latin typeface="+mn-lt"/>
          <a:ea typeface="+mn-ea"/>
          <a:cs typeface="+mn-cs"/>
        </a:defRPr>
      </a:lvl5pPr>
      <a:lvl6pPr marL="2514600" indent="-228600" algn="l" defTabSz="914400" rtl="0">
        <a:lnSpc>
          <a:spcPct val="90000"/>
        </a:lnSpc>
        <a:spcBef>
          <a:spcPts val="500"/>
        </a:spcBef>
        <a:buFont typeface="Arial"/>
        <a:buChar char="•"/>
        <a:defRPr sz="1800">
          <a:solidFill>
            <a:schemeClr val="tx1"/>
          </a:solidFill>
          <a:latin typeface="+mn-lt"/>
          <a:ea typeface="+mn-ea"/>
          <a:cs typeface="+mn-cs"/>
        </a:defRPr>
      </a:lvl6pPr>
      <a:lvl7pPr marL="2971800" indent="-228600" algn="l" defTabSz="914400" rtl="0">
        <a:lnSpc>
          <a:spcPct val="90000"/>
        </a:lnSpc>
        <a:spcBef>
          <a:spcPts val="500"/>
        </a:spcBef>
        <a:buFont typeface="Arial"/>
        <a:buChar char="•"/>
        <a:defRPr sz="1800">
          <a:solidFill>
            <a:schemeClr val="tx1"/>
          </a:solidFill>
          <a:latin typeface="+mn-lt"/>
          <a:ea typeface="+mn-ea"/>
          <a:cs typeface="+mn-cs"/>
        </a:defRPr>
      </a:lvl7pPr>
      <a:lvl8pPr marL="3429000" indent="-228600" algn="l" defTabSz="914400" rtl="0">
        <a:lnSpc>
          <a:spcPct val="90000"/>
        </a:lnSpc>
        <a:spcBef>
          <a:spcPts val="500"/>
        </a:spcBef>
        <a:buFont typeface="Arial"/>
        <a:buChar char="•"/>
        <a:defRPr sz="1800">
          <a:solidFill>
            <a:schemeClr val="tx1"/>
          </a:solidFill>
          <a:latin typeface="+mn-lt"/>
          <a:ea typeface="+mn-ea"/>
          <a:cs typeface="+mn-cs"/>
        </a:defRPr>
      </a:lvl8pPr>
      <a:lvl9pPr marL="3886200" indent="-228600" algn="l" defTabSz="914400" rtl="0">
        <a:lnSpc>
          <a:spcPct val="90000"/>
        </a:lnSpc>
        <a:spcBef>
          <a:spcPts val="500"/>
        </a:spcBef>
        <a:buFont typeface="Arial"/>
        <a:buChar char="•"/>
        <a:defRPr sz="1800">
          <a:solidFill>
            <a:schemeClr val="tx1"/>
          </a:solidFill>
          <a:latin typeface="+mn-lt"/>
          <a:ea typeface="+mn-ea"/>
          <a:cs typeface="+mn-cs"/>
        </a:defRPr>
      </a:lvl9pPr>
    </p:bodyStyle>
    <p:otherStyle>
      <a:defPPr>
        <a:defRPr lang="fr-FR"/>
      </a:defPPr>
      <a:lvl1pPr marL="0" algn="l" defTabSz="914400" rtl="0">
        <a:defRPr sz="1800">
          <a:solidFill>
            <a:schemeClr val="tx1"/>
          </a:solidFill>
          <a:latin typeface="+mn-lt"/>
          <a:ea typeface="+mn-ea"/>
          <a:cs typeface="+mn-cs"/>
        </a:defRPr>
      </a:lvl1pPr>
      <a:lvl2pPr marL="457200" algn="l" defTabSz="914400" rtl="0">
        <a:defRPr sz="1800">
          <a:solidFill>
            <a:schemeClr val="tx1"/>
          </a:solidFill>
          <a:latin typeface="+mn-lt"/>
          <a:ea typeface="+mn-ea"/>
          <a:cs typeface="+mn-cs"/>
        </a:defRPr>
      </a:lvl2pPr>
      <a:lvl3pPr marL="914400" algn="l" defTabSz="914400" rtl="0">
        <a:defRPr sz="1800">
          <a:solidFill>
            <a:schemeClr val="tx1"/>
          </a:solidFill>
          <a:latin typeface="+mn-lt"/>
          <a:ea typeface="+mn-ea"/>
          <a:cs typeface="+mn-cs"/>
        </a:defRPr>
      </a:lvl3pPr>
      <a:lvl4pPr marL="1371600" algn="l" defTabSz="914400" rtl="0">
        <a:defRPr sz="1800">
          <a:solidFill>
            <a:schemeClr val="tx1"/>
          </a:solidFill>
          <a:latin typeface="+mn-lt"/>
          <a:ea typeface="+mn-ea"/>
          <a:cs typeface="+mn-cs"/>
        </a:defRPr>
      </a:lvl4pPr>
      <a:lvl5pPr marL="1828800" algn="l" defTabSz="914400" rtl="0">
        <a:defRPr sz="1800">
          <a:solidFill>
            <a:schemeClr val="tx1"/>
          </a:solidFill>
          <a:latin typeface="+mn-lt"/>
          <a:ea typeface="+mn-ea"/>
          <a:cs typeface="+mn-cs"/>
        </a:defRPr>
      </a:lvl5pPr>
      <a:lvl6pPr marL="2286000" algn="l" defTabSz="914400" rtl="0">
        <a:defRPr sz="1800">
          <a:solidFill>
            <a:schemeClr val="tx1"/>
          </a:solidFill>
          <a:latin typeface="+mn-lt"/>
          <a:ea typeface="+mn-ea"/>
          <a:cs typeface="+mn-cs"/>
        </a:defRPr>
      </a:lvl6pPr>
      <a:lvl7pPr marL="2743200" algn="l" defTabSz="914400" rtl="0">
        <a:defRPr sz="1800">
          <a:solidFill>
            <a:schemeClr val="tx1"/>
          </a:solidFill>
          <a:latin typeface="+mn-lt"/>
          <a:ea typeface="+mn-ea"/>
          <a:cs typeface="+mn-cs"/>
        </a:defRPr>
      </a:lvl7pPr>
      <a:lvl8pPr marL="3200400" algn="l" defTabSz="914400" rtl="0">
        <a:defRPr sz="1800">
          <a:solidFill>
            <a:schemeClr val="tx1"/>
          </a:solidFill>
          <a:latin typeface="+mn-lt"/>
          <a:ea typeface="+mn-ea"/>
          <a:cs typeface="+mn-cs"/>
        </a:defRPr>
      </a:lvl8pPr>
      <a:lvl9pPr marL="3657600" algn="l" defTabSz="914400" rtl="0">
        <a:defRPr sz="18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2.png"/><Relationship Id="rId4" Type="http://schemas.openxmlformats.org/officeDocument/2006/relationships/image" Target="../media/media1.svg"/><Relationship Id="rId5" Type="http://schemas.openxmlformats.org/officeDocument/2006/relationships/image" Target="../media/image3.png"/><Relationship Id="rId6" Type="http://schemas.openxmlformats.org/officeDocument/2006/relationships/image" Target="../media/media2.svg"/><Relationship Id="rId7" Type="http://schemas.openxmlformats.org/officeDocument/2006/relationships/image" Target="../media/image4.png"/><Relationship Id="rId8" Type="http://schemas.openxmlformats.org/officeDocument/2006/relationships/image" Target="../media/media3.svg"/><Relationship Id="rId9" Type="http://schemas.openxmlformats.org/officeDocument/2006/relationships/image" Target="../media/image5.png"/><Relationship Id="rId10" Type="http://schemas.openxmlformats.org/officeDocument/2006/relationships/image" Target="../media/media4.svg"/><Relationship Id="rId11" Type="http://schemas.openxmlformats.org/officeDocument/2006/relationships/image" Target="../media/image6.png"/><Relationship Id="rId12" Type="http://schemas.openxmlformats.org/officeDocument/2006/relationships/image" Target="../media/media5.svg"/></Relationships>
</file>

<file path=ppt/slides/_rels/slide5.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7.png"/></Relationships>
</file>

<file path=ppt/slides/_rels/slide6.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8.png"/></Relationships>
</file>

<file path=ppt/slides/_rels/slide7.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9.png"/></Relationships>
</file>

<file path=ppt/slides/_rels/slide9.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10.png"/><Relationship Id="rId4" Type="http://schemas.openxmlformats.org/officeDocument/2006/relationships/image" Target="../media/media6.svg"/><Relationship Id="rId5" Type="http://schemas.openxmlformats.org/officeDocument/2006/relationships/image" Target="../media/image11.png"/><Relationship Id="rId6" Type="http://schemas.openxmlformats.org/officeDocument/2006/relationships/image" Target="../media/media7.svg"/><Relationship Id="rId7" Type="http://schemas.openxmlformats.org/officeDocument/2006/relationships/image" Target="../media/image12.png"/><Relationship Id="rId8" Type="http://schemas.openxmlformats.org/officeDocument/2006/relationships/image" Target="../media/media8.svg"/><Relationship Id="rId9" Type="http://schemas.openxmlformats.org/officeDocument/2006/relationships/image" Target="../media/image13.png"/><Relationship Id="rId10" Type="http://schemas.openxmlformats.org/officeDocument/2006/relationships/image" Target="../media/media9.svg"/><Relationship Id="rId11" Type="http://schemas.openxmlformats.org/officeDocument/2006/relationships/image" Target="../media/image14.png"/><Relationship Id="rId12" Type="http://schemas.openxmlformats.org/officeDocument/2006/relationships/image" Target="../media/media10.svg"/><Relationship Id="rId13" Type="http://schemas.openxmlformats.org/officeDocument/2006/relationships/image" Target="../media/image15.png"/><Relationship Id="rId14" Type="http://schemas.openxmlformats.org/officeDocument/2006/relationships/image" Target="../media/image16.png"/><Relationship Id="rId15" Type="http://schemas.openxmlformats.org/officeDocument/2006/relationships/image" Target="../media/image17.png"/><Relationship Id="rId16" Type="http://schemas.openxmlformats.org/officeDocument/2006/relationships/image" Target="../media/media11.svg"/></Relationships>
</file>

<file path=ppt/slides/_rels/slide10.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18.png"/></Relationships>
</file>

<file path=ppt/slides/_rels/slide12.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 Id="rId3" Type="http://schemas.openxmlformats.org/officeDocument/2006/relationships/image" Target="../media/image19.png"/></Relationships>
</file>

<file path=ppt/slides/_rels/slide13.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 Id="rId3" Type="http://schemas.openxmlformats.org/officeDocument/2006/relationships/image" Target="../media/image20.png"/></Relationships>
</file>

<file path=ppt/slides/_rels/slide15.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 Id="rId3" Type="http://schemas.openxmlformats.org/officeDocument/2006/relationships/image" Target="../media/image21.png"/><Relationship Id="rId4" Type="http://schemas.openxmlformats.org/officeDocument/2006/relationships/image" Target="../media/media12.svg"/><Relationship Id="rId5" Type="http://schemas.openxmlformats.org/officeDocument/2006/relationships/image" Target="../media/image22.png"/><Relationship Id="rId6" Type="http://schemas.openxmlformats.org/officeDocument/2006/relationships/image" Target="../media/media13.svg"/><Relationship Id="rId7" Type="http://schemas.openxmlformats.org/officeDocument/2006/relationships/image" Target="../media/image23.png"/><Relationship Id="rId8" Type="http://schemas.openxmlformats.org/officeDocument/2006/relationships/image" Target="../media/media14.svg"/><Relationship Id="rId9" Type="http://schemas.openxmlformats.org/officeDocument/2006/relationships/image" Target="../media/image24.png"/><Relationship Id="rId10" Type="http://schemas.openxmlformats.org/officeDocument/2006/relationships/image" Target="../media/media15.svg"/></Relationships>
</file>

<file path=ppt/slides/_rels/slide16.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 Id="rId3" Type="http://schemas.openxmlformats.org/officeDocument/2006/relationships/image" Target="../media/image25.png"/></Relationships>
</file>

<file path=ppt/slides/_rels/slide19.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 Id="rId3" Type="http://schemas.openxmlformats.org/officeDocument/2006/relationships/image" Target="../media/image26.png"/></Relationships>
</file>

<file path=ppt/slides/_rels/slide20.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 Id="rId3" Type="http://schemas.openxmlformats.org/officeDocument/2006/relationships/image" Target="../media/image27.png"/></Relationships>
</file>

<file path=ppt/slides/_rels/slide21.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 Id="rId3" Type="http://schemas.openxmlformats.org/officeDocument/2006/relationships/image" Target="../media/image28.png"/></Relationships>
</file>

<file path=ppt/slides/_rels/slide23.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 Id="rId3" Type="http://schemas.openxmlformats.org/officeDocument/2006/relationships/image" Target="../media/image29.png"/></Relationships>
</file>

<file path=ppt/slides/_rels/slide24.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 Id="rId3" Type="http://schemas.openxmlformats.org/officeDocument/2006/relationships/image" Target="../media/image30.png"/><Relationship Id="rId4" Type="http://schemas.openxmlformats.org/officeDocument/2006/relationships/image" Target="../media/image31.png"/></Relationships>
</file>

<file path=ppt/slides/_rels/slide25.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 Id="rId3" Type="http://schemas.openxmlformats.org/officeDocument/2006/relationships/image" Target="../media/image32.png"/></Relationships>
</file>

<file path=ppt/slides/_rels/slide26.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 Id="rId3" Type="http://schemas.openxmlformats.org/officeDocument/2006/relationships/image" Target="../media/image33.png"/></Relationships>
</file>

<file path=ppt/slides/_rels/slide27.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 Id="rId3" Type="http://schemas.openxmlformats.org/officeDocument/2006/relationships/image" Target="../media/image34.png"/><Relationship Id="rId4" Type="http://schemas.openxmlformats.org/officeDocument/2006/relationships/image" Target="../media/media16.svg"/><Relationship Id="rId5" Type="http://schemas.openxmlformats.org/officeDocument/2006/relationships/image" Target="../media/image35.png"/><Relationship Id="rId6" Type="http://schemas.openxmlformats.org/officeDocument/2006/relationships/image" Target="../media/media17.svg"/><Relationship Id="rId7" Type="http://schemas.openxmlformats.org/officeDocument/2006/relationships/image" Target="../media/image36.png"/><Relationship Id="rId8" Type="http://schemas.openxmlformats.org/officeDocument/2006/relationships/image" Target="../media/media18.svg"/><Relationship Id="rId9" Type="http://schemas.openxmlformats.org/officeDocument/2006/relationships/image" Target="../media/image37.png"/><Relationship Id="rId10" Type="http://schemas.openxmlformats.org/officeDocument/2006/relationships/image" Target="../media/media19.svg"/></Relationships>
</file>

<file path=ppt/slides/_rels/slide28.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906261142" name="Eyebrow"/>
          <p:cNvSpPr txBox="1"/>
          <p:nvPr/>
        </p:nvSpPr>
        <p:spPr bwMode="auto">
          <a:xfrm>
            <a:off x="914400" y="1981200"/>
            <a:ext cx="9144000" cy="304800"/>
          </a:xfrm>
          <a:prstGeom prst="rect">
            <a:avLst/>
          </a:prstGeom>
          <a:noFill/>
          <a:ln>
            <a:noFill/>
          </a:ln>
        </p:spPr>
        <p:txBody>
          <a:bodyPr wrap="square" lIns="0" tIns="0" rIns="0" bIns="0" anchor="t">
            <a:normAutofit/>
          </a:bodyPr>
          <a:lstStyle/>
          <a:p>
            <a:pPr>
              <a:buNone/>
              <a:defRPr/>
            </a:pPr>
            <a:r>
              <a:rPr lang="fr-FR" sz="1400" b="1" spc="260">
                <a:solidFill>
                  <a:srgbClr val="2563EB"/>
                </a:solidFill>
                <a:latin typeface="Segoe UI Semibold"/>
              </a:rPr>
              <a:t>POC ELECTIO-ANALYTICS</a:t>
            </a:r>
            <a:endParaRPr/>
          </a:p>
        </p:txBody>
      </p:sp>
      <p:sp>
        <p:nvSpPr>
          <p:cNvPr id="761703060" name="Filet"/>
          <p:cNvSpPr/>
          <p:nvPr/>
        </p:nvSpPr>
        <p:spPr bwMode="auto">
          <a:xfrm>
            <a:off x="914400" y="2413000"/>
            <a:ext cx="711200" cy="50800"/>
          </a:xfrm>
          <a:prstGeom prst="rect">
            <a:avLst/>
          </a:prstGeom>
          <a:solidFill>
            <a:srgbClr val="2563EB"/>
          </a:solidFill>
          <a:ln>
            <a:noFill/>
          </a:ln>
        </p:spPr>
        <p:txBody>
          <a:bodyPr wrap="square" lIns="0" tIns="0" rIns="0" bIns="0" anchor="t">
            <a:normAutofit/>
          </a:bodyPr>
          <a:lstStyle/>
          <a:p>
            <a:pPr>
              <a:defRPr/>
            </a:pPr>
            <a:endParaRPr/>
          </a:p>
        </p:txBody>
      </p:sp>
      <p:sp>
        <p:nvSpPr>
          <p:cNvPr id="706436879" name="Titre"/>
          <p:cNvSpPr txBox="1"/>
          <p:nvPr/>
        </p:nvSpPr>
        <p:spPr bwMode="auto">
          <a:xfrm>
            <a:off x="914400" y="2616200"/>
            <a:ext cx="9804400" cy="2032000"/>
          </a:xfrm>
          <a:prstGeom prst="rect">
            <a:avLst/>
          </a:prstGeom>
          <a:noFill/>
          <a:ln>
            <a:noFill/>
          </a:ln>
        </p:spPr>
        <p:txBody>
          <a:bodyPr wrap="square" lIns="0" tIns="0" rIns="0" bIns="0" anchor="t">
            <a:normAutofit/>
          </a:bodyPr>
          <a:lstStyle/>
          <a:p>
            <a:pPr>
              <a:lnSpc>
                <a:spcPts val="3800"/>
              </a:lnSpc>
              <a:buNone/>
              <a:defRPr/>
            </a:pPr>
            <a:r>
              <a:rPr lang="fr-FR" sz="3200">
                <a:solidFill>
                  <a:srgbClr val="0B1F3A"/>
                </a:solidFill>
                <a:latin typeface="Segoe UI Semibold"/>
              </a:rPr>
              <a:t>Analyse prédictive des tendances électorales par indicateurs socio-économiques</a:t>
            </a:r>
            <a:endParaRPr/>
          </a:p>
        </p:txBody>
      </p:sp>
      <p:sp>
        <p:nvSpPr>
          <p:cNvPr id="132427709" name="Sous-titre"/>
          <p:cNvSpPr txBox="1"/>
          <p:nvPr/>
        </p:nvSpPr>
        <p:spPr bwMode="auto">
          <a:xfrm>
            <a:off x="914400" y="4724399"/>
            <a:ext cx="9804400" cy="330200"/>
          </a:xfrm>
          <a:prstGeom prst="rect">
            <a:avLst/>
          </a:prstGeom>
          <a:noFill/>
          <a:ln>
            <a:noFill/>
          </a:ln>
        </p:spPr>
        <p:txBody>
          <a:bodyPr wrap="square" lIns="0" tIns="0" rIns="0" bIns="0" anchor="t">
            <a:normAutofit/>
          </a:bodyPr>
          <a:lstStyle/>
          <a:p>
            <a:pPr>
              <a:buNone/>
              <a:defRPr/>
            </a:pPr>
            <a:r>
              <a:rPr lang="fr-FR" sz="1600">
                <a:solidFill>
                  <a:srgbClr val="64748B"/>
                </a:solidFill>
              </a:rPr>
              <a:t>MSPR Big Data · Bloc 3 · EPSI · Juin 2026</a:t>
            </a:r>
            <a:endParaRPr/>
          </a:p>
        </p:txBody>
      </p:sp>
      <p:sp>
        <p:nvSpPr>
          <p:cNvPr id="185790863" name="Divider"/>
          <p:cNvSpPr/>
          <p:nvPr/>
        </p:nvSpPr>
        <p:spPr bwMode="auto">
          <a:xfrm>
            <a:off x="914400" y="5257800"/>
            <a:ext cx="3810000" cy="25400"/>
          </a:xfrm>
          <a:prstGeom prst="rect">
            <a:avLst/>
          </a:prstGeom>
          <a:solidFill>
            <a:srgbClr val="E2E8F0"/>
          </a:solidFill>
          <a:ln>
            <a:noFill/>
          </a:ln>
        </p:spPr>
        <p:txBody>
          <a:bodyPr wrap="square" lIns="0" tIns="0" rIns="0" bIns="0" anchor="t">
            <a:normAutofit/>
          </a:bodyPr>
          <a:lstStyle/>
          <a:p>
            <a:pPr>
              <a:defRPr/>
            </a:pPr>
            <a:endParaRPr/>
          </a:p>
        </p:txBody>
      </p:sp>
      <p:sp>
        <p:nvSpPr>
          <p:cNvPr id="55572256" name="Equipe label"/>
          <p:cNvSpPr txBox="1"/>
          <p:nvPr/>
        </p:nvSpPr>
        <p:spPr bwMode="auto">
          <a:xfrm>
            <a:off x="914400" y="5486400"/>
            <a:ext cx="9804400" cy="254000"/>
          </a:xfrm>
          <a:prstGeom prst="rect">
            <a:avLst/>
          </a:prstGeom>
          <a:noFill/>
          <a:ln>
            <a:noFill/>
          </a:ln>
        </p:spPr>
        <p:txBody>
          <a:bodyPr wrap="square" lIns="0" tIns="0" rIns="0" bIns="0" anchor="t">
            <a:normAutofit/>
          </a:bodyPr>
          <a:lstStyle/>
          <a:p>
            <a:pPr>
              <a:buNone/>
              <a:defRPr/>
            </a:pPr>
            <a:r>
              <a:rPr lang="fr-FR" sz="1400" b="1" spc="220">
                <a:solidFill>
                  <a:srgbClr val="64748B"/>
                </a:solidFill>
              </a:rPr>
              <a:t>ÉQUIPE</a:t>
            </a:r>
            <a:endParaRPr/>
          </a:p>
        </p:txBody>
      </p:sp>
      <p:sp>
        <p:nvSpPr>
          <p:cNvPr id="225750510" name="Equipe"/>
          <p:cNvSpPr txBox="1"/>
          <p:nvPr/>
        </p:nvSpPr>
        <p:spPr bwMode="auto">
          <a:xfrm>
            <a:off x="914400" y="5791200"/>
            <a:ext cx="10541000" cy="330200"/>
          </a:xfrm>
          <a:prstGeom prst="rect">
            <a:avLst/>
          </a:prstGeom>
          <a:noFill/>
          <a:ln>
            <a:noFill/>
          </a:ln>
        </p:spPr>
        <p:txBody>
          <a:bodyPr wrap="square" lIns="0" tIns="0" rIns="0" bIns="0" anchor="t">
            <a:normAutofit/>
          </a:bodyPr>
          <a:lstStyle/>
          <a:p>
            <a:pPr>
              <a:buNone/>
              <a:defRPr/>
            </a:pPr>
            <a:r>
              <a:rPr lang="fr-FR" sz="1600">
                <a:solidFill>
                  <a:srgbClr val="0B1F3A"/>
                </a:solidFill>
              </a:rPr>
              <a:t>Stephane DOUNGUE · Kelly TSANGA · Sara HADDAD · Lamiaa KHALIL · Sofiane CHELGHOUM</a:t>
            </a:r>
            <a:endParaRPr/>
          </a:p>
        </p:txBody>
      </p:sp>
      <p:sp>
        <p:nvSpPr>
          <p:cNvPr id="1391138818" name="Encadrant"/>
          <p:cNvSpPr txBox="1"/>
          <p:nvPr/>
        </p:nvSpPr>
        <p:spPr bwMode="auto">
          <a:xfrm>
            <a:off x="914400" y="6172200"/>
            <a:ext cx="6350000" cy="279400"/>
          </a:xfrm>
          <a:prstGeom prst="rect">
            <a:avLst/>
          </a:prstGeom>
          <a:noFill/>
          <a:ln>
            <a:noFill/>
          </a:ln>
        </p:spPr>
        <p:txBody>
          <a:bodyPr wrap="square" lIns="0" tIns="0" rIns="0" bIns="0" anchor="t">
            <a:normAutofit/>
          </a:bodyPr>
          <a:lstStyle/>
          <a:p>
            <a:pPr>
              <a:buNone/>
              <a:defRPr/>
            </a:pPr>
            <a:r>
              <a:rPr lang="fr-FR" sz="1400">
                <a:solidFill>
                  <a:srgbClr val="64748B"/>
                </a:solidFill>
              </a:rPr>
              <a:t>Encadrant   </a:t>
            </a:r>
            <a:r>
              <a:rPr lang="fr-FR" sz="1400" b="1">
                <a:solidFill>
                  <a:srgbClr val="0B1F3A"/>
                </a:solidFill>
              </a:rPr>
              <a:t>Ali Zahaf</a:t>
            </a:r>
            <a:endParaRPr/>
          </a:p>
        </p:txBody>
      </p:sp>
      <p:sp>
        <p:nvSpPr>
          <p:cNvPr id="496446893" name="Page"/>
          <p:cNvSpPr txBox="1"/>
          <p:nvPr/>
        </p:nvSpPr>
        <p:spPr bwMode="auto">
          <a:xfrm>
            <a:off x="10515600" y="6451600"/>
            <a:ext cx="914400" cy="254000"/>
          </a:xfrm>
          <a:prstGeom prst="rect">
            <a:avLst/>
          </a:prstGeom>
          <a:noFill/>
          <a:ln>
            <a:noFill/>
          </a:ln>
        </p:spPr>
        <p:txBody>
          <a:bodyPr wrap="square" lIns="0" tIns="0" rIns="0" bIns="0" anchor="t">
            <a:normAutofit/>
          </a:bodyPr>
          <a:lstStyle/>
          <a:p>
            <a:pPr algn="r">
              <a:buNone/>
              <a:defRPr/>
            </a:pPr>
            <a:r>
              <a:rPr lang="fr-FR" sz="1400">
                <a:solidFill>
                  <a:srgbClr val="64748B"/>
                </a:solidFill>
              </a:rPr>
              <a:t>01</a:t>
            </a:r>
            <a:endParaRPr/>
          </a:p>
        </p:txBody>
      </p:sp>
      <p:pic>
        <p:nvPicPr>
          <p:cNvPr id="1978145189" name=""/>
          <p:cNvPicPr>
            <a:picLocks noChangeAspect="1"/>
          </p:cNvPicPr>
          <p:nvPr/>
        </p:nvPicPr>
        <p:blipFill rotWithShape="1">
          <a:blip r:embed="rId3"/>
          <a:stretch/>
        </p:blipFill>
        <p:spPr bwMode="auto">
          <a:xfrm>
            <a:off x="9348787" y="171450"/>
            <a:ext cx="2333624" cy="1962149"/>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med" p14:dur="500" advClick="1">
        <p:fade thruBlk="0"/>
      </p:transition>
    </mc:Choice>
    <mc:Fallback>
      <p:transition spd="med" advClick="1">
        <p:fade thruBlk="0"/>
      </p:transition>
    </mc:Fallback>
  </mc:AlternateContent>
  <p:timing>
    <p:tnLst>
      <p:par>
        <p:cTn id="1" dur="indefinite" restart="never" nodeType="tmRoot">
          <p:childTnLst>
            <p:par>
              <p:cTn id="2" fill="hold">
                <p:stCondLst>
                  <p:cond delay="0"/>
                </p:stCondLst>
                <p:childTnLst>
                  <p:par>
                    <p:cTn id="7" presetID="10" presetClass="entr" presetSubtype="0" fill="hold" grpId="0" nodeType="afterEffect">
                      <p:stCondLst>
                        <p:cond delay="150"/>
                      </p:stCondLst>
                      <p:childTnLst>
                        <p:set>
                          <p:cBhvr>
                            <p:cTn id="8" dur="1" fill="hold">
                              <p:stCondLst>
                                <p:cond delay="0"/>
                              </p:stCondLst>
                            </p:cTn>
                            <p:tgtEl>
                              <p:spTgt spid="1906261142"/>
                            </p:tgtEl>
                            <p:attrNameLst>
                              <p:attrName>style.visibility</p:attrName>
                            </p:attrNameLst>
                          </p:cBhvr>
                          <p:to>
                            <p:strVal val="visible"/>
                          </p:to>
                        </p:set>
                        <p:animEffect transition="in" filter="fade">
                          <p:cBhvr>
                            <p:cTn id="9" dur="400"/>
                            <p:tgtEl>
                              <p:spTgt spid="1906261142"/>
                            </p:tgtEl>
                          </p:cBhvr>
                        </p:animEffect>
                        <p:anim calcmode="lin" valueType="num">
                          <p:cBhvr additive="base">
                            <p:cTn id="10" dur="400" fill="hold"/>
                            <p:tgtEl>
                              <p:spTgt spid="1906261142"/>
                            </p:tgtEl>
                            <p:attrNameLst>
                              <p:attrName>ppt_y</p:attrName>
                            </p:attrNameLst>
                          </p:cBhvr>
                          <p:tavLst>
                            <p:tav tm="0">
                              <p:val>
                                <p:fltVal val="0.045999999999999999"/>
                              </p:val>
                            </p:tav>
                            <p:tav tm="100000">
                              <p:val>
                                <p:fltVal val="0"/>
                              </p:val>
                            </p:tav>
                          </p:tavLst>
                        </p:anim>
                      </p:childTnLst>
                    </p:cTn>
                  </p:par>
                  <p:par>
                    <p:cTn id="11" presetID="10" presetClass="entr" presetSubtype="0" fill="hold" grpId="0" nodeType="afterEffect">
                      <p:stCondLst>
                        <p:cond delay="150"/>
                      </p:stCondLst>
                      <p:childTnLst>
                        <p:set>
                          <p:cBhvr>
                            <p:cTn id="12" dur="1" fill="hold">
                              <p:stCondLst>
                                <p:cond delay="0"/>
                              </p:stCondLst>
                            </p:cTn>
                            <p:tgtEl>
                              <p:spTgt spid="761703060"/>
                            </p:tgtEl>
                            <p:attrNameLst>
                              <p:attrName>style.visibility</p:attrName>
                            </p:attrNameLst>
                          </p:cBhvr>
                          <p:to>
                            <p:strVal val="visible"/>
                          </p:to>
                        </p:set>
                        <p:animEffect transition="in" filter="fade">
                          <p:cBhvr>
                            <p:cTn id="13" dur="400"/>
                            <p:tgtEl>
                              <p:spTgt spid="761703060"/>
                            </p:tgtEl>
                          </p:cBhvr>
                        </p:animEffect>
                        <p:anim calcmode="lin" valueType="num">
                          <p:cBhvr additive="base">
                            <p:cTn id="14" dur="400" fill="hold"/>
                            <p:tgtEl>
                              <p:spTgt spid="761703060"/>
                            </p:tgtEl>
                            <p:attrNameLst>
                              <p:attrName>ppt_y</p:attrName>
                            </p:attrNameLst>
                          </p:cBhvr>
                          <p:tavLst>
                            <p:tav tm="0">
                              <p:val>
                                <p:fltVal val="0.045999999999999999"/>
                              </p:val>
                            </p:tav>
                            <p:tav tm="100000">
                              <p:val>
                                <p:fltVal val="0"/>
                              </p:val>
                            </p:tav>
                          </p:tavLst>
                        </p:anim>
                      </p:childTnLst>
                    </p:cTn>
                  </p:par>
                  <p:par>
                    <p:cTn id="15" presetID="10" presetClass="entr" presetSubtype="0" fill="hold" grpId="0" nodeType="afterEffect">
                      <p:stCondLst>
                        <p:cond delay="150"/>
                      </p:stCondLst>
                      <p:childTnLst>
                        <p:set>
                          <p:cBhvr>
                            <p:cTn id="16" dur="1" fill="hold">
                              <p:stCondLst>
                                <p:cond delay="0"/>
                              </p:stCondLst>
                            </p:cTn>
                            <p:tgtEl>
                              <p:spTgt spid="706436879"/>
                            </p:tgtEl>
                            <p:attrNameLst>
                              <p:attrName>style.visibility</p:attrName>
                            </p:attrNameLst>
                          </p:cBhvr>
                          <p:to>
                            <p:strVal val="visible"/>
                          </p:to>
                        </p:set>
                        <p:animEffect transition="in" filter="fade">
                          <p:cBhvr>
                            <p:cTn id="17" dur="400"/>
                            <p:tgtEl>
                              <p:spTgt spid="706436879"/>
                            </p:tgtEl>
                          </p:cBhvr>
                        </p:animEffect>
                        <p:anim calcmode="lin" valueType="num">
                          <p:cBhvr additive="base">
                            <p:cTn id="18" dur="400" fill="hold"/>
                            <p:tgtEl>
                              <p:spTgt spid="706436879"/>
                            </p:tgtEl>
                            <p:attrNameLst>
                              <p:attrName>ppt_y</p:attrName>
                            </p:attrNameLst>
                          </p:cBhvr>
                          <p:tavLst>
                            <p:tav tm="0">
                              <p:val>
                                <p:fltVal val="0.045999999999999999"/>
                              </p:val>
                            </p:tav>
                            <p:tav tm="100000">
                              <p:val>
                                <p:fltVal val="0"/>
                              </p:val>
                            </p:tav>
                          </p:tavLst>
                        </p:anim>
                      </p:childTnLst>
                    </p:cTn>
                  </p:par>
                  <p:par>
                    <p:cTn id="19" presetID="10" presetClass="entr" presetSubtype="0" fill="hold" grpId="0" nodeType="afterEffect">
                      <p:stCondLst>
                        <p:cond delay="150"/>
                      </p:stCondLst>
                      <p:childTnLst>
                        <p:set>
                          <p:cBhvr>
                            <p:cTn id="20" dur="1" fill="hold">
                              <p:stCondLst>
                                <p:cond delay="0"/>
                              </p:stCondLst>
                            </p:cTn>
                            <p:tgtEl>
                              <p:spTgt spid="132427709"/>
                            </p:tgtEl>
                            <p:attrNameLst>
                              <p:attrName>style.visibility</p:attrName>
                            </p:attrNameLst>
                          </p:cBhvr>
                          <p:to>
                            <p:strVal val="visible"/>
                          </p:to>
                        </p:set>
                        <p:animEffect transition="in" filter="fade">
                          <p:cBhvr>
                            <p:cTn id="21" dur="400"/>
                            <p:tgtEl>
                              <p:spTgt spid="132427709"/>
                            </p:tgtEl>
                          </p:cBhvr>
                        </p:animEffect>
                        <p:anim calcmode="lin" valueType="num">
                          <p:cBhvr additive="base">
                            <p:cTn id="22" dur="400" fill="hold"/>
                            <p:tgtEl>
                              <p:spTgt spid="132427709"/>
                            </p:tgtEl>
                            <p:attrNameLst>
                              <p:attrName>ppt_y</p:attrName>
                            </p:attrNameLst>
                          </p:cBhvr>
                          <p:tavLst>
                            <p:tav tm="0">
                              <p:val>
                                <p:fltVal val="0.045999999999999999"/>
                              </p:val>
                            </p:tav>
                            <p:tav tm="100000">
                              <p:val>
                                <p:fltVal val="0"/>
                              </p:val>
                            </p:tav>
                          </p:tavLst>
                        </p:anim>
                      </p:childTnLst>
                    </p:cTn>
                  </p:par>
                  <p:par>
                    <p:cTn id="23" presetID="10" presetClass="entr" presetSubtype="0" fill="hold" grpId="0" nodeType="afterEffect">
                      <p:stCondLst>
                        <p:cond delay="150"/>
                      </p:stCondLst>
                      <p:childTnLst>
                        <p:set>
                          <p:cBhvr>
                            <p:cTn id="24" dur="1" fill="hold">
                              <p:stCondLst>
                                <p:cond delay="0"/>
                              </p:stCondLst>
                            </p:cTn>
                            <p:tgtEl>
                              <p:spTgt spid="185790863"/>
                            </p:tgtEl>
                            <p:attrNameLst>
                              <p:attrName>style.visibility</p:attrName>
                            </p:attrNameLst>
                          </p:cBhvr>
                          <p:to>
                            <p:strVal val="visible"/>
                          </p:to>
                        </p:set>
                        <p:animEffect transition="in" filter="fade">
                          <p:cBhvr>
                            <p:cTn id="25" dur="400"/>
                            <p:tgtEl>
                              <p:spTgt spid="185790863"/>
                            </p:tgtEl>
                          </p:cBhvr>
                        </p:animEffect>
                        <p:anim calcmode="lin" valueType="num">
                          <p:cBhvr additive="base">
                            <p:cTn id="26" dur="400" fill="hold"/>
                            <p:tgtEl>
                              <p:spTgt spid="185790863"/>
                            </p:tgtEl>
                            <p:attrNameLst>
                              <p:attrName>ppt_y</p:attrName>
                            </p:attrNameLst>
                          </p:cBhvr>
                          <p:tavLst>
                            <p:tav tm="0">
                              <p:val>
                                <p:fltVal val="0.045999999999999999"/>
                              </p:val>
                            </p:tav>
                            <p:tav tm="100000">
                              <p:val>
                                <p:fltVal val="0"/>
                              </p:val>
                            </p:tav>
                          </p:tavLst>
                        </p:anim>
                      </p:childTnLst>
                    </p:cTn>
                  </p:par>
                  <p:par>
                    <p:cTn id="27" presetID="10" presetClass="entr" presetSubtype="0" fill="hold" grpId="0" nodeType="afterEffect">
                      <p:stCondLst>
                        <p:cond delay="150"/>
                      </p:stCondLst>
                      <p:childTnLst>
                        <p:set>
                          <p:cBhvr>
                            <p:cTn id="28" dur="1" fill="hold">
                              <p:stCondLst>
                                <p:cond delay="0"/>
                              </p:stCondLst>
                            </p:cTn>
                            <p:tgtEl>
                              <p:spTgt spid="55572256"/>
                            </p:tgtEl>
                            <p:attrNameLst>
                              <p:attrName>style.visibility</p:attrName>
                            </p:attrNameLst>
                          </p:cBhvr>
                          <p:to>
                            <p:strVal val="visible"/>
                          </p:to>
                        </p:set>
                        <p:animEffect transition="in" filter="fade">
                          <p:cBhvr>
                            <p:cTn id="29" dur="400"/>
                            <p:tgtEl>
                              <p:spTgt spid="55572256"/>
                            </p:tgtEl>
                          </p:cBhvr>
                        </p:animEffect>
                        <p:anim calcmode="lin" valueType="num">
                          <p:cBhvr additive="base">
                            <p:cTn id="30" dur="400" fill="hold"/>
                            <p:tgtEl>
                              <p:spTgt spid="55572256"/>
                            </p:tgtEl>
                            <p:attrNameLst>
                              <p:attrName>ppt_y</p:attrName>
                            </p:attrNameLst>
                          </p:cBhvr>
                          <p:tavLst>
                            <p:tav tm="0">
                              <p:val>
                                <p:fltVal val="0.045999999999999999"/>
                              </p:val>
                            </p:tav>
                            <p:tav tm="100000">
                              <p:val>
                                <p:fltVal val="0"/>
                              </p:val>
                            </p:tav>
                          </p:tavLst>
                        </p:anim>
                      </p:childTnLst>
                    </p:cTn>
                  </p:par>
                  <p:par>
                    <p:cTn id="31" presetID="10" presetClass="entr" presetSubtype="0" fill="hold" grpId="0" nodeType="afterEffect">
                      <p:stCondLst>
                        <p:cond delay="150"/>
                      </p:stCondLst>
                      <p:childTnLst>
                        <p:set>
                          <p:cBhvr>
                            <p:cTn id="32" dur="1" fill="hold">
                              <p:stCondLst>
                                <p:cond delay="0"/>
                              </p:stCondLst>
                            </p:cTn>
                            <p:tgtEl>
                              <p:spTgt spid="225750510"/>
                            </p:tgtEl>
                            <p:attrNameLst>
                              <p:attrName>style.visibility</p:attrName>
                            </p:attrNameLst>
                          </p:cBhvr>
                          <p:to>
                            <p:strVal val="visible"/>
                          </p:to>
                        </p:set>
                        <p:animEffect transition="in" filter="fade">
                          <p:cBhvr>
                            <p:cTn id="33" dur="400"/>
                            <p:tgtEl>
                              <p:spTgt spid="225750510"/>
                            </p:tgtEl>
                          </p:cBhvr>
                        </p:animEffect>
                        <p:anim calcmode="lin" valueType="num">
                          <p:cBhvr additive="base">
                            <p:cTn id="34" dur="400" fill="hold"/>
                            <p:tgtEl>
                              <p:spTgt spid="225750510"/>
                            </p:tgtEl>
                            <p:attrNameLst>
                              <p:attrName>ppt_y</p:attrName>
                            </p:attrNameLst>
                          </p:cBhvr>
                          <p:tavLst>
                            <p:tav tm="0">
                              <p:val>
                                <p:fltVal val="0.045999999999999999"/>
                              </p:val>
                            </p:tav>
                            <p:tav tm="100000">
                              <p:val>
                                <p:fltVal val="0"/>
                              </p:val>
                            </p:tav>
                          </p:tavLst>
                        </p:anim>
                      </p:childTnLst>
                    </p:cTn>
                  </p:par>
                  <p:par>
                    <p:cTn id="35" presetID="10" presetClass="entr" presetSubtype="0" fill="hold" grpId="0" nodeType="afterEffect">
                      <p:stCondLst>
                        <p:cond delay="150"/>
                      </p:stCondLst>
                      <p:childTnLst>
                        <p:set>
                          <p:cBhvr>
                            <p:cTn id="36" dur="1" fill="hold">
                              <p:stCondLst>
                                <p:cond delay="0"/>
                              </p:stCondLst>
                            </p:cTn>
                            <p:tgtEl>
                              <p:spTgt spid="1391138818"/>
                            </p:tgtEl>
                            <p:attrNameLst>
                              <p:attrName>style.visibility</p:attrName>
                            </p:attrNameLst>
                          </p:cBhvr>
                          <p:to>
                            <p:strVal val="visible"/>
                          </p:to>
                        </p:set>
                        <p:animEffect transition="in" filter="fade">
                          <p:cBhvr>
                            <p:cTn id="37" dur="400"/>
                            <p:tgtEl>
                              <p:spTgt spid="1391138818"/>
                            </p:tgtEl>
                          </p:cBhvr>
                        </p:animEffect>
                        <p:anim calcmode="lin" valueType="num">
                          <p:cBhvr additive="base">
                            <p:cTn id="38" dur="400" fill="hold"/>
                            <p:tgtEl>
                              <p:spTgt spid="1391138818"/>
                            </p:tgtEl>
                            <p:attrNameLst>
                              <p:attrName>ppt_y</p:attrName>
                            </p:attrNameLst>
                          </p:cBhvr>
                          <p:tavLst>
                            <p:tav tm="0">
                              <p:val>
                                <p:fltVal val="0.045999999999999999"/>
                              </p:val>
                            </p:tav>
                            <p:tav tm="100000">
                              <p:val>
                                <p:fltVal val="0"/>
                              </p:val>
                            </p:tav>
                          </p:tavLst>
                        </p:anim>
                      </p:childTnLst>
                    </p:cTn>
                  </p:par>
                  <p:par>
                    <p:cTn id="39" presetID="10" presetClass="entr" presetSubtype="0" fill="hold" grpId="0" nodeType="afterEffect">
                      <p:stCondLst>
                        <p:cond delay="150"/>
                      </p:stCondLst>
                      <p:childTnLst>
                        <p:set>
                          <p:cBhvr>
                            <p:cTn id="40" dur="1" fill="hold">
                              <p:stCondLst>
                                <p:cond delay="0"/>
                              </p:stCondLst>
                            </p:cTn>
                            <p:tgtEl>
                              <p:spTgt spid="496446893"/>
                            </p:tgtEl>
                            <p:attrNameLst>
                              <p:attrName>style.visibility</p:attrName>
                            </p:attrNameLst>
                          </p:cBhvr>
                          <p:to>
                            <p:strVal val="visible"/>
                          </p:to>
                        </p:set>
                        <p:animEffect transition="in" filter="fade">
                          <p:cBhvr>
                            <p:cTn id="41" dur="400"/>
                            <p:tgtEl>
                              <p:spTgt spid="496446893"/>
                            </p:tgtEl>
                          </p:cBhvr>
                        </p:animEffect>
                        <p:anim calcmode="lin" valueType="num">
                          <p:cBhvr additive="base">
                            <p:cTn id="42" dur="400" fill="hold"/>
                            <p:tgtEl>
                              <p:spTgt spid="496446893"/>
                            </p:tgtEl>
                            <p:attrNameLst>
                              <p:attrName>ppt_y</p:attrName>
                            </p:attrNameLst>
                          </p:cBhvr>
                          <p:tavLst>
                            <p:tav tm="0">
                              <p:val>
                                <p:fltVal val="0.045999999999999999"/>
                              </p:val>
                            </p:tav>
                            <p:tav tm="100000">
                              <p:val>
                                <p:fltVal val="0"/>
                              </p:val>
                            </p:tav>
                          </p:tavLst>
                        </p:anim>
                      </p:childTnLst>
                    </p:cTn>
                  </p:par>
                </p:childTnLst>
              </p:cTn>
            </p:par>
          </p:childTnLst>
        </p:cTn>
      </p:par>
    </p:tnLst>
    <p:bldLst>
      <p:bldP spid="1906261142" grpId="0" animBg="1"/>
      <p:bldP spid="761703060" grpId="0" animBg="1"/>
      <p:bldP spid="706436879" grpId="0" animBg="1"/>
      <p:bldP spid="132427709" grpId="0" animBg="1"/>
      <p:bldP spid="185790863" grpId="0" animBg="1"/>
      <p:bldP spid="55572256" grpId="0" animBg="1"/>
      <p:bldP spid="225750510" grpId="0" animBg="1"/>
      <p:bldP spid="1391138818" grpId="0" animBg="1"/>
      <p:bldP spid="496446893" grpId="0" animBg="1"/>
    </p:bldLst>
  </p:timing>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827456405" name="Eyebrow"/>
          <p:cNvSpPr txBox="1"/>
          <p:nvPr/>
        </p:nvSpPr>
        <p:spPr bwMode="auto">
          <a:xfrm>
            <a:off x="914400" y="584200"/>
            <a:ext cx="9144000" cy="254000"/>
          </a:xfrm>
          <a:prstGeom prst="rect">
            <a:avLst/>
          </a:prstGeom>
          <a:noFill/>
          <a:ln>
            <a:noFill/>
          </a:ln>
        </p:spPr>
        <p:txBody>
          <a:bodyPr wrap="square" lIns="0" tIns="0" rIns="0" bIns="0" anchor="t">
            <a:normAutofit/>
          </a:bodyPr>
          <a:lstStyle/>
          <a:p>
            <a:pPr>
              <a:buNone/>
              <a:defRPr/>
            </a:pPr>
            <a:r>
              <a:rPr lang="fr-FR" sz="1400" b="1" spc="240">
                <a:solidFill>
                  <a:srgbClr val="64748B"/>
                </a:solidFill>
              </a:rPr>
              <a:t>SOMMAIRE</a:t>
            </a:r>
            <a:endParaRPr/>
          </a:p>
        </p:txBody>
      </p:sp>
      <p:sp>
        <p:nvSpPr>
          <p:cNvPr id="1437192606" name="Titre"/>
          <p:cNvSpPr txBox="1"/>
          <p:nvPr/>
        </p:nvSpPr>
        <p:spPr bwMode="auto">
          <a:xfrm>
            <a:off x="914400" y="863599"/>
            <a:ext cx="9652000" cy="508000"/>
          </a:xfrm>
          <a:prstGeom prst="rect">
            <a:avLst/>
          </a:prstGeom>
          <a:noFill/>
          <a:ln>
            <a:noFill/>
          </a:ln>
        </p:spPr>
        <p:txBody>
          <a:bodyPr wrap="square" lIns="0" tIns="0" rIns="0" bIns="0" anchor="t">
            <a:normAutofit/>
          </a:bodyPr>
          <a:lstStyle/>
          <a:p>
            <a:pPr>
              <a:buNone/>
              <a:defRPr/>
            </a:pPr>
            <a:r>
              <a:rPr lang="fr-FR" sz="3000">
                <a:solidFill>
                  <a:srgbClr val="0B1F3A"/>
                </a:solidFill>
                <a:latin typeface="Segoe UI Semibold"/>
              </a:rPr>
              <a:t>Plan de la soutenance</a:t>
            </a:r>
            <a:endParaRPr/>
          </a:p>
        </p:txBody>
      </p:sp>
      <p:sp>
        <p:nvSpPr>
          <p:cNvPr id="720049575" name="Filet"/>
          <p:cNvSpPr/>
          <p:nvPr/>
        </p:nvSpPr>
        <p:spPr bwMode="auto">
          <a:xfrm>
            <a:off x="914400" y="1473200"/>
            <a:ext cx="685800" cy="50800"/>
          </a:xfrm>
          <a:prstGeom prst="rect">
            <a:avLst/>
          </a:prstGeom>
          <a:solidFill>
            <a:srgbClr val="2563EB"/>
          </a:solidFill>
          <a:ln>
            <a:noFill/>
          </a:ln>
        </p:spPr>
        <p:txBody>
          <a:bodyPr wrap="square" lIns="0" tIns="0" rIns="0" bIns="0" anchor="t">
            <a:normAutofit/>
          </a:bodyPr>
          <a:lstStyle/>
          <a:p>
            <a:pPr>
              <a:defRPr/>
            </a:pPr>
            <a:endParaRPr/>
          </a:p>
        </p:txBody>
      </p:sp>
      <p:sp>
        <p:nvSpPr>
          <p:cNvPr id="716090653" name="Carte0"/>
          <p:cNvSpPr/>
          <p:nvPr/>
        </p:nvSpPr>
        <p:spPr bwMode="auto">
          <a:xfrm>
            <a:off x="914400" y="1981200"/>
            <a:ext cx="3200400" cy="2006600"/>
          </a:xfrm>
          <a:prstGeom prst="roundRect">
            <a:avLst>
              <a:gd name="adj" fmla="val 7000"/>
            </a:avLst>
          </a:prstGeom>
          <a:solidFill>
            <a:srgbClr val="FFFFFF"/>
          </a:solidFill>
          <a:ln w="9525">
            <a:solidFill>
              <a:srgbClr val="E2E8F0"/>
            </a:solidFill>
          </a:ln>
        </p:spPr>
        <p:txBody>
          <a:bodyPr wrap="square" lIns="279400" tIns="279400" rIns="279400" bIns="279400" anchor="t">
            <a:normAutofit/>
          </a:bodyPr>
          <a:lstStyle/>
          <a:p>
            <a:pPr>
              <a:buNone/>
              <a:defRPr/>
            </a:pPr>
            <a:r>
              <a:rPr lang="fr-FR" sz="2800" b="1">
                <a:solidFill>
                  <a:srgbClr val="2563EB"/>
                </a:solidFill>
                <a:latin typeface="Segoe UI Semibold"/>
              </a:rPr>
              <a:t>01</a:t>
            </a:r>
            <a:endParaRPr/>
          </a:p>
          <a:p>
            <a:pPr>
              <a:spcBef>
                <a:spcPts val="700"/>
              </a:spcBef>
              <a:buNone/>
              <a:defRPr/>
            </a:pPr>
            <a:r>
              <a:rPr lang="fr-FR" sz="1800">
                <a:solidFill>
                  <a:srgbClr val="0B1F3A"/>
                </a:solidFill>
                <a:latin typeface="Segoe UI Semibold"/>
              </a:rPr>
              <a:t>Introduction</a:t>
            </a:r>
            <a:endParaRPr/>
          </a:p>
        </p:txBody>
      </p:sp>
      <p:sp>
        <p:nvSpPr>
          <p:cNvPr id="1086374961" name="Carte1"/>
          <p:cNvSpPr/>
          <p:nvPr/>
        </p:nvSpPr>
        <p:spPr bwMode="auto">
          <a:xfrm>
            <a:off x="4495800" y="1981200"/>
            <a:ext cx="3200400" cy="2006600"/>
          </a:xfrm>
          <a:prstGeom prst="roundRect">
            <a:avLst>
              <a:gd name="adj" fmla="val 7000"/>
            </a:avLst>
          </a:prstGeom>
          <a:solidFill>
            <a:srgbClr val="FFFFFF"/>
          </a:solidFill>
          <a:ln w="9525">
            <a:solidFill>
              <a:srgbClr val="E2E8F0"/>
            </a:solidFill>
          </a:ln>
        </p:spPr>
        <p:txBody>
          <a:bodyPr wrap="square" lIns="279400" tIns="279400" rIns="279400" bIns="279400" anchor="t">
            <a:normAutofit/>
          </a:bodyPr>
          <a:lstStyle/>
          <a:p>
            <a:pPr>
              <a:buNone/>
              <a:defRPr/>
            </a:pPr>
            <a:r>
              <a:rPr lang="fr-FR" sz="2800" b="1">
                <a:solidFill>
                  <a:srgbClr val="2563EB"/>
                </a:solidFill>
                <a:latin typeface="Segoe UI Semibold"/>
              </a:rPr>
              <a:t>02</a:t>
            </a:r>
            <a:endParaRPr/>
          </a:p>
          <a:p>
            <a:pPr>
              <a:spcBef>
                <a:spcPts val="700"/>
              </a:spcBef>
              <a:buNone/>
              <a:defRPr/>
            </a:pPr>
            <a:r>
              <a:rPr lang="fr-FR" sz="1800">
                <a:solidFill>
                  <a:srgbClr val="0B1F3A"/>
                </a:solidFill>
                <a:latin typeface="Segoe UI Semibold"/>
              </a:rPr>
              <a:t>Choix techniques</a:t>
            </a:r>
            <a:endParaRPr/>
          </a:p>
        </p:txBody>
      </p:sp>
      <p:sp>
        <p:nvSpPr>
          <p:cNvPr id="1990350548" name="Carte2"/>
          <p:cNvSpPr/>
          <p:nvPr/>
        </p:nvSpPr>
        <p:spPr bwMode="auto">
          <a:xfrm>
            <a:off x="8077200" y="1981200"/>
            <a:ext cx="3200400" cy="2006600"/>
          </a:xfrm>
          <a:prstGeom prst="roundRect">
            <a:avLst>
              <a:gd name="adj" fmla="val 7000"/>
            </a:avLst>
          </a:prstGeom>
          <a:solidFill>
            <a:srgbClr val="FFFFFF"/>
          </a:solidFill>
          <a:ln w="9525">
            <a:solidFill>
              <a:srgbClr val="E2E8F0"/>
            </a:solidFill>
          </a:ln>
        </p:spPr>
        <p:txBody>
          <a:bodyPr wrap="square" lIns="279400" tIns="279400" rIns="279400" bIns="279400" anchor="t">
            <a:normAutofit/>
          </a:bodyPr>
          <a:lstStyle/>
          <a:p>
            <a:pPr>
              <a:buNone/>
              <a:defRPr/>
            </a:pPr>
            <a:r>
              <a:rPr lang="fr-FR" sz="2800" b="1">
                <a:solidFill>
                  <a:srgbClr val="2563EB"/>
                </a:solidFill>
                <a:latin typeface="Segoe UI Semibold"/>
              </a:rPr>
              <a:t>03</a:t>
            </a:r>
            <a:endParaRPr/>
          </a:p>
          <a:p>
            <a:pPr>
              <a:spcBef>
                <a:spcPts val="700"/>
              </a:spcBef>
              <a:buNone/>
              <a:defRPr/>
            </a:pPr>
            <a:r>
              <a:rPr lang="fr-FR" sz="1800">
                <a:solidFill>
                  <a:srgbClr val="0B1F3A"/>
                </a:solidFill>
                <a:latin typeface="Segoe UI Semibold"/>
              </a:rPr>
              <a:t>Analyse conceptuelle</a:t>
            </a:r>
            <a:endParaRPr/>
          </a:p>
        </p:txBody>
      </p:sp>
      <p:sp>
        <p:nvSpPr>
          <p:cNvPr id="795977237" name="Carte3"/>
          <p:cNvSpPr/>
          <p:nvPr/>
        </p:nvSpPr>
        <p:spPr bwMode="auto">
          <a:xfrm>
            <a:off x="914400" y="4267200"/>
            <a:ext cx="3200400" cy="2006600"/>
          </a:xfrm>
          <a:prstGeom prst="roundRect">
            <a:avLst>
              <a:gd name="adj" fmla="val 7000"/>
            </a:avLst>
          </a:prstGeom>
          <a:solidFill>
            <a:srgbClr val="FFFFFF"/>
          </a:solidFill>
          <a:ln w="9525">
            <a:solidFill>
              <a:srgbClr val="E2E8F0"/>
            </a:solidFill>
          </a:ln>
        </p:spPr>
        <p:txBody>
          <a:bodyPr wrap="square" lIns="279400" tIns="279400" rIns="279400" bIns="279400" anchor="t">
            <a:normAutofit/>
          </a:bodyPr>
          <a:lstStyle/>
          <a:p>
            <a:pPr>
              <a:buNone/>
              <a:defRPr/>
            </a:pPr>
            <a:r>
              <a:rPr lang="fr-FR" sz="2800" b="1">
                <a:solidFill>
                  <a:srgbClr val="2563EB"/>
                </a:solidFill>
                <a:latin typeface="Segoe UI Semibold"/>
              </a:rPr>
              <a:t>04</a:t>
            </a:r>
            <a:endParaRPr/>
          </a:p>
          <a:p>
            <a:pPr>
              <a:spcBef>
                <a:spcPts val="700"/>
              </a:spcBef>
              <a:buNone/>
              <a:defRPr/>
            </a:pPr>
            <a:r>
              <a:rPr lang="fr-FR" sz="1800">
                <a:solidFill>
                  <a:srgbClr val="0B1F3A"/>
                </a:solidFill>
                <a:latin typeface="Segoe UI Semibold"/>
              </a:rPr>
              <a:t>Réalisation</a:t>
            </a:r>
            <a:endParaRPr/>
          </a:p>
        </p:txBody>
      </p:sp>
      <p:sp>
        <p:nvSpPr>
          <p:cNvPr id="901581794" name="Carte4"/>
          <p:cNvSpPr/>
          <p:nvPr/>
        </p:nvSpPr>
        <p:spPr bwMode="auto">
          <a:xfrm>
            <a:off x="4495800" y="4267200"/>
            <a:ext cx="3200400" cy="2006600"/>
          </a:xfrm>
          <a:prstGeom prst="roundRect">
            <a:avLst>
              <a:gd name="adj" fmla="val 7000"/>
            </a:avLst>
          </a:prstGeom>
          <a:solidFill>
            <a:srgbClr val="FFFFFF"/>
          </a:solidFill>
          <a:ln w="9525">
            <a:solidFill>
              <a:srgbClr val="E2E8F0"/>
            </a:solidFill>
          </a:ln>
        </p:spPr>
        <p:txBody>
          <a:bodyPr wrap="square" lIns="279400" tIns="279400" rIns="279400" bIns="279400" anchor="t">
            <a:normAutofit/>
          </a:bodyPr>
          <a:lstStyle/>
          <a:p>
            <a:pPr>
              <a:buNone/>
              <a:defRPr/>
            </a:pPr>
            <a:r>
              <a:rPr lang="fr-FR" sz="2800" b="1">
                <a:solidFill>
                  <a:srgbClr val="2563EB"/>
                </a:solidFill>
                <a:latin typeface="Segoe UI Semibold"/>
              </a:rPr>
              <a:t>05</a:t>
            </a:r>
            <a:endParaRPr/>
          </a:p>
          <a:p>
            <a:pPr>
              <a:spcBef>
                <a:spcPts val="700"/>
              </a:spcBef>
              <a:buNone/>
              <a:defRPr/>
            </a:pPr>
            <a:r>
              <a:rPr lang="fr-FR" sz="1800">
                <a:solidFill>
                  <a:srgbClr val="0B1F3A"/>
                </a:solidFill>
                <a:latin typeface="Segoe UI Semibold"/>
              </a:rPr>
              <a:t>Machine Learning</a:t>
            </a:r>
            <a:endParaRPr/>
          </a:p>
        </p:txBody>
      </p:sp>
      <p:sp>
        <p:nvSpPr>
          <p:cNvPr id="1808296448" name="Carte5"/>
          <p:cNvSpPr/>
          <p:nvPr/>
        </p:nvSpPr>
        <p:spPr bwMode="auto">
          <a:xfrm>
            <a:off x="8077200" y="4267200"/>
            <a:ext cx="3200400" cy="2006600"/>
          </a:xfrm>
          <a:prstGeom prst="roundRect">
            <a:avLst>
              <a:gd name="adj" fmla="val 7000"/>
            </a:avLst>
          </a:prstGeom>
          <a:solidFill>
            <a:srgbClr val="FFFFFF"/>
          </a:solidFill>
          <a:ln w="9525">
            <a:solidFill>
              <a:srgbClr val="E2E8F0"/>
            </a:solidFill>
          </a:ln>
        </p:spPr>
        <p:txBody>
          <a:bodyPr wrap="square" lIns="279400" tIns="279400" rIns="279400" bIns="279400" anchor="t">
            <a:normAutofit/>
          </a:bodyPr>
          <a:lstStyle/>
          <a:p>
            <a:pPr>
              <a:buNone/>
              <a:defRPr/>
            </a:pPr>
            <a:r>
              <a:rPr lang="fr-FR" sz="2800" b="1">
                <a:solidFill>
                  <a:srgbClr val="2563EB"/>
                </a:solidFill>
                <a:latin typeface="Segoe UI Semibold"/>
              </a:rPr>
              <a:t>06</a:t>
            </a:r>
            <a:endParaRPr/>
          </a:p>
          <a:p>
            <a:pPr>
              <a:spcBef>
                <a:spcPts val="700"/>
              </a:spcBef>
              <a:buNone/>
              <a:defRPr/>
            </a:pPr>
            <a:r>
              <a:rPr lang="fr-FR" sz="1800">
                <a:solidFill>
                  <a:srgbClr val="0B1F3A"/>
                </a:solidFill>
                <a:latin typeface="Segoe UI Semibold"/>
              </a:rPr>
              <a:t>Conclusion</a:t>
            </a:r>
            <a:endParaRPr/>
          </a:p>
        </p:txBody>
      </p:sp>
      <p:sp>
        <p:nvSpPr>
          <p:cNvPr id="1589554351" name="Page"/>
          <p:cNvSpPr txBox="1"/>
          <p:nvPr/>
        </p:nvSpPr>
        <p:spPr bwMode="auto">
          <a:xfrm>
            <a:off x="10515600" y="6451600"/>
            <a:ext cx="914400" cy="254000"/>
          </a:xfrm>
          <a:prstGeom prst="rect">
            <a:avLst/>
          </a:prstGeom>
          <a:noFill/>
          <a:ln>
            <a:noFill/>
          </a:ln>
        </p:spPr>
        <p:txBody>
          <a:bodyPr wrap="square" lIns="0" tIns="0" rIns="0" bIns="0" anchor="t">
            <a:normAutofit/>
          </a:bodyPr>
          <a:lstStyle/>
          <a:p>
            <a:pPr algn="r">
              <a:buNone/>
              <a:defRPr/>
            </a:pPr>
            <a:r>
              <a:rPr lang="fr-FR" sz="1400">
                <a:solidFill>
                  <a:srgbClr val="64748B"/>
                </a:solidFill>
              </a:rPr>
              <a:t>02</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med" p14:dur="500" advClick="1">
        <p:fade thruBlk="0"/>
      </p:transition>
    </mc:Choice>
    <mc:Fallback>
      <p:transition spd="med" advClick="1">
        <p:fade thruBlk="0"/>
      </p:transition>
    </mc:Fallback>
  </mc:AlternateContent>
  <p:timing>
    <p:tnLst>
      <p:par>
        <p:cTn id="1" dur="indefinite" restart="never" nodeType="tmRoot">
          <p:childTnLst>
            <p:par>
              <p:cTn id="2" fill="hold">
                <p:stCondLst>
                  <p:cond delay="0"/>
                </p:stCondLst>
                <p:childTnLst>
                  <p:par>
                    <p:cTn id="3" presetID="10" presetClass="entr" presetSubtype="0" fill="hold" grpId="0" nodeType="afterEffect">
                      <p:stCondLst>
                        <p:cond delay="500"/>
                      </p:stCondLst>
                      <p:childTnLst>
                        <p:set>
                          <p:cBhvr>
                            <p:cTn id="4" dur="1" fill="hold">
                              <p:stCondLst>
                                <p:cond delay="0"/>
                              </p:stCondLst>
                            </p:cTn>
                            <p:tgtEl>
                              <p:spTgt spid="827456405"/>
                            </p:tgtEl>
                            <p:attrNameLst>
                              <p:attrName>style.visibility</p:attrName>
                            </p:attrNameLst>
                          </p:cBhvr>
                          <p:to>
                            <p:strVal val="visible"/>
                          </p:to>
                        </p:set>
                        <p:animEffect transition="in" filter="fade">
                          <p:cBhvr>
                            <p:cTn id="5" dur="400"/>
                            <p:tgtEl>
                              <p:spTgt spid="827456405"/>
                            </p:tgtEl>
                          </p:cBhvr>
                        </p:animEffect>
                        <p:anim calcmode="lin" valueType="num">
                          <p:cBhvr additive="base">
                            <p:cTn id="6" dur="400" fill="hold"/>
                            <p:tgtEl>
                              <p:spTgt spid="827456405"/>
                            </p:tgtEl>
                            <p:attrNameLst>
                              <p:attrName>ppt_y</p:attrName>
                            </p:attrNameLst>
                          </p:cBhvr>
                          <p:tavLst>
                            <p:tav tm="0">
                              <p:val>
                                <p:fltVal val="0.045999999999999999"/>
                              </p:val>
                            </p:tav>
                            <p:tav tm="100000">
                              <p:val>
                                <p:fltVal val="0"/>
                              </p:val>
                            </p:tav>
                          </p:tavLst>
                        </p:anim>
                      </p:childTnLst>
                    </p:cTn>
                  </p:par>
                  <p:par>
                    <p:cTn id="7" presetID="10" presetClass="entr" presetSubtype="0" fill="hold" grpId="0" nodeType="afterEffect">
                      <p:stCondLst>
                        <p:cond delay="150"/>
                      </p:stCondLst>
                      <p:childTnLst>
                        <p:set>
                          <p:cBhvr>
                            <p:cTn id="8" dur="1" fill="hold">
                              <p:stCondLst>
                                <p:cond delay="0"/>
                              </p:stCondLst>
                            </p:cTn>
                            <p:tgtEl>
                              <p:spTgt spid="1437192606"/>
                            </p:tgtEl>
                            <p:attrNameLst>
                              <p:attrName>style.visibility</p:attrName>
                            </p:attrNameLst>
                          </p:cBhvr>
                          <p:to>
                            <p:strVal val="visible"/>
                          </p:to>
                        </p:set>
                        <p:animEffect transition="in" filter="fade">
                          <p:cBhvr>
                            <p:cTn id="9" dur="400"/>
                            <p:tgtEl>
                              <p:spTgt spid="1437192606"/>
                            </p:tgtEl>
                          </p:cBhvr>
                        </p:animEffect>
                        <p:anim calcmode="lin" valueType="num">
                          <p:cBhvr additive="base">
                            <p:cTn id="10" dur="400" fill="hold"/>
                            <p:tgtEl>
                              <p:spTgt spid="1437192606"/>
                            </p:tgtEl>
                            <p:attrNameLst>
                              <p:attrName>ppt_y</p:attrName>
                            </p:attrNameLst>
                          </p:cBhvr>
                          <p:tavLst>
                            <p:tav tm="0">
                              <p:val>
                                <p:fltVal val="0.045999999999999999"/>
                              </p:val>
                            </p:tav>
                            <p:tav tm="100000">
                              <p:val>
                                <p:fltVal val="0"/>
                              </p:val>
                            </p:tav>
                          </p:tavLst>
                        </p:anim>
                      </p:childTnLst>
                    </p:cTn>
                  </p:par>
                  <p:par>
                    <p:cTn id="11" presetID="10" presetClass="entr" presetSubtype="0" fill="hold" grpId="0" nodeType="afterEffect">
                      <p:stCondLst>
                        <p:cond delay="150"/>
                      </p:stCondLst>
                      <p:childTnLst>
                        <p:set>
                          <p:cBhvr>
                            <p:cTn id="12" dur="1" fill="hold">
                              <p:stCondLst>
                                <p:cond delay="0"/>
                              </p:stCondLst>
                            </p:cTn>
                            <p:tgtEl>
                              <p:spTgt spid="720049575"/>
                            </p:tgtEl>
                            <p:attrNameLst>
                              <p:attrName>style.visibility</p:attrName>
                            </p:attrNameLst>
                          </p:cBhvr>
                          <p:to>
                            <p:strVal val="visible"/>
                          </p:to>
                        </p:set>
                        <p:animEffect transition="in" filter="fade">
                          <p:cBhvr>
                            <p:cTn id="13" dur="400"/>
                            <p:tgtEl>
                              <p:spTgt spid="720049575"/>
                            </p:tgtEl>
                          </p:cBhvr>
                        </p:animEffect>
                        <p:anim calcmode="lin" valueType="num">
                          <p:cBhvr additive="base">
                            <p:cTn id="14" dur="400" fill="hold"/>
                            <p:tgtEl>
                              <p:spTgt spid="720049575"/>
                            </p:tgtEl>
                            <p:attrNameLst>
                              <p:attrName>ppt_y</p:attrName>
                            </p:attrNameLst>
                          </p:cBhvr>
                          <p:tavLst>
                            <p:tav tm="0">
                              <p:val>
                                <p:fltVal val="0.045999999999999999"/>
                              </p:val>
                            </p:tav>
                            <p:tav tm="100000">
                              <p:val>
                                <p:fltVal val="0"/>
                              </p:val>
                            </p:tav>
                          </p:tavLst>
                        </p:anim>
                      </p:childTnLst>
                    </p:cTn>
                  </p:par>
                  <p:par>
                    <p:cTn id="15" presetID="10" presetClass="entr" presetSubtype="0" fill="hold" grpId="0" nodeType="afterEffect">
                      <p:stCondLst>
                        <p:cond delay="150"/>
                      </p:stCondLst>
                      <p:childTnLst>
                        <p:set>
                          <p:cBhvr>
                            <p:cTn id="16" dur="1" fill="hold">
                              <p:stCondLst>
                                <p:cond delay="0"/>
                              </p:stCondLst>
                            </p:cTn>
                            <p:tgtEl>
                              <p:spTgt spid="716090653"/>
                            </p:tgtEl>
                            <p:attrNameLst>
                              <p:attrName>style.visibility</p:attrName>
                            </p:attrNameLst>
                          </p:cBhvr>
                          <p:to>
                            <p:strVal val="visible"/>
                          </p:to>
                        </p:set>
                        <p:animEffect transition="in" filter="fade">
                          <p:cBhvr>
                            <p:cTn id="17" dur="400"/>
                            <p:tgtEl>
                              <p:spTgt spid="716090653"/>
                            </p:tgtEl>
                          </p:cBhvr>
                        </p:animEffect>
                        <p:anim calcmode="lin" valueType="num">
                          <p:cBhvr additive="base">
                            <p:cTn id="18" dur="400" fill="hold"/>
                            <p:tgtEl>
                              <p:spTgt spid="716090653"/>
                            </p:tgtEl>
                            <p:attrNameLst>
                              <p:attrName>ppt_y</p:attrName>
                            </p:attrNameLst>
                          </p:cBhvr>
                          <p:tavLst>
                            <p:tav tm="0">
                              <p:val>
                                <p:fltVal val="0.045999999999999999"/>
                              </p:val>
                            </p:tav>
                            <p:tav tm="100000">
                              <p:val>
                                <p:fltVal val="0"/>
                              </p:val>
                            </p:tav>
                          </p:tavLst>
                        </p:anim>
                      </p:childTnLst>
                    </p:cTn>
                  </p:par>
                  <p:par>
                    <p:cTn id="19" presetID="10" presetClass="entr" presetSubtype="0" fill="hold" grpId="0" nodeType="afterEffect">
                      <p:stCondLst>
                        <p:cond delay="150"/>
                      </p:stCondLst>
                      <p:childTnLst>
                        <p:set>
                          <p:cBhvr>
                            <p:cTn id="20" dur="1" fill="hold">
                              <p:stCondLst>
                                <p:cond delay="0"/>
                              </p:stCondLst>
                            </p:cTn>
                            <p:tgtEl>
                              <p:spTgt spid="1086374961"/>
                            </p:tgtEl>
                            <p:attrNameLst>
                              <p:attrName>style.visibility</p:attrName>
                            </p:attrNameLst>
                          </p:cBhvr>
                          <p:to>
                            <p:strVal val="visible"/>
                          </p:to>
                        </p:set>
                        <p:animEffect transition="in" filter="fade">
                          <p:cBhvr>
                            <p:cTn id="21" dur="400"/>
                            <p:tgtEl>
                              <p:spTgt spid="1086374961"/>
                            </p:tgtEl>
                          </p:cBhvr>
                        </p:animEffect>
                        <p:anim calcmode="lin" valueType="num">
                          <p:cBhvr additive="base">
                            <p:cTn id="22" dur="400" fill="hold"/>
                            <p:tgtEl>
                              <p:spTgt spid="1086374961"/>
                            </p:tgtEl>
                            <p:attrNameLst>
                              <p:attrName>ppt_y</p:attrName>
                            </p:attrNameLst>
                          </p:cBhvr>
                          <p:tavLst>
                            <p:tav tm="0">
                              <p:val>
                                <p:fltVal val="0.045999999999999999"/>
                              </p:val>
                            </p:tav>
                            <p:tav tm="100000">
                              <p:val>
                                <p:fltVal val="0"/>
                              </p:val>
                            </p:tav>
                          </p:tavLst>
                        </p:anim>
                      </p:childTnLst>
                    </p:cTn>
                  </p:par>
                  <p:par>
                    <p:cTn id="23" presetID="10" presetClass="entr" presetSubtype="0" fill="hold" grpId="0" nodeType="afterEffect">
                      <p:stCondLst>
                        <p:cond delay="150"/>
                      </p:stCondLst>
                      <p:childTnLst>
                        <p:set>
                          <p:cBhvr>
                            <p:cTn id="24" dur="1" fill="hold">
                              <p:stCondLst>
                                <p:cond delay="0"/>
                              </p:stCondLst>
                            </p:cTn>
                            <p:tgtEl>
                              <p:spTgt spid="1990350548"/>
                            </p:tgtEl>
                            <p:attrNameLst>
                              <p:attrName>style.visibility</p:attrName>
                            </p:attrNameLst>
                          </p:cBhvr>
                          <p:to>
                            <p:strVal val="visible"/>
                          </p:to>
                        </p:set>
                        <p:animEffect transition="in" filter="fade">
                          <p:cBhvr>
                            <p:cTn id="25" dur="400"/>
                            <p:tgtEl>
                              <p:spTgt spid="1990350548"/>
                            </p:tgtEl>
                          </p:cBhvr>
                        </p:animEffect>
                        <p:anim calcmode="lin" valueType="num">
                          <p:cBhvr additive="base">
                            <p:cTn id="26" dur="400" fill="hold"/>
                            <p:tgtEl>
                              <p:spTgt spid="1990350548"/>
                            </p:tgtEl>
                            <p:attrNameLst>
                              <p:attrName>ppt_y</p:attrName>
                            </p:attrNameLst>
                          </p:cBhvr>
                          <p:tavLst>
                            <p:tav tm="0">
                              <p:val>
                                <p:fltVal val="0.045999999999999999"/>
                              </p:val>
                            </p:tav>
                            <p:tav tm="100000">
                              <p:val>
                                <p:fltVal val="0"/>
                              </p:val>
                            </p:tav>
                          </p:tavLst>
                        </p:anim>
                      </p:childTnLst>
                    </p:cTn>
                  </p:par>
                  <p:par>
                    <p:cTn id="27" presetID="10" presetClass="entr" presetSubtype="0" fill="hold" grpId="0" nodeType="afterEffect">
                      <p:stCondLst>
                        <p:cond delay="150"/>
                      </p:stCondLst>
                      <p:childTnLst>
                        <p:set>
                          <p:cBhvr>
                            <p:cTn id="28" dur="1" fill="hold">
                              <p:stCondLst>
                                <p:cond delay="0"/>
                              </p:stCondLst>
                            </p:cTn>
                            <p:tgtEl>
                              <p:spTgt spid="795977237"/>
                            </p:tgtEl>
                            <p:attrNameLst>
                              <p:attrName>style.visibility</p:attrName>
                            </p:attrNameLst>
                          </p:cBhvr>
                          <p:to>
                            <p:strVal val="visible"/>
                          </p:to>
                        </p:set>
                        <p:animEffect transition="in" filter="fade">
                          <p:cBhvr>
                            <p:cTn id="29" dur="400"/>
                            <p:tgtEl>
                              <p:spTgt spid="795977237"/>
                            </p:tgtEl>
                          </p:cBhvr>
                        </p:animEffect>
                        <p:anim calcmode="lin" valueType="num">
                          <p:cBhvr additive="base">
                            <p:cTn id="30" dur="400" fill="hold"/>
                            <p:tgtEl>
                              <p:spTgt spid="795977237"/>
                            </p:tgtEl>
                            <p:attrNameLst>
                              <p:attrName>ppt_y</p:attrName>
                            </p:attrNameLst>
                          </p:cBhvr>
                          <p:tavLst>
                            <p:tav tm="0">
                              <p:val>
                                <p:fltVal val="0.045999999999999999"/>
                              </p:val>
                            </p:tav>
                            <p:tav tm="100000">
                              <p:val>
                                <p:fltVal val="0"/>
                              </p:val>
                            </p:tav>
                          </p:tavLst>
                        </p:anim>
                      </p:childTnLst>
                    </p:cTn>
                  </p:par>
                  <p:par>
                    <p:cTn id="31" presetID="10" presetClass="entr" presetSubtype="0" fill="hold" grpId="0" nodeType="afterEffect">
                      <p:stCondLst>
                        <p:cond delay="150"/>
                      </p:stCondLst>
                      <p:childTnLst>
                        <p:set>
                          <p:cBhvr>
                            <p:cTn id="32" dur="1" fill="hold">
                              <p:stCondLst>
                                <p:cond delay="0"/>
                              </p:stCondLst>
                            </p:cTn>
                            <p:tgtEl>
                              <p:spTgt spid="901581794"/>
                            </p:tgtEl>
                            <p:attrNameLst>
                              <p:attrName>style.visibility</p:attrName>
                            </p:attrNameLst>
                          </p:cBhvr>
                          <p:to>
                            <p:strVal val="visible"/>
                          </p:to>
                        </p:set>
                        <p:animEffect transition="in" filter="fade">
                          <p:cBhvr>
                            <p:cTn id="33" dur="400"/>
                            <p:tgtEl>
                              <p:spTgt spid="901581794"/>
                            </p:tgtEl>
                          </p:cBhvr>
                        </p:animEffect>
                        <p:anim calcmode="lin" valueType="num">
                          <p:cBhvr additive="base">
                            <p:cTn id="34" dur="400" fill="hold"/>
                            <p:tgtEl>
                              <p:spTgt spid="901581794"/>
                            </p:tgtEl>
                            <p:attrNameLst>
                              <p:attrName>ppt_y</p:attrName>
                            </p:attrNameLst>
                          </p:cBhvr>
                          <p:tavLst>
                            <p:tav tm="0">
                              <p:val>
                                <p:fltVal val="0.045999999999999999"/>
                              </p:val>
                            </p:tav>
                            <p:tav tm="100000">
                              <p:val>
                                <p:fltVal val="0"/>
                              </p:val>
                            </p:tav>
                          </p:tavLst>
                        </p:anim>
                      </p:childTnLst>
                    </p:cTn>
                  </p:par>
                  <p:par>
                    <p:cTn id="35" presetID="10" presetClass="entr" presetSubtype="0" fill="hold" grpId="0" nodeType="afterEffect">
                      <p:stCondLst>
                        <p:cond delay="150"/>
                      </p:stCondLst>
                      <p:childTnLst>
                        <p:set>
                          <p:cBhvr>
                            <p:cTn id="36" dur="1" fill="hold">
                              <p:stCondLst>
                                <p:cond delay="0"/>
                              </p:stCondLst>
                            </p:cTn>
                            <p:tgtEl>
                              <p:spTgt spid="1808296448"/>
                            </p:tgtEl>
                            <p:attrNameLst>
                              <p:attrName>style.visibility</p:attrName>
                            </p:attrNameLst>
                          </p:cBhvr>
                          <p:to>
                            <p:strVal val="visible"/>
                          </p:to>
                        </p:set>
                        <p:animEffect transition="in" filter="fade">
                          <p:cBhvr>
                            <p:cTn id="37" dur="400"/>
                            <p:tgtEl>
                              <p:spTgt spid="1808296448"/>
                            </p:tgtEl>
                          </p:cBhvr>
                        </p:animEffect>
                        <p:anim calcmode="lin" valueType="num">
                          <p:cBhvr additive="base">
                            <p:cTn id="38" dur="400" fill="hold"/>
                            <p:tgtEl>
                              <p:spTgt spid="1808296448"/>
                            </p:tgtEl>
                            <p:attrNameLst>
                              <p:attrName>ppt_y</p:attrName>
                            </p:attrNameLst>
                          </p:cBhvr>
                          <p:tavLst>
                            <p:tav tm="0">
                              <p:val>
                                <p:fltVal val="0.045999999999999999"/>
                              </p:val>
                            </p:tav>
                            <p:tav tm="100000">
                              <p:val>
                                <p:fltVal val="0"/>
                              </p:val>
                            </p:tav>
                          </p:tavLst>
                        </p:anim>
                      </p:childTnLst>
                    </p:cTn>
                  </p:par>
                  <p:par>
                    <p:cTn id="39" presetID="10" presetClass="entr" presetSubtype="0" fill="hold" grpId="0" nodeType="afterEffect">
                      <p:stCondLst>
                        <p:cond delay="150"/>
                      </p:stCondLst>
                      <p:childTnLst>
                        <p:set>
                          <p:cBhvr>
                            <p:cTn id="40" dur="1" fill="hold">
                              <p:stCondLst>
                                <p:cond delay="0"/>
                              </p:stCondLst>
                            </p:cTn>
                            <p:tgtEl>
                              <p:spTgt spid="1589554351"/>
                            </p:tgtEl>
                            <p:attrNameLst>
                              <p:attrName>style.visibility</p:attrName>
                            </p:attrNameLst>
                          </p:cBhvr>
                          <p:to>
                            <p:strVal val="visible"/>
                          </p:to>
                        </p:set>
                        <p:animEffect transition="in" filter="fade">
                          <p:cBhvr>
                            <p:cTn id="41" dur="400"/>
                            <p:tgtEl>
                              <p:spTgt spid="1589554351"/>
                            </p:tgtEl>
                          </p:cBhvr>
                        </p:animEffect>
                        <p:anim calcmode="lin" valueType="num">
                          <p:cBhvr additive="base">
                            <p:cTn id="42" dur="400" fill="hold"/>
                            <p:tgtEl>
                              <p:spTgt spid="1589554351"/>
                            </p:tgtEl>
                            <p:attrNameLst>
                              <p:attrName>ppt_y</p:attrName>
                            </p:attrNameLst>
                          </p:cBhvr>
                          <p:tavLst>
                            <p:tav tm="0">
                              <p:val>
                                <p:fltVal val="0.045999999999999999"/>
                              </p:val>
                            </p:tav>
                            <p:tav tm="100000">
                              <p:val>
                                <p:fltVal val="0"/>
                              </p:val>
                            </p:tav>
                          </p:tavLst>
                        </p:anim>
                      </p:childTnLst>
                    </p:cTn>
                  </p:par>
                </p:childTnLst>
              </p:cTn>
            </p:par>
          </p:childTnLst>
        </p:cTn>
      </p:par>
    </p:tnLst>
    <p:bldLst>
      <p:bldP spid="827456405" grpId="0" animBg="1"/>
      <p:bldP spid="1437192606" grpId="0" animBg="1"/>
      <p:bldP spid="720049575" grpId="0" animBg="1"/>
      <p:bldP spid="716090653" grpId="0" animBg="1"/>
      <p:bldP spid="1086374961" grpId="0" animBg="1"/>
      <p:bldP spid="1990350548" grpId="0" animBg="1"/>
      <p:bldP spid="795977237" grpId="0" animBg="1"/>
      <p:bldP spid="901581794" grpId="0" animBg="1"/>
      <p:bldP spid="1808296448" grpId="0" animBg="1"/>
      <p:bldP spid="1589554351" grpId="0" animBg="1"/>
    </p:bldLst>
  </p:timing>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677064808" name="Eyebrow"/>
          <p:cNvSpPr txBox="1"/>
          <p:nvPr/>
        </p:nvSpPr>
        <p:spPr bwMode="auto">
          <a:xfrm>
            <a:off x="914400" y="584200"/>
            <a:ext cx="9144000" cy="254000"/>
          </a:xfrm>
          <a:prstGeom prst="rect">
            <a:avLst/>
          </a:prstGeom>
          <a:noFill/>
          <a:ln>
            <a:noFill/>
          </a:ln>
        </p:spPr>
        <p:txBody>
          <a:bodyPr wrap="square" lIns="0" tIns="0" rIns="0" bIns="0" anchor="t">
            <a:normAutofit/>
          </a:bodyPr>
          <a:lstStyle/>
          <a:p>
            <a:pPr>
              <a:buNone/>
              <a:defRPr/>
            </a:pPr>
            <a:r>
              <a:rPr lang="fr-FR" sz="1400" b="1" spc="240">
                <a:solidFill>
                  <a:srgbClr val="64748B"/>
                </a:solidFill>
              </a:rPr>
              <a:t>01 · INTRODUCTION</a:t>
            </a:r>
            <a:endParaRPr/>
          </a:p>
        </p:txBody>
      </p:sp>
      <p:sp>
        <p:nvSpPr>
          <p:cNvPr id="1372775078" name="Titre"/>
          <p:cNvSpPr txBox="1"/>
          <p:nvPr/>
        </p:nvSpPr>
        <p:spPr bwMode="auto">
          <a:xfrm>
            <a:off x="914400" y="863599"/>
            <a:ext cx="9652000" cy="508000"/>
          </a:xfrm>
          <a:prstGeom prst="rect">
            <a:avLst/>
          </a:prstGeom>
          <a:noFill/>
          <a:ln>
            <a:noFill/>
          </a:ln>
        </p:spPr>
        <p:txBody>
          <a:bodyPr wrap="square" lIns="0" tIns="0" rIns="0" bIns="0" anchor="t">
            <a:normAutofit/>
          </a:bodyPr>
          <a:lstStyle/>
          <a:p>
            <a:pPr>
              <a:buNone/>
              <a:defRPr/>
            </a:pPr>
            <a:r>
              <a:rPr lang="fr-FR" sz="3000">
                <a:solidFill>
                  <a:srgbClr val="0B1F3A"/>
                </a:solidFill>
                <a:latin typeface="Segoe UI Semibold"/>
              </a:rPr>
              <a:t>Contexte client</a:t>
            </a:r>
            <a:endParaRPr/>
          </a:p>
        </p:txBody>
      </p:sp>
      <p:sp>
        <p:nvSpPr>
          <p:cNvPr id="501627058" name="Filet"/>
          <p:cNvSpPr/>
          <p:nvPr/>
        </p:nvSpPr>
        <p:spPr bwMode="auto">
          <a:xfrm>
            <a:off x="914400" y="1473200"/>
            <a:ext cx="685800" cy="50800"/>
          </a:xfrm>
          <a:prstGeom prst="rect">
            <a:avLst/>
          </a:prstGeom>
          <a:solidFill>
            <a:srgbClr val="2563EB"/>
          </a:solidFill>
          <a:ln>
            <a:noFill/>
          </a:ln>
        </p:spPr>
        <p:txBody>
          <a:bodyPr wrap="square" lIns="0" tIns="0" rIns="0" bIns="0" anchor="t">
            <a:normAutofit/>
          </a:bodyPr>
          <a:lstStyle/>
          <a:p>
            <a:pPr>
              <a:defRPr/>
            </a:pPr>
            <a:endParaRPr/>
          </a:p>
        </p:txBody>
      </p:sp>
      <p:sp>
        <p:nvSpPr>
          <p:cNvPr id="1185284309" name="Message"/>
          <p:cNvSpPr txBox="1"/>
          <p:nvPr/>
        </p:nvSpPr>
        <p:spPr bwMode="auto">
          <a:xfrm>
            <a:off x="914400" y="1981200"/>
            <a:ext cx="6045200" cy="1168400"/>
          </a:xfrm>
          <a:prstGeom prst="rect">
            <a:avLst/>
          </a:prstGeom>
          <a:noFill/>
          <a:ln>
            <a:noFill/>
          </a:ln>
        </p:spPr>
        <p:txBody>
          <a:bodyPr wrap="square" lIns="0" tIns="0" rIns="0" bIns="0" anchor="t">
            <a:normAutofit/>
          </a:bodyPr>
          <a:lstStyle/>
          <a:p>
            <a:pPr>
              <a:lnSpc>
                <a:spcPts val="2800"/>
              </a:lnSpc>
              <a:buNone/>
              <a:defRPr/>
            </a:pPr>
            <a:r>
              <a:rPr lang="fr-FR" sz="2200">
                <a:solidFill>
                  <a:srgbClr val="0B1F3A"/>
                </a:solidFill>
                <a:latin typeface="Segoe UI Semibold"/>
              </a:rPr>
              <a:t>Electio-Analytics souhaite anticiper les tendances électorales à 1–3 ans.</a:t>
            </a:r>
            <a:endParaRPr/>
          </a:p>
        </p:txBody>
      </p:sp>
      <p:sp>
        <p:nvSpPr>
          <p:cNvPr id="2146210628" name="Bullets"/>
          <p:cNvSpPr txBox="1"/>
          <p:nvPr/>
        </p:nvSpPr>
        <p:spPr bwMode="auto">
          <a:xfrm>
            <a:off x="914400" y="3327400"/>
            <a:ext cx="6045200" cy="3175000"/>
          </a:xfrm>
          <a:prstGeom prst="rect">
            <a:avLst/>
          </a:prstGeom>
          <a:noFill/>
          <a:ln>
            <a:noFill/>
          </a:ln>
        </p:spPr>
        <p:txBody>
          <a:bodyPr wrap="square" lIns="0" tIns="0" rIns="0" bIns="0" anchor="t">
            <a:normAutofit/>
          </a:bodyPr>
          <a:lstStyle/>
          <a:p>
            <a:pPr marL="285750" indent="-285750">
              <a:lnSpc>
                <a:spcPts val="2100"/>
              </a:lnSpc>
              <a:spcBef>
                <a:spcPts val="800"/>
              </a:spcBef>
              <a:buClr>
                <a:srgbClr val="2563EB"/>
              </a:buClr>
              <a:buFont typeface="Arial"/>
              <a:buChar char="•"/>
              <a:defRPr/>
            </a:pPr>
            <a:r>
              <a:rPr lang="fr-FR" sz="1600">
                <a:solidFill>
                  <a:srgbClr val="0B1F3A"/>
                </a:solidFill>
              </a:rPr>
              <a:t>Electio-Analytics est un cabinet de conseil stratégique spécialisé dans les campagnes électorales.</a:t>
            </a:r>
            <a:endParaRPr/>
          </a:p>
          <a:p>
            <a:pPr marL="285750" indent="-285750">
              <a:lnSpc>
                <a:spcPts val="2100"/>
              </a:lnSpc>
              <a:spcBef>
                <a:spcPts val="800"/>
              </a:spcBef>
              <a:buClr>
                <a:srgbClr val="2563EB"/>
              </a:buClr>
              <a:buFont typeface="Arial"/>
              <a:buChar char="•"/>
              <a:defRPr/>
            </a:pPr>
            <a:r>
              <a:rPr lang="fr-FR" sz="1600">
                <a:solidFill>
                  <a:srgbClr val="0B1F3A"/>
                </a:solidFill>
              </a:rPr>
              <a:t>Hypothèse : les indicateurs socio-économiques sont des signaux prédictifs du vote.</a:t>
            </a:r>
            <a:endParaRPr/>
          </a:p>
          <a:p>
            <a:pPr marL="285750" indent="-285750">
              <a:lnSpc>
                <a:spcPts val="2100"/>
              </a:lnSpc>
              <a:spcBef>
                <a:spcPts val="800"/>
              </a:spcBef>
              <a:buClr>
                <a:srgbClr val="2563EB"/>
              </a:buClr>
              <a:buFont typeface="Arial"/>
              <a:buChar char="•"/>
              <a:defRPr/>
            </a:pPr>
            <a:r>
              <a:rPr lang="fr-FR" sz="1600">
                <a:solidFill>
                  <a:srgbClr val="0B1F3A"/>
                </a:solidFill>
              </a:rPr>
              <a:t>Terrain d'étude retenu : la région Nouvelle-Aquitaine.</a:t>
            </a:r>
            <a:endParaRPr/>
          </a:p>
          <a:p>
            <a:pPr marL="285750" indent="-285750">
              <a:lnSpc>
                <a:spcPts val="2100"/>
              </a:lnSpc>
              <a:spcBef>
                <a:spcPts val="800"/>
              </a:spcBef>
              <a:buClr>
                <a:srgbClr val="2563EB"/>
              </a:buClr>
              <a:buFont typeface="Arial"/>
              <a:buChar char="•"/>
              <a:defRPr/>
            </a:pPr>
            <a:r>
              <a:rPr lang="fr-FR" sz="1600">
                <a:solidFill>
                  <a:srgbClr val="0B1F3A"/>
                </a:solidFill>
              </a:rPr>
              <a:t>Démarche : prouver la faisabilité par un POC avant tout passage à l'échelle.</a:t>
            </a:r>
            <a:endParaRPr/>
          </a:p>
        </p:txBody>
      </p:sp>
      <p:sp>
        <p:nvSpPr>
          <p:cNvPr id="200791984" name="Stat1"/>
          <p:cNvSpPr/>
          <p:nvPr/>
        </p:nvSpPr>
        <p:spPr bwMode="auto">
          <a:xfrm>
            <a:off x="7366000" y="1981200"/>
            <a:ext cx="3911600" cy="1905000"/>
          </a:xfrm>
          <a:prstGeom prst="roundRect">
            <a:avLst>
              <a:gd name="adj" fmla="val 7000"/>
            </a:avLst>
          </a:prstGeom>
          <a:solidFill>
            <a:srgbClr val="FFFFFF"/>
          </a:solidFill>
          <a:ln w="9525">
            <a:solidFill>
              <a:srgbClr val="E2E8F0"/>
            </a:solidFill>
          </a:ln>
        </p:spPr>
        <p:txBody>
          <a:bodyPr wrap="square" lIns="304800" tIns="304800" rIns="304800" bIns="304800" anchor="ctr">
            <a:normAutofit/>
          </a:bodyPr>
          <a:lstStyle/>
          <a:p>
            <a:pPr>
              <a:buNone/>
              <a:defRPr/>
            </a:pPr>
            <a:r>
              <a:rPr lang="fr-FR" sz="4000">
                <a:solidFill>
                  <a:srgbClr val="2563EB"/>
                </a:solidFill>
                <a:latin typeface="Segoe UI Semibold"/>
              </a:rPr>
              <a:t>1–3 ans</a:t>
            </a:r>
            <a:endParaRPr/>
          </a:p>
          <a:p>
            <a:pPr>
              <a:spcBef>
                <a:spcPts val="500"/>
              </a:spcBef>
              <a:buNone/>
              <a:defRPr/>
            </a:pPr>
            <a:r>
              <a:rPr lang="fr-FR" sz="1400">
                <a:solidFill>
                  <a:srgbClr val="64748B"/>
                </a:solidFill>
              </a:rPr>
              <a:t>Horizon de prédiction visé</a:t>
            </a:r>
            <a:endParaRPr/>
          </a:p>
        </p:txBody>
      </p:sp>
      <p:sp>
        <p:nvSpPr>
          <p:cNvPr id="1054328025" name="Stat2"/>
          <p:cNvSpPr/>
          <p:nvPr/>
        </p:nvSpPr>
        <p:spPr bwMode="auto">
          <a:xfrm>
            <a:off x="7366000" y="4191000"/>
            <a:ext cx="3911600" cy="1930400"/>
          </a:xfrm>
          <a:prstGeom prst="roundRect">
            <a:avLst>
              <a:gd name="adj" fmla="val 7000"/>
            </a:avLst>
          </a:prstGeom>
          <a:solidFill>
            <a:srgbClr val="FFFFFF"/>
          </a:solidFill>
          <a:ln w="9525">
            <a:solidFill>
              <a:srgbClr val="E2E8F0"/>
            </a:solidFill>
          </a:ln>
        </p:spPr>
        <p:txBody>
          <a:bodyPr wrap="square" lIns="304800" tIns="304800" rIns="304800" bIns="304800" anchor="ctr">
            <a:normAutofit/>
          </a:bodyPr>
          <a:lstStyle/>
          <a:p>
            <a:pPr>
              <a:buNone/>
              <a:defRPr/>
            </a:pPr>
            <a:r>
              <a:rPr lang="fr-FR" sz="4000">
                <a:solidFill>
                  <a:srgbClr val="0B1F3A"/>
                </a:solidFill>
                <a:latin typeface="Segoe UI Semibold"/>
              </a:rPr>
              <a:t>POC</a:t>
            </a:r>
            <a:endParaRPr/>
          </a:p>
          <a:p>
            <a:pPr>
              <a:spcBef>
                <a:spcPts val="500"/>
              </a:spcBef>
              <a:buNone/>
              <a:defRPr/>
            </a:pPr>
            <a:r>
              <a:rPr lang="fr-FR" sz="1400">
                <a:solidFill>
                  <a:srgbClr val="64748B"/>
                </a:solidFill>
              </a:rPr>
              <a:t>Preuve de concept comme jalon de validation</a:t>
            </a:r>
            <a:endParaRPr/>
          </a:p>
        </p:txBody>
      </p:sp>
      <p:sp>
        <p:nvSpPr>
          <p:cNvPr id="1836659285" name="Page"/>
          <p:cNvSpPr txBox="1"/>
          <p:nvPr/>
        </p:nvSpPr>
        <p:spPr bwMode="auto">
          <a:xfrm>
            <a:off x="10515600" y="6451600"/>
            <a:ext cx="914400" cy="254000"/>
          </a:xfrm>
          <a:prstGeom prst="rect">
            <a:avLst/>
          </a:prstGeom>
          <a:noFill/>
          <a:ln>
            <a:noFill/>
          </a:ln>
        </p:spPr>
        <p:txBody>
          <a:bodyPr wrap="square" lIns="0" tIns="0" rIns="0" bIns="0" anchor="t">
            <a:normAutofit/>
          </a:bodyPr>
          <a:lstStyle/>
          <a:p>
            <a:pPr algn="r">
              <a:buNone/>
              <a:defRPr/>
            </a:pPr>
            <a:r>
              <a:rPr lang="fr-FR" sz="1400">
                <a:solidFill>
                  <a:srgbClr val="64748B"/>
                </a:solidFill>
              </a:rPr>
              <a:t>03</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med" p14:dur="500" advClick="1">
        <p:fade thruBlk="0"/>
      </p:transition>
    </mc:Choice>
    <mc:Fallback>
      <p:transition spd="med" advClick="1">
        <p:fade thruBlk="0"/>
      </p:transition>
    </mc:Fallback>
  </mc:AlternateContent>
  <p:timing>
    <p:tnLst>
      <p:par>
        <p:cTn id="1" dur="indefinite" restart="never" nodeType="tmRoot">
          <p:childTnLst>
            <p:par>
              <p:cTn id="2" fill="hold">
                <p:stCondLst>
                  <p:cond delay="0"/>
                </p:stCondLst>
                <p:childTnLst>
                  <p:par>
                    <p:cTn id="3" presetID="10" presetClass="entr" presetSubtype="0" fill="hold" grpId="0" nodeType="afterEffect">
                      <p:stCondLst>
                        <p:cond delay="500"/>
                      </p:stCondLst>
                      <p:childTnLst>
                        <p:set>
                          <p:cBhvr>
                            <p:cTn id="4" dur="1" fill="hold">
                              <p:stCondLst>
                                <p:cond delay="0"/>
                              </p:stCondLst>
                            </p:cTn>
                            <p:tgtEl>
                              <p:spTgt spid="677064808"/>
                            </p:tgtEl>
                            <p:attrNameLst>
                              <p:attrName>style.visibility</p:attrName>
                            </p:attrNameLst>
                          </p:cBhvr>
                          <p:to>
                            <p:strVal val="visible"/>
                          </p:to>
                        </p:set>
                        <p:animEffect transition="in" filter="fade">
                          <p:cBhvr>
                            <p:cTn id="5" dur="400"/>
                            <p:tgtEl>
                              <p:spTgt spid="677064808"/>
                            </p:tgtEl>
                          </p:cBhvr>
                        </p:animEffect>
                        <p:anim calcmode="lin" valueType="num">
                          <p:cBhvr additive="base">
                            <p:cTn id="6" dur="400" fill="hold"/>
                            <p:tgtEl>
                              <p:spTgt spid="677064808"/>
                            </p:tgtEl>
                            <p:attrNameLst>
                              <p:attrName>ppt_y</p:attrName>
                            </p:attrNameLst>
                          </p:cBhvr>
                          <p:tavLst>
                            <p:tav tm="0">
                              <p:val>
                                <p:fltVal val="0.045999999999999999"/>
                              </p:val>
                            </p:tav>
                            <p:tav tm="100000">
                              <p:val>
                                <p:fltVal val="0"/>
                              </p:val>
                            </p:tav>
                          </p:tavLst>
                        </p:anim>
                      </p:childTnLst>
                    </p:cTn>
                  </p:par>
                  <p:par>
                    <p:cTn id="7" presetID="10" presetClass="entr" presetSubtype="0" fill="hold" grpId="0" nodeType="afterEffect">
                      <p:stCondLst>
                        <p:cond delay="150"/>
                      </p:stCondLst>
                      <p:childTnLst>
                        <p:set>
                          <p:cBhvr>
                            <p:cTn id="8" dur="1" fill="hold">
                              <p:stCondLst>
                                <p:cond delay="0"/>
                              </p:stCondLst>
                            </p:cTn>
                            <p:tgtEl>
                              <p:spTgt spid="1372775078"/>
                            </p:tgtEl>
                            <p:attrNameLst>
                              <p:attrName>style.visibility</p:attrName>
                            </p:attrNameLst>
                          </p:cBhvr>
                          <p:to>
                            <p:strVal val="visible"/>
                          </p:to>
                        </p:set>
                        <p:animEffect transition="in" filter="fade">
                          <p:cBhvr>
                            <p:cTn id="9" dur="400"/>
                            <p:tgtEl>
                              <p:spTgt spid="1372775078"/>
                            </p:tgtEl>
                          </p:cBhvr>
                        </p:animEffect>
                        <p:anim calcmode="lin" valueType="num">
                          <p:cBhvr additive="base">
                            <p:cTn id="10" dur="400" fill="hold"/>
                            <p:tgtEl>
                              <p:spTgt spid="1372775078"/>
                            </p:tgtEl>
                            <p:attrNameLst>
                              <p:attrName>ppt_y</p:attrName>
                            </p:attrNameLst>
                          </p:cBhvr>
                          <p:tavLst>
                            <p:tav tm="0">
                              <p:val>
                                <p:fltVal val="0.045999999999999999"/>
                              </p:val>
                            </p:tav>
                            <p:tav tm="100000">
                              <p:val>
                                <p:fltVal val="0"/>
                              </p:val>
                            </p:tav>
                          </p:tavLst>
                        </p:anim>
                      </p:childTnLst>
                    </p:cTn>
                  </p:par>
                  <p:par>
                    <p:cTn id="11" presetID="10" presetClass="entr" presetSubtype="0" fill="hold" grpId="0" nodeType="afterEffect">
                      <p:stCondLst>
                        <p:cond delay="150"/>
                      </p:stCondLst>
                      <p:childTnLst>
                        <p:set>
                          <p:cBhvr>
                            <p:cTn id="12" dur="1" fill="hold">
                              <p:stCondLst>
                                <p:cond delay="0"/>
                              </p:stCondLst>
                            </p:cTn>
                            <p:tgtEl>
                              <p:spTgt spid="501627058"/>
                            </p:tgtEl>
                            <p:attrNameLst>
                              <p:attrName>style.visibility</p:attrName>
                            </p:attrNameLst>
                          </p:cBhvr>
                          <p:to>
                            <p:strVal val="visible"/>
                          </p:to>
                        </p:set>
                        <p:animEffect transition="in" filter="fade">
                          <p:cBhvr>
                            <p:cTn id="13" dur="400"/>
                            <p:tgtEl>
                              <p:spTgt spid="501627058"/>
                            </p:tgtEl>
                          </p:cBhvr>
                        </p:animEffect>
                        <p:anim calcmode="lin" valueType="num">
                          <p:cBhvr additive="base">
                            <p:cTn id="14" dur="400" fill="hold"/>
                            <p:tgtEl>
                              <p:spTgt spid="501627058"/>
                            </p:tgtEl>
                            <p:attrNameLst>
                              <p:attrName>ppt_y</p:attrName>
                            </p:attrNameLst>
                          </p:cBhvr>
                          <p:tavLst>
                            <p:tav tm="0">
                              <p:val>
                                <p:fltVal val="0.045999999999999999"/>
                              </p:val>
                            </p:tav>
                            <p:tav tm="100000">
                              <p:val>
                                <p:fltVal val="0"/>
                              </p:val>
                            </p:tav>
                          </p:tavLst>
                        </p:anim>
                      </p:childTnLst>
                    </p:cTn>
                  </p:par>
                  <p:par>
                    <p:cTn id="15" presetID="10" presetClass="entr" presetSubtype="0" fill="hold" grpId="0" nodeType="afterEffect">
                      <p:stCondLst>
                        <p:cond delay="150"/>
                      </p:stCondLst>
                      <p:childTnLst>
                        <p:set>
                          <p:cBhvr>
                            <p:cTn id="16" dur="1" fill="hold">
                              <p:stCondLst>
                                <p:cond delay="0"/>
                              </p:stCondLst>
                            </p:cTn>
                            <p:tgtEl>
                              <p:spTgt spid="1185284309"/>
                            </p:tgtEl>
                            <p:attrNameLst>
                              <p:attrName>style.visibility</p:attrName>
                            </p:attrNameLst>
                          </p:cBhvr>
                          <p:to>
                            <p:strVal val="visible"/>
                          </p:to>
                        </p:set>
                        <p:animEffect transition="in" filter="fade">
                          <p:cBhvr>
                            <p:cTn id="17" dur="400"/>
                            <p:tgtEl>
                              <p:spTgt spid="1185284309"/>
                            </p:tgtEl>
                          </p:cBhvr>
                        </p:animEffect>
                        <p:anim calcmode="lin" valueType="num">
                          <p:cBhvr additive="base">
                            <p:cTn id="18" dur="400" fill="hold"/>
                            <p:tgtEl>
                              <p:spTgt spid="1185284309"/>
                            </p:tgtEl>
                            <p:attrNameLst>
                              <p:attrName>ppt_y</p:attrName>
                            </p:attrNameLst>
                          </p:cBhvr>
                          <p:tavLst>
                            <p:tav tm="0">
                              <p:val>
                                <p:fltVal val="0.045999999999999999"/>
                              </p:val>
                            </p:tav>
                            <p:tav tm="100000">
                              <p:val>
                                <p:fltVal val="0"/>
                              </p:val>
                            </p:tav>
                          </p:tavLst>
                        </p:anim>
                      </p:childTnLst>
                    </p:cTn>
                  </p:par>
                  <p:par>
                    <p:cTn id="19" presetID="10" presetClass="entr" presetSubtype="0" fill="hold" grpId="0" nodeType="afterEffect">
                      <p:stCondLst>
                        <p:cond delay="150"/>
                      </p:stCondLst>
                      <p:childTnLst>
                        <p:set>
                          <p:cBhvr>
                            <p:cTn id="20" dur="1" fill="hold">
                              <p:stCondLst>
                                <p:cond delay="0"/>
                              </p:stCondLst>
                            </p:cTn>
                            <p:tgtEl>
                              <p:spTgt spid="2146210628"/>
                            </p:tgtEl>
                            <p:attrNameLst>
                              <p:attrName>style.visibility</p:attrName>
                            </p:attrNameLst>
                          </p:cBhvr>
                          <p:to>
                            <p:strVal val="visible"/>
                          </p:to>
                        </p:set>
                        <p:animEffect transition="in" filter="fade">
                          <p:cBhvr>
                            <p:cTn id="21" dur="400"/>
                            <p:tgtEl>
                              <p:spTgt spid="2146210628"/>
                            </p:tgtEl>
                          </p:cBhvr>
                        </p:animEffect>
                        <p:anim calcmode="lin" valueType="num">
                          <p:cBhvr additive="base">
                            <p:cTn id="22" dur="400" fill="hold"/>
                            <p:tgtEl>
                              <p:spTgt spid="2146210628"/>
                            </p:tgtEl>
                            <p:attrNameLst>
                              <p:attrName>ppt_y</p:attrName>
                            </p:attrNameLst>
                          </p:cBhvr>
                          <p:tavLst>
                            <p:tav tm="0">
                              <p:val>
                                <p:fltVal val="0.045999999999999999"/>
                              </p:val>
                            </p:tav>
                            <p:tav tm="100000">
                              <p:val>
                                <p:fltVal val="0"/>
                              </p:val>
                            </p:tav>
                          </p:tavLst>
                        </p:anim>
                      </p:childTnLst>
                    </p:cTn>
                  </p:par>
                  <p:par>
                    <p:cTn id="23" presetID="10" presetClass="entr" presetSubtype="0" fill="hold" grpId="0" nodeType="afterEffect">
                      <p:stCondLst>
                        <p:cond delay="150"/>
                      </p:stCondLst>
                      <p:childTnLst>
                        <p:set>
                          <p:cBhvr>
                            <p:cTn id="24" dur="1" fill="hold">
                              <p:stCondLst>
                                <p:cond delay="0"/>
                              </p:stCondLst>
                            </p:cTn>
                            <p:tgtEl>
                              <p:spTgt spid="200791984"/>
                            </p:tgtEl>
                            <p:attrNameLst>
                              <p:attrName>style.visibility</p:attrName>
                            </p:attrNameLst>
                          </p:cBhvr>
                          <p:to>
                            <p:strVal val="visible"/>
                          </p:to>
                        </p:set>
                        <p:animEffect transition="in" filter="fade">
                          <p:cBhvr>
                            <p:cTn id="25" dur="400"/>
                            <p:tgtEl>
                              <p:spTgt spid="200791984"/>
                            </p:tgtEl>
                          </p:cBhvr>
                        </p:animEffect>
                        <p:anim calcmode="lin" valueType="num">
                          <p:cBhvr additive="base">
                            <p:cTn id="26" dur="400" fill="hold"/>
                            <p:tgtEl>
                              <p:spTgt spid="200791984"/>
                            </p:tgtEl>
                            <p:attrNameLst>
                              <p:attrName>ppt_y</p:attrName>
                            </p:attrNameLst>
                          </p:cBhvr>
                          <p:tavLst>
                            <p:tav tm="0">
                              <p:val>
                                <p:fltVal val="0.045999999999999999"/>
                              </p:val>
                            </p:tav>
                            <p:tav tm="100000">
                              <p:val>
                                <p:fltVal val="0"/>
                              </p:val>
                            </p:tav>
                          </p:tavLst>
                        </p:anim>
                      </p:childTnLst>
                    </p:cTn>
                  </p:par>
                  <p:par>
                    <p:cTn id="27" presetID="10" presetClass="entr" presetSubtype="0" fill="hold" grpId="0" nodeType="afterEffect">
                      <p:stCondLst>
                        <p:cond delay="150"/>
                      </p:stCondLst>
                      <p:childTnLst>
                        <p:set>
                          <p:cBhvr>
                            <p:cTn id="28" dur="1" fill="hold">
                              <p:stCondLst>
                                <p:cond delay="0"/>
                              </p:stCondLst>
                            </p:cTn>
                            <p:tgtEl>
                              <p:spTgt spid="1054328025"/>
                            </p:tgtEl>
                            <p:attrNameLst>
                              <p:attrName>style.visibility</p:attrName>
                            </p:attrNameLst>
                          </p:cBhvr>
                          <p:to>
                            <p:strVal val="visible"/>
                          </p:to>
                        </p:set>
                        <p:animEffect transition="in" filter="fade">
                          <p:cBhvr>
                            <p:cTn id="29" dur="400"/>
                            <p:tgtEl>
                              <p:spTgt spid="1054328025"/>
                            </p:tgtEl>
                          </p:cBhvr>
                        </p:animEffect>
                        <p:anim calcmode="lin" valueType="num">
                          <p:cBhvr additive="base">
                            <p:cTn id="30" dur="400" fill="hold"/>
                            <p:tgtEl>
                              <p:spTgt spid="1054328025"/>
                            </p:tgtEl>
                            <p:attrNameLst>
                              <p:attrName>ppt_y</p:attrName>
                            </p:attrNameLst>
                          </p:cBhvr>
                          <p:tavLst>
                            <p:tav tm="0">
                              <p:val>
                                <p:fltVal val="0.045999999999999999"/>
                              </p:val>
                            </p:tav>
                            <p:tav tm="100000">
                              <p:val>
                                <p:fltVal val="0"/>
                              </p:val>
                            </p:tav>
                          </p:tavLst>
                        </p:anim>
                      </p:childTnLst>
                    </p:cTn>
                  </p:par>
                  <p:par>
                    <p:cTn id="31" presetID="10" presetClass="entr" presetSubtype="0" fill="hold" grpId="0" nodeType="afterEffect">
                      <p:stCondLst>
                        <p:cond delay="150"/>
                      </p:stCondLst>
                      <p:childTnLst>
                        <p:set>
                          <p:cBhvr>
                            <p:cTn id="32" dur="1" fill="hold">
                              <p:stCondLst>
                                <p:cond delay="0"/>
                              </p:stCondLst>
                            </p:cTn>
                            <p:tgtEl>
                              <p:spTgt spid="1836659285"/>
                            </p:tgtEl>
                            <p:attrNameLst>
                              <p:attrName>style.visibility</p:attrName>
                            </p:attrNameLst>
                          </p:cBhvr>
                          <p:to>
                            <p:strVal val="visible"/>
                          </p:to>
                        </p:set>
                        <p:animEffect transition="in" filter="fade">
                          <p:cBhvr>
                            <p:cTn id="33" dur="400"/>
                            <p:tgtEl>
                              <p:spTgt spid="1836659285"/>
                            </p:tgtEl>
                          </p:cBhvr>
                        </p:animEffect>
                        <p:anim calcmode="lin" valueType="num">
                          <p:cBhvr additive="base">
                            <p:cTn id="34" dur="400" fill="hold"/>
                            <p:tgtEl>
                              <p:spTgt spid="1836659285"/>
                            </p:tgtEl>
                            <p:attrNameLst>
                              <p:attrName>ppt_y</p:attrName>
                            </p:attrNameLst>
                          </p:cBhvr>
                          <p:tavLst>
                            <p:tav tm="0">
                              <p:val>
                                <p:fltVal val="0.045999999999999999"/>
                              </p:val>
                            </p:tav>
                            <p:tav tm="100000">
                              <p:val>
                                <p:fltVal val="0"/>
                              </p:val>
                            </p:tav>
                          </p:tavLst>
                        </p:anim>
                      </p:childTnLst>
                    </p:cTn>
                  </p:par>
                </p:childTnLst>
              </p:cTn>
            </p:par>
          </p:childTnLst>
        </p:cTn>
      </p:par>
    </p:tnLst>
    <p:bldLst>
      <p:bldP spid="677064808" grpId="0" animBg="1"/>
      <p:bldP spid="1372775078" grpId="0" animBg="1"/>
      <p:bldP spid="501627058" grpId="0" animBg="1"/>
      <p:bldP spid="1185284309" grpId="0" animBg="1"/>
      <p:bldP spid="2146210628" grpId="0" animBg="1"/>
      <p:bldP spid="200791984" grpId="0" animBg="1"/>
      <p:bldP spid="1054328025" grpId="0" animBg="1"/>
      <p:bldP spid="1836659285" grpId="0" animBg="1"/>
    </p:bldLst>
  </p:timing>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507641645" name="Eyebrow"/>
          <p:cNvSpPr txBox="1"/>
          <p:nvPr/>
        </p:nvSpPr>
        <p:spPr bwMode="auto">
          <a:xfrm>
            <a:off x="914400" y="584200"/>
            <a:ext cx="9144000" cy="254000"/>
          </a:xfrm>
          <a:prstGeom prst="rect">
            <a:avLst/>
          </a:prstGeom>
          <a:noFill/>
          <a:ln>
            <a:noFill/>
          </a:ln>
        </p:spPr>
        <p:txBody>
          <a:bodyPr wrap="square" lIns="0" tIns="0" rIns="0" bIns="0" anchor="t">
            <a:normAutofit/>
          </a:bodyPr>
          <a:lstStyle/>
          <a:p>
            <a:pPr>
              <a:buNone/>
              <a:defRPr/>
            </a:pPr>
            <a:r>
              <a:rPr lang="fr-FR" sz="1400" b="1" spc="240">
                <a:solidFill>
                  <a:srgbClr val="64748B"/>
                </a:solidFill>
              </a:rPr>
              <a:t>01 · INTRODUCTION</a:t>
            </a:r>
            <a:endParaRPr/>
          </a:p>
        </p:txBody>
      </p:sp>
      <p:sp>
        <p:nvSpPr>
          <p:cNvPr id="805196746" name="Titre"/>
          <p:cNvSpPr txBox="1"/>
          <p:nvPr/>
        </p:nvSpPr>
        <p:spPr bwMode="auto">
          <a:xfrm>
            <a:off x="914400" y="863599"/>
            <a:ext cx="9652000" cy="508000"/>
          </a:xfrm>
          <a:prstGeom prst="rect">
            <a:avLst/>
          </a:prstGeom>
          <a:noFill/>
          <a:ln>
            <a:noFill/>
          </a:ln>
        </p:spPr>
        <p:txBody>
          <a:bodyPr wrap="square" lIns="0" tIns="0" rIns="0" bIns="0" anchor="t">
            <a:normAutofit/>
          </a:bodyPr>
          <a:lstStyle/>
          <a:p>
            <a:pPr>
              <a:buNone/>
              <a:defRPr/>
            </a:pPr>
            <a:r>
              <a:rPr lang="fr-FR" sz="3000">
                <a:solidFill>
                  <a:srgbClr val="0B1F3A"/>
                </a:solidFill>
                <a:latin typeface="Segoe UI Semibold"/>
              </a:rPr>
              <a:t>Objectifs du POC</a:t>
            </a:r>
            <a:endParaRPr/>
          </a:p>
        </p:txBody>
      </p:sp>
      <p:sp>
        <p:nvSpPr>
          <p:cNvPr id="1950871177" name="Filet"/>
          <p:cNvSpPr/>
          <p:nvPr/>
        </p:nvSpPr>
        <p:spPr bwMode="auto">
          <a:xfrm>
            <a:off x="914400" y="1473200"/>
            <a:ext cx="685800" cy="50800"/>
          </a:xfrm>
          <a:prstGeom prst="rect">
            <a:avLst/>
          </a:prstGeom>
          <a:solidFill>
            <a:srgbClr val="2563EB"/>
          </a:solidFill>
          <a:ln>
            <a:noFill/>
          </a:ln>
        </p:spPr>
        <p:txBody>
          <a:bodyPr wrap="square" lIns="0" tIns="0" rIns="0" bIns="0" anchor="t">
            <a:normAutofit/>
          </a:bodyPr>
          <a:lstStyle/>
          <a:p>
            <a:pPr>
              <a:defRPr/>
            </a:pPr>
            <a:endParaRPr/>
          </a:p>
        </p:txBody>
      </p:sp>
      <p:sp>
        <p:nvSpPr>
          <p:cNvPr id="1722767244" name="ObjT0"/>
          <p:cNvSpPr txBox="1"/>
          <p:nvPr/>
        </p:nvSpPr>
        <p:spPr bwMode="auto">
          <a:xfrm>
            <a:off x="1778000" y="1981200"/>
            <a:ext cx="9499600" cy="330200"/>
          </a:xfrm>
          <a:prstGeom prst="rect">
            <a:avLst/>
          </a:prstGeom>
          <a:noFill/>
          <a:ln>
            <a:noFill/>
          </a:ln>
        </p:spPr>
        <p:txBody>
          <a:bodyPr wrap="square" lIns="0" tIns="0" rIns="0" bIns="0" anchor="t">
            <a:normAutofit/>
          </a:bodyPr>
          <a:lstStyle/>
          <a:p>
            <a:pPr>
              <a:buNone/>
              <a:defRPr/>
            </a:pPr>
            <a:r>
              <a:rPr lang="fr-FR" sz="1800" b="1">
                <a:solidFill>
                  <a:srgbClr val="2563EB"/>
                </a:solidFill>
                <a:latin typeface="Segoe UI Semibold"/>
              </a:rPr>
              <a:t>1.  </a:t>
            </a:r>
            <a:r>
              <a:rPr lang="fr-FR" sz="1800">
                <a:solidFill>
                  <a:srgbClr val="0B1F3A"/>
                </a:solidFill>
                <a:latin typeface="Segoe UI Semibold"/>
              </a:rPr>
              <a:t>Collecter des données publiques</a:t>
            </a:r>
            <a:endParaRPr/>
          </a:p>
        </p:txBody>
      </p:sp>
      <p:sp>
        <p:nvSpPr>
          <p:cNvPr id="66884648" name="ObjD0"/>
          <p:cNvSpPr txBox="1"/>
          <p:nvPr/>
        </p:nvSpPr>
        <p:spPr bwMode="auto">
          <a:xfrm>
            <a:off x="1778000" y="2336800"/>
            <a:ext cx="9499600" cy="279400"/>
          </a:xfrm>
          <a:prstGeom prst="rect">
            <a:avLst/>
          </a:prstGeom>
          <a:noFill/>
          <a:ln>
            <a:noFill/>
          </a:ln>
        </p:spPr>
        <p:txBody>
          <a:bodyPr wrap="square" lIns="0" tIns="0" rIns="0" bIns="0" anchor="t">
            <a:normAutofit/>
          </a:bodyPr>
          <a:lstStyle/>
          <a:p>
            <a:pPr>
              <a:buNone/>
              <a:defRPr/>
            </a:pPr>
            <a:r>
              <a:rPr lang="fr-FR" sz="1400">
                <a:solidFill>
                  <a:srgbClr val="64748B"/>
                </a:solidFill>
              </a:rPr>
              <a:t>Sources ouvertes : INSEE, data.gouv et résultats électoraux.</a:t>
            </a:r>
            <a:endParaRPr/>
          </a:p>
        </p:txBody>
      </p:sp>
      <p:sp>
        <p:nvSpPr>
          <p:cNvPr id="1770388145" name="ObjT1"/>
          <p:cNvSpPr txBox="1"/>
          <p:nvPr/>
        </p:nvSpPr>
        <p:spPr bwMode="auto">
          <a:xfrm>
            <a:off x="1778000" y="2870200"/>
            <a:ext cx="9499600" cy="330200"/>
          </a:xfrm>
          <a:prstGeom prst="rect">
            <a:avLst/>
          </a:prstGeom>
          <a:noFill/>
          <a:ln>
            <a:noFill/>
          </a:ln>
        </p:spPr>
        <p:txBody>
          <a:bodyPr wrap="square" lIns="0" tIns="0" rIns="0" bIns="0" anchor="t">
            <a:normAutofit/>
          </a:bodyPr>
          <a:lstStyle/>
          <a:p>
            <a:pPr>
              <a:buNone/>
              <a:defRPr/>
            </a:pPr>
            <a:r>
              <a:rPr lang="fr-FR" sz="1800" b="1">
                <a:solidFill>
                  <a:srgbClr val="2563EB"/>
                </a:solidFill>
                <a:latin typeface="Segoe UI Semibold"/>
              </a:rPr>
              <a:t>2.  </a:t>
            </a:r>
            <a:r>
              <a:rPr lang="fr-FR" sz="1800">
                <a:solidFill>
                  <a:srgbClr val="0B1F3A"/>
                </a:solidFill>
                <a:latin typeface="Segoe UI Semibold"/>
              </a:rPr>
              <a:t>Construire un pipeline ETL</a:t>
            </a:r>
            <a:endParaRPr/>
          </a:p>
        </p:txBody>
      </p:sp>
      <p:sp>
        <p:nvSpPr>
          <p:cNvPr id="322884113" name="ObjD1"/>
          <p:cNvSpPr txBox="1"/>
          <p:nvPr/>
        </p:nvSpPr>
        <p:spPr bwMode="auto">
          <a:xfrm>
            <a:off x="1778000" y="3225800"/>
            <a:ext cx="9499600" cy="279400"/>
          </a:xfrm>
          <a:prstGeom prst="rect">
            <a:avLst/>
          </a:prstGeom>
          <a:noFill/>
          <a:ln>
            <a:noFill/>
          </a:ln>
        </p:spPr>
        <p:txBody>
          <a:bodyPr wrap="square" lIns="0" tIns="0" rIns="0" bIns="0" anchor="t">
            <a:normAutofit/>
          </a:bodyPr>
          <a:lstStyle/>
          <a:p>
            <a:pPr>
              <a:buNone/>
              <a:defRPr/>
            </a:pPr>
            <a:r>
              <a:rPr lang="fr-FR" sz="1400">
                <a:solidFill>
                  <a:srgbClr val="64748B"/>
                </a:solidFill>
              </a:rPr>
              <a:t>Extraction, nettoyage et consolidation automatisés des données.</a:t>
            </a:r>
            <a:endParaRPr/>
          </a:p>
        </p:txBody>
      </p:sp>
      <p:sp>
        <p:nvSpPr>
          <p:cNvPr id="495103737" name="Sep1"/>
          <p:cNvSpPr/>
          <p:nvPr/>
        </p:nvSpPr>
        <p:spPr bwMode="auto">
          <a:xfrm>
            <a:off x="914400" y="2717800"/>
            <a:ext cx="10363200" cy="12700"/>
          </a:xfrm>
          <a:prstGeom prst="rect">
            <a:avLst/>
          </a:prstGeom>
          <a:solidFill>
            <a:srgbClr val="EEF1F5"/>
          </a:solidFill>
          <a:ln>
            <a:noFill/>
          </a:ln>
        </p:spPr>
        <p:txBody>
          <a:bodyPr wrap="square" lIns="0" tIns="0" rIns="0" bIns="0" anchor="t">
            <a:normAutofit/>
          </a:bodyPr>
          <a:lstStyle/>
          <a:p>
            <a:pPr>
              <a:defRPr/>
            </a:pPr>
            <a:endParaRPr/>
          </a:p>
        </p:txBody>
      </p:sp>
      <p:sp>
        <p:nvSpPr>
          <p:cNvPr id="1919477321" name="ObjT2"/>
          <p:cNvSpPr txBox="1"/>
          <p:nvPr/>
        </p:nvSpPr>
        <p:spPr bwMode="auto">
          <a:xfrm>
            <a:off x="1778000" y="3759200"/>
            <a:ext cx="9499600" cy="330200"/>
          </a:xfrm>
          <a:prstGeom prst="rect">
            <a:avLst/>
          </a:prstGeom>
          <a:noFill/>
          <a:ln>
            <a:noFill/>
          </a:ln>
        </p:spPr>
        <p:txBody>
          <a:bodyPr wrap="square" lIns="0" tIns="0" rIns="0" bIns="0" anchor="t">
            <a:normAutofit/>
          </a:bodyPr>
          <a:lstStyle/>
          <a:p>
            <a:pPr>
              <a:buNone/>
              <a:defRPr/>
            </a:pPr>
            <a:r>
              <a:rPr lang="fr-FR" sz="1800" b="1">
                <a:solidFill>
                  <a:srgbClr val="2563EB"/>
                </a:solidFill>
                <a:latin typeface="Segoe UI Semibold"/>
              </a:rPr>
              <a:t>3.  </a:t>
            </a:r>
            <a:r>
              <a:rPr lang="fr-FR" sz="1800">
                <a:solidFill>
                  <a:srgbClr val="0B1F3A"/>
                </a:solidFill>
                <a:latin typeface="Segoe UI Semibold"/>
              </a:rPr>
              <a:t>Identifier les indicateurs clés</a:t>
            </a:r>
            <a:endParaRPr/>
          </a:p>
        </p:txBody>
      </p:sp>
      <p:sp>
        <p:nvSpPr>
          <p:cNvPr id="1745616603" name="ObjD2"/>
          <p:cNvSpPr txBox="1"/>
          <p:nvPr/>
        </p:nvSpPr>
        <p:spPr bwMode="auto">
          <a:xfrm>
            <a:off x="1778000" y="4114800"/>
            <a:ext cx="9499600" cy="279400"/>
          </a:xfrm>
          <a:prstGeom prst="rect">
            <a:avLst/>
          </a:prstGeom>
          <a:noFill/>
          <a:ln>
            <a:noFill/>
          </a:ln>
        </p:spPr>
        <p:txBody>
          <a:bodyPr wrap="square" lIns="0" tIns="0" rIns="0" bIns="0" anchor="t">
            <a:normAutofit/>
          </a:bodyPr>
          <a:lstStyle/>
          <a:p>
            <a:pPr>
              <a:buNone/>
              <a:defRPr/>
            </a:pPr>
            <a:r>
              <a:rPr lang="fr-FR" sz="1400">
                <a:solidFill>
                  <a:srgbClr val="64748B"/>
                </a:solidFill>
              </a:rPr>
              <a:t>Sélectionner les variables socio-économiques les plus prédictives.</a:t>
            </a:r>
            <a:endParaRPr/>
          </a:p>
        </p:txBody>
      </p:sp>
      <p:sp>
        <p:nvSpPr>
          <p:cNvPr id="600005892" name="Sep2"/>
          <p:cNvSpPr/>
          <p:nvPr/>
        </p:nvSpPr>
        <p:spPr bwMode="auto">
          <a:xfrm>
            <a:off x="914400" y="3606800"/>
            <a:ext cx="10363200" cy="12700"/>
          </a:xfrm>
          <a:prstGeom prst="rect">
            <a:avLst/>
          </a:prstGeom>
          <a:solidFill>
            <a:srgbClr val="EEF1F5"/>
          </a:solidFill>
          <a:ln>
            <a:noFill/>
          </a:ln>
        </p:spPr>
        <p:txBody>
          <a:bodyPr wrap="square" lIns="0" tIns="0" rIns="0" bIns="0" anchor="t">
            <a:normAutofit/>
          </a:bodyPr>
          <a:lstStyle/>
          <a:p>
            <a:pPr>
              <a:defRPr/>
            </a:pPr>
            <a:endParaRPr/>
          </a:p>
        </p:txBody>
      </p:sp>
      <p:sp>
        <p:nvSpPr>
          <p:cNvPr id="1453495267" name="ObjT3"/>
          <p:cNvSpPr txBox="1"/>
          <p:nvPr/>
        </p:nvSpPr>
        <p:spPr bwMode="auto">
          <a:xfrm>
            <a:off x="1778000" y="4648200"/>
            <a:ext cx="9499600" cy="330200"/>
          </a:xfrm>
          <a:prstGeom prst="rect">
            <a:avLst/>
          </a:prstGeom>
          <a:noFill/>
          <a:ln>
            <a:noFill/>
          </a:ln>
        </p:spPr>
        <p:txBody>
          <a:bodyPr wrap="square" lIns="0" tIns="0" rIns="0" bIns="0" anchor="t">
            <a:normAutofit/>
          </a:bodyPr>
          <a:lstStyle/>
          <a:p>
            <a:pPr>
              <a:buNone/>
              <a:defRPr/>
            </a:pPr>
            <a:r>
              <a:rPr lang="fr-FR" sz="1800" b="1">
                <a:solidFill>
                  <a:srgbClr val="2563EB"/>
                </a:solidFill>
                <a:latin typeface="Segoe UI Semibold"/>
              </a:rPr>
              <a:t>4.  </a:t>
            </a:r>
            <a:r>
              <a:rPr lang="fr-FR" sz="1800">
                <a:solidFill>
                  <a:srgbClr val="0B1F3A"/>
                </a:solidFill>
                <a:latin typeface="Segoe UI Semibold"/>
              </a:rPr>
              <a:t>Comparer des modèles de Machine Learning</a:t>
            </a:r>
            <a:endParaRPr/>
          </a:p>
        </p:txBody>
      </p:sp>
      <p:sp>
        <p:nvSpPr>
          <p:cNvPr id="631712216" name="ObjD3"/>
          <p:cNvSpPr txBox="1"/>
          <p:nvPr/>
        </p:nvSpPr>
        <p:spPr bwMode="auto">
          <a:xfrm>
            <a:off x="1778000" y="5003800"/>
            <a:ext cx="9499600" cy="279400"/>
          </a:xfrm>
          <a:prstGeom prst="rect">
            <a:avLst/>
          </a:prstGeom>
          <a:noFill/>
          <a:ln>
            <a:noFill/>
          </a:ln>
        </p:spPr>
        <p:txBody>
          <a:bodyPr wrap="square" lIns="0" tIns="0" rIns="0" bIns="0" anchor="t">
            <a:normAutofit/>
          </a:bodyPr>
          <a:lstStyle/>
          <a:p>
            <a:pPr>
              <a:buNone/>
              <a:defRPr/>
            </a:pPr>
            <a:r>
              <a:rPr lang="fr-FR" sz="1400">
                <a:solidFill>
                  <a:srgbClr val="64748B"/>
                </a:solidFill>
              </a:rPr>
              <a:t>Évaluer plusieurs algorithmes et retenir le plus performant.</a:t>
            </a:r>
            <a:endParaRPr/>
          </a:p>
        </p:txBody>
      </p:sp>
      <p:sp>
        <p:nvSpPr>
          <p:cNvPr id="2058086624" name="Sep3"/>
          <p:cNvSpPr/>
          <p:nvPr/>
        </p:nvSpPr>
        <p:spPr bwMode="auto">
          <a:xfrm>
            <a:off x="914400" y="4495800"/>
            <a:ext cx="10363200" cy="12700"/>
          </a:xfrm>
          <a:prstGeom prst="rect">
            <a:avLst/>
          </a:prstGeom>
          <a:solidFill>
            <a:srgbClr val="EEF1F5"/>
          </a:solidFill>
          <a:ln>
            <a:noFill/>
          </a:ln>
        </p:spPr>
        <p:txBody>
          <a:bodyPr wrap="square" lIns="0" tIns="0" rIns="0" bIns="0" anchor="t">
            <a:normAutofit/>
          </a:bodyPr>
          <a:lstStyle/>
          <a:p>
            <a:pPr>
              <a:defRPr/>
            </a:pPr>
            <a:endParaRPr/>
          </a:p>
        </p:txBody>
      </p:sp>
      <p:sp>
        <p:nvSpPr>
          <p:cNvPr id="411521796" name="ObjT4"/>
          <p:cNvSpPr txBox="1"/>
          <p:nvPr/>
        </p:nvSpPr>
        <p:spPr bwMode="auto">
          <a:xfrm>
            <a:off x="1778000" y="5537200"/>
            <a:ext cx="9499600" cy="330200"/>
          </a:xfrm>
          <a:prstGeom prst="rect">
            <a:avLst/>
          </a:prstGeom>
          <a:noFill/>
          <a:ln>
            <a:noFill/>
          </a:ln>
        </p:spPr>
        <p:txBody>
          <a:bodyPr wrap="square" lIns="0" tIns="0" rIns="0" bIns="0" anchor="t">
            <a:normAutofit/>
          </a:bodyPr>
          <a:lstStyle/>
          <a:p>
            <a:pPr>
              <a:buNone/>
              <a:defRPr/>
            </a:pPr>
            <a:r>
              <a:rPr lang="fr-FR" sz="1800" b="1">
                <a:solidFill>
                  <a:srgbClr val="2563EB"/>
                </a:solidFill>
                <a:latin typeface="Segoe UI Semibold"/>
              </a:rPr>
              <a:t>5.  </a:t>
            </a:r>
            <a:r>
              <a:rPr lang="fr-FR" sz="1800">
                <a:solidFill>
                  <a:srgbClr val="0B1F3A"/>
                </a:solidFill>
                <a:latin typeface="Segoe UI Semibold"/>
              </a:rPr>
              <a:t>Restituer via un dashboard</a:t>
            </a:r>
            <a:endParaRPr/>
          </a:p>
        </p:txBody>
      </p:sp>
      <p:sp>
        <p:nvSpPr>
          <p:cNvPr id="1124720811" name="ObjD4"/>
          <p:cNvSpPr txBox="1"/>
          <p:nvPr/>
        </p:nvSpPr>
        <p:spPr bwMode="auto">
          <a:xfrm>
            <a:off x="1778000" y="5892800"/>
            <a:ext cx="9499600" cy="279400"/>
          </a:xfrm>
          <a:prstGeom prst="rect">
            <a:avLst/>
          </a:prstGeom>
          <a:noFill/>
          <a:ln>
            <a:noFill/>
          </a:ln>
        </p:spPr>
        <p:txBody>
          <a:bodyPr wrap="square" lIns="0" tIns="0" rIns="0" bIns="0" anchor="t">
            <a:normAutofit/>
          </a:bodyPr>
          <a:lstStyle/>
          <a:p>
            <a:pPr>
              <a:buNone/>
              <a:defRPr/>
            </a:pPr>
            <a:r>
              <a:rPr lang="fr-FR" sz="1400">
                <a:solidFill>
                  <a:srgbClr val="64748B"/>
                </a:solidFill>
              </a:rPr>
              <a:t>Visualiser les prédictions dans une interface décisionnelle.</a:t>
            </a:r>
            <a:endParaRPr/>
          </a:p>
        </p:txBody>
      </p:sp>
      <p:sp>
        <p:nvSpPr>
          <p:cNvPr id="365218999" name="Sep4"/>
          <p:cNvSpPr/>
          <p:nvPr/>
        </p:nvSpPr>
        <p:spPr bwMode="auto">
          <a:xfrm>
            <a:off x="914400" y="5384800"/>
            <a:ext cx="10363200" cy="12700"/>
          </a:xfrm>
          <a:prstGeom prst="rect">
            <a:avLst/>
          </a:prstGeom>
          <a:solidFill>
            <a:srgbClr val="EEF1F5"/>
          </a:solidFill>
          <a:ln>
            <a:noFill/>
          </a:ln>
        </p:spPr>
        <p:txBody>
          <a:bodyPr wrap="square" lIns="0" tIns="0" rIns="0" bIns="0" anchor="t">
            <a:normAutofit/>
          </a:bodyPr>
          <a:lstStyle/>
          <a:p>
            <a:pPr>
              <a:defRPr/>
            </a:pPr>
            <a:endParaRPr/>
          </a:p>
        </p:txBody>
      </p:sp>
      <p:sp>
        <p:nvSpPr>
          <p:cNvPr id="1547754614" name="Page"/>
          <p:cNvSpPr txBox="1"/>
          <p:nvPr/>
        </p:nvSpPr>
        <p:spPr bwMode="auto">
          <a:xfrm>
            <a:off x="10515600" y="6451600"/>
            <a:ext cx="914400" cy="254000"/>
          </a:xfrm>
          <a:prstGeom prst="rect">
            <a:avLst/>
          </a:prstGeom>
          <a:noFill/>
          <a:ln>
            <a:noFill/>
          </a:ln>
        </p:spPr>
        <p:txBody>
          <a:bodyPr wrap="square" lIns="0" tIns="0" rIns="0" bIns="0" anchor="t">
            <a:normAutofit/>
          </a:bodyPr>
          <a:lstStyle/>
          <a:p>
            <a:pPr algn="r">
              <a:buNone/>
              <a:defRPr/>
            </a:pPr>
            <a:r>
              <a:rPr lang="fr-FR" sz="1400">
                <a:solidFill>
                  <a:srgbClr val="64748B"/>
                </a:solidFill>
              </a:rPr>
              <a:t>04</a:t>
            </a:r>
            <a:endParaRPr/>
          </a:p>
        </p:txBody>
      </p:sp>
      <p:pic>
        <p:nvPicPr>
          <p:cNvPr id="1164654773" name="Graphic 75" descr="Collecte de données"/>
          <p:cNvPicPr>
            <a:picLocks noChangeAspect="1"/>
          </p:cNvPicPr>
          <p:nvPr/>
        </p:nvPicPr>
        <p:blipFill rotWithShape="1">
          <a:blip r:embed="rId3">
            <a:extLst>
              <a:ext uri="{96DAC541-7B7A-43D3-8B79-37D633B846F1}">
                <asvg:svgBlip xmlns:asvg="http://schemas.microsoft.com/office/drawing/2016/SVG/main" r:embed="rId4"/>
              </a:ext>
            </a:extLst>
          </a:blip>
          <a:stretch/>
        </p:blipFill>
        <p:spPr bwMode="auto">
          <a:xfrm>
            <a:off x="1016000" y="2082800"/>
            <a:ext cx="508000" cy="508000"/>
          </a:xfrm>
          <a:prstGeom prst="rect">
            <a:avLst/>
          </a:prstGeom>
        </p:spPr>
      </p:pic>
      <p:pic>
        <p:nvPicPr>
          <p:cNvPr id="1774233212" name="Graphic 76" descr="Pipeline ETL"/>
          <p:cNvPicPr>
            <a:picLocks noChangeAspect="1"/>
          </p:cNvPicPr>
          <p:nvPr/>
        </p:nvPicPr>
        <p:blipFill rotWithShape="1">
          <a:blip r:embed="rId5">
            <a:extLst>
              <a:ext uri="{96DAC541-7B7A-43D3-8B79-37D633B846F1}">
                <asvg:svgBlip xmlns:asvg="http://schemas.microsoft.com/office/drawing/2016/SVG/main" r:embed="rId6"/>
              </a:ext>
            </a:extLst>
          </a:blip>
          <a:stretch/>
        </p:blipFill>
        <p:spPr bwMode="auto">
          <a:xfrm>
            <a:off x="1016000" y="2971800"/>
            <a:ext cx="508000" cy="508000"/>
          </a:xfrm>
          <a:prstGeom prst="rect">
            <a:avLst/>
          </a:prstGeom>
        </p:spPr>
      </p:pic>
      <p:pic>
        <p:nvPicPr>
          <p:cNvPr id="1583490847" name="Graphic 77" descr="Indicateurs clés"/>
          <p:cNvPicPr>
            <a:picLocks noChangeAspect="1"/>
          </p:cNvPicPr>
          <p:nvPr/>
        </p:nvPicPr>
        <p:blipFill rotWithShape="1">
          <a:blip r:embed="rId7">
            <a:extLst>
              <a:ext uri="{96DAC541-7B7A-43D3-8B79-37D633B846F1}">
                <asvg:svgBlip xmlns:asvg="http://schemas.microsoft.com/office/drawing/2016/SVG/main" r:embed="rId8"/>
              </a:ext>
            </a:extLst>
          </a:blip>
          <a:stretch/>
        </p:blipFill>
        <p:spPr bwMode="auto">
          <a:xfrm>
            <a:off x="1016000" y="3860800"/>
            <a:ext cx="508000" cy="508000"/>
          </a:xfrm>
          <a:prstGeom prst="rect">
            <a:avLst/>
          </a:prstGeom>
        </p:spPr>
      </p:pic>
      <p:pic>
        <p:nvPicPr>
          <p:cNvPr id="684176104" name="Graphic 78" descr="Comparaison de modèles"/>
          <p:cNvPicPr>
            <a:picLocks noChangeAspect="1"/>
          </p:cNvPicPr>
          <p:nvPr/>
        </p:nvPicPr>
        <p:blipFill rotWithShape="1">
          <a:blip r:embed="rId9">
            <a:extLst>
              <a:ext uri="{96DAC541-7B7A-43D3-8B79-37D633B846F1}">
                <asvg:svgBlip xmlns:asvg="http://schemas.microsoft.com/office/drawing/2016/SVG/main" r:embed="rId10"/>
              </a:ext>
            </a:extLst>
          </a:blip>
          <a:stretch/>
        </p:blipFill>
        <p:spPr bwMode="auto">
          <a:xfrm>
            <a:off x="1016000" y="4749800"/>
            <a:ext cx="508000" cy="508000"/>
          </a:xfrm>
          <a:prstGeom prst="rect">
            <a:avLst/>
          </a:prstGeom>
        </p:spPr>
      </p:pic>
      <p:pic>
        <p:nvPicPr>
          <p:cNvPr id="867192308" name="Graphic 79" descr="Dashboard"/>
          <p:cNvPicPr>
            <a:picLocks noChangeAspect="1"/>
          </p:cNvPicPr>
          <p:nvPr/>
        </p:nvPicPr>
        <p:blipFill rotWithShape="1">
          <a:blip r:embed="rId11">
            <a:extLst>
              <a:ext uri="{96DAC541-7B7A-43D3-8B79-37D633B846F1}">
                <asvg:svgBlip xmlns:asvg="http://schemas.microsoft.com/office/drawing/2016/SVG/main" r:embed="rId12"/>
              </a:ext>
            </a:extLst>
          </a:blip>
          <a:stretch/>
        </p:blipFill>
        <p:spPr bwMode="auto">
          <a:xfrm>
            <a:off x="1016000" y="5638800"/>
            <a:ext cx="508000" cy="508000"/>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med" p14:dur="500" advClick="1">
        <p:fade thruBlk="0"/>
      </p:transition>
    </mc:Choice>
    <mc:Fallback>
      <p:transition spd="med" advClick="1">
        <p:fade thruBlk="0"/>
      </p:transition>
    </mc:Fallback>
  </mc:AlternateContent>
  <p:timing>
    <p:tnLst>
      <p:par>
        <p:cTn id="1" dur="indefinite" restart="never" nodeType="tmRoot">
          <p:childTnLst>
            <p:par>
              <p:cTn id="2" fill="hold">
                <p:stCondLst>
                  <p:cond delay="0"/>
                </p:stCondLst>
                <p:childTnLst>
                  <p:par>
                    <p:cTn id="3" presetID="10" presetClass="entr" presetSubtype="0" fill="hold" grpId="0" nodeType="afterEffect">
                      <p:stCondLst>
                        <p:cond delay="500"/>
                      </p:stCondLst>
                      <p:childTnLst>
                        <p:set>
                          <p:cBhvr>
                            <p:cTn id="4" dur="1" fill="hold">
                              <p:stCondLst>
                                <p:cond delay="0"/>
                              </p:stCondLst>
                            </p:cTn>
                            <p:tgtEl>
                              <p:spTgt spid="507641645"/>
                            </p:tgtEl>
                            <p:attrNameLst>
                              <p:attrName>style.visibility</p:attrName>
                            </p:attrNameLst>
                          </p:cBhvr>
                          <p:to>
                            <p:strVal val="visible"/>
                          </p:to>
                        </p:set>
                        <p:animEffect transition="in" filter="fade">
                          <p:cBhvr>
                            <p:cTn id="5" dur="400"/>
                            <p:tgtEl>
                              <p:spTgt spid="507641645"/>
                            </p:tgtEl>
                          </p:cBhvr>
                        </p:animEffect>
                        <p:anim calcmode="lin" valueType="num">
                          <p:cBhvr additive="base">
                            <p:cTn id="6" dur="400" fill="hold"/>
                            <p:tgtEl>
                              <p:spTgt spid="507641645"/>
                            </p:tgtEl>
                            <p:attrNameLst>
                              <p:attrName>ppt_y</p:attrName>
                            </p:attrNameLst>
                          </p:cBhvr>
                          <p:tavLst>
                            <p:tav tm="0">
                              <p:val>
                                <p:fltVal val="0.045999999999999999"/>
                              </p:val>
                            </p:tav>
                            <p:tav tm="100000">
                              <p:val>
                                <p:fltVal val="0"/>
                              </p:val>
                            </p:tav>
                          </p:tavLst>
                        </p:anim>
                      </p:childTnLst>
                    </p:cTn>
                  </p:par>
                  <p:par>
                    <p:cTn id="7" presetID="10" presetClass="entr" presetSubtype="0" fill="hold" grpId="0" nodeType="afterEffect">
                      <p:stCondLst>
                        <p:cond delay="150"/>
                      </p:stCondLst>
                      <p:childTnLst>
                        <p:set>
                          <p:cBhvr>
                            <p:cTn id="8" dur="1" fill="hold">
                              <p:stCondLst>
                                <p:cond delay="0"/>
                              </p:stCondLst>
                            </p:cTn>
                            <p:tgtEl>
                              <p:spTgt spid="805196746"/>
                            </p:tgtEl>
                            <p:attrNameLst>
                              <p:attrName>style.visibility</p:attrName>
                            </p:attrNameLst>
                          </p:cBhvr>
                          <p:to>
                            <p:strVal val="visible"/>
                          </p:to>
                        </p:set>
                        <p:animEffect transition="in" filter="fade">
                          <p:cBhvr>
                            <p:cTn id="9" dur="400"/>
                            <p:tgtEl>
                              <p:spTgt spid="805196746"/>
                            </p:tgtEl>
                          </p:cBhvr>
                        </p:animEffect>
                        <p:anim calcmode="lin" valueType="num">
                          <p:cBhvr additive="base">
                            <p:cTn id="10" dur="400" fill="hold"/>
                            <p:tgtEl>
                              <p:spTgt spid="805196746"/>
                            </p:tgtEl>
                            <p:attrNameLst>
                              <p:attrName>ppt_y</p:attrName>
                            </p:attrNameLst>
                          </p:cBhvr>
                          <p:tavLst>
                            <p:tav tm="0">
                              <p:val>
                                <p:fltVal val="0.045999999999999999"/>
                              </p:val>
                            </p:tav>
                            <p:tav tm="100000">
                              <p:val>
                                <p:fltVal val="0"/>
                              </p:val>
                            </p:tav>
                          </p:tavLst>
                        </p:anim>
                      </p:childTnLst>
                    </p:cTn>
                  </p:par>
                  <p:par>
                    <p:cTn id="11" presetID="10" presetClass="entr" presetSubtype="0" fill="hold" grpId="0" nodeType="afterEffect">
                      <p:stCondLst>
                        <p:cond delay="150"/>
                      </p:stCondLst>
                      <p:childTnLst>
                        <p:set>
                          <p:cBhvr>
                            <p:cTn id="12" dur="1" fill="hold">
                              <p:stCondLst>
                                <p:cond delay="0"/>
                              </p:stCondLst>
                            </p:cTn>
                            <p:tgtEl>
                              <p:spTgt spid="1950871177"/>
                            </p:tgtEl>
                            <p:attrNameLst>
                              <p:attrName>style.visibility</p:attrName>
                            </p:attrNameLst>
                          </p:cBhvr>
                          <p:to>
                            <p:strVal val="visible"/>
                          </p:to>
                        </p:set>
                        <p:animEffect transition="in" filter="fade">
                          <p:cBhvr>
                            <p:cTn id="13" dur="400"/>
                            <p:tgtEl>
                              <p:spTgt spid="1950871177"/>
                            </p:tgtEl>
                          </p:cBhvr>
                        </p:animEffect>
                        <p:anim calcmode="lin" valueType="num">
                          <p:cBhvr additive="base">
                            <p:cTn id="14" dur="400" fill="hold"/>
                            <p:tgtEl>
                              <p:spTgt spid="1950871177"/>
                            </p:tgtEl>
                            <p:attrNameLst>
                              <p:attrName>ppt_y</p:attrName>
                            </p:attrNameLst>
                          </p:cBhvr>
                          <p:tavLst>
                            <p:tav tm="0">
                              <p:val>
                                <p:fltVal val="0.045999999999999999"/>
                              </p:val>
                            </p:tav>
                            <p:tav tm="100000">
                              <p:val>
                                <p:fltVal val="0"/>
                              </p:val>
                            </p:tav>
                          </p:tavLst>
                        </p:anim>
                      </p:childTnLst>
                    </p:cTn>
                  </p:par>
                  <p:par>
                    <p:cTn id="15" presetID="10" presetClass="entr" presetSubtype="0" fill="hold" grpId="0" nodeType="afterEffect">
                      <p:stCondLst>
                        <p:cond delay="150"/>
                      </p:stCondLst>
                      <p:childTnLst>
                        <p:set>
                          <p:cBhvr>
                            <p:cTn id="16" dur="1" fill="hold">
                              <p:stCondLst>
                                <p:cond delay="0"/>
                              </p:stCondLst>
                            </p:cTn>
                            <p:tgtEl>
                              <p:spTgt spid="1722767244"/>
                            </p:tgtEl>
                            <p:attrNameLst>
                              <p:attrName>style.visibility</p:attrName>
                            </p:attrNameLst>
                          </p:cBhvr>
                          <p:to>
                            <p:strVal val="visible"/>
                          </p:to>
                        </p:set>
                        <p:animEffect transition="in" filter="fade">
                          <p:cBhvr>
                            <p:cTn id="17" dur="400"/>
                            <p:tgtEl>
                              <p:spTgt spid="1722767244"/>
                            </p:tgtEl>
                          </p:cBhvr>
                        </p:animEffect>
                        <p:anim calcmode="lin" valueType="num">
                          <p:cBhvr additive="base">
                            <p:cTn id="18" dur="400" fill="hold"/>
                            <p:tgtEl>
                              <p:spTgt spid="1722767244"/>
                            </p:tgtEl>
                            <p:attrNameLst>
                              <p:attrName>ppt_y</p:attrName>
                            </p:attrNameLst>
                          </p:cBhvr>
                          <p:tavLst>
                            <p:tav tm="0">
                              <p:val>
                                <p:fltVal val="0.045999999999999999"/>
                              </p:val>
                            </p:tav>
                            <p:tav tm="100000">
                              <p:val>
                                <p:fltVal val="0"/>
                              </p:val>
                            </p:tav>
                          </p:tavLst>
                        </p:anim>
                      </p:childTnLst>
                    </p:cTn>
                  </p:par>
                  <p:par>
                    <p:cTn id="19" presetID="10" presetClass="entr" presetSubtype="0" fill="hold" grpId="0" nodeType="afterEffect">
                      <p:stCondLst>
                        <p:cond delay="150"/>
                      </p:stCondLst>
                      <p:childTnLst>
                        <p:set>
                          <p:cBhvr>
                            <p:cTn id="20" dur="1" fill="hold">
                              <p:stCondLst>
                                <p:cond delay="0"/>
                              </p:stCondLst>
                            </p:cTn>
                            <p:tgtEl>
                              <p:spTgt spid="66884648"/>
                            </p:tgtEl>
                            <p:attrNameLst>
                              <p:attrName>style.visibility</p:attrName>
                            </p:attrNameLst>
                          </p:cBhvr>
                          <p:to>
                            <p:strVal val="visible"/>
                          </p:to>
                        </p:set>
                        <p:animEffect transition="in" filter="fade">
                          <p:cBhvr>
                            <p:cTn id="21" dur="400"/>
                            <p:tgtEl>
                              <p:spTgt spid="66884648"/>
                            </p:tgtEl>
                          </p:cBhvr>
                        </p:animEffect>
                        <p:anim calcmode="lin" valueType="num">
                          <p:cBhvr additive="base">
                            <p:cTn id="22" dur="400" fill="hold"/>
                            <p:tgtEl>
                              <p:spTgt spid="66884648"/>
                            </p:tgtEl>
                            <p:attrNameLst>
                              <p:attrName>ppt_y</p:attrName>
                            </p:attrNameLst>
                          </p:cBhvr>
                          <p:tavLst>
                            <p:tav tm="0">
                              <p:val>
                                <p:fltVal val="0.045999999999999999"/>
                              </p:val>
                            </p:tav>
                            <p:tav tm="100000">
                              <p:val>
                                <p:fltVal val="0"/>
                              </p:val>
                            </p:tav>
                          </p:tavLst>
                        </p:anim>
                      </p:childTnLst>
                    </p:cTn>
                  </p:par>
                  <p:par>
                    <p:cTn id="23" presetID="10" presetClass="entr" presetSubtype="0" fill="hold" grpId="0" nodeType="afterEffect">
                      <p:stCondLst>
                        <p:cond delay="150"/>
                      </p:stCondLst>
                      <p:childTnLst>
                        <p:set>
                          <p:cBhvr>
                            <p:cTn id="24" dur="1" fill="hold">
                              <p:stCondLst>
                                <p:cond delay="0"/>
                              </p:stCondLst>
                            </p:cTn>
                            <p:tgtEl>
                              <p:spTgt spid="1770388145"/>
                            </p:tgtEl>
                            <p:attrNameLst>
                              <p:attrName>style.visibility</p:attrName>
                            </p:attrNameLst>
                          </p:cBhvr>
                          <p:to>
                            <p:strVal val="visible"/>
                          </p:to>
                        </p:set>
                        <p:animEffect transition="in" filter="fade">
                          <p:cBhvr>
                            <p:cTn id="25" dur="400"/>
                            <p:tgtEl>
                              <p:spTgt spid="1770388145"/>
                            </p:tgtEl>
                          </p:cBhvr>
                        </p:animEffect>
                        <p:anim calcmode="lin" valueType="num">
                          <p:cBhvr additive="base">
                            <p:cTn id="26" dur="400" fill="hold"/>
                            <p:tgtEl>
                              <p:spTgt spid="1770388145"/>
                            </p:tgtEl>
                            <p:attrNameLst>
                              <p:attrName>ppt_y</p:attrName>
                            </p:attrNameLst>
                          </p:cBhvr>
                          <p:tavLst>
                            <p:tav tm="0">
                              <p:val>
                                <p:fltVal val="0.045999999999999999"/>
                              </p:val>
                            </p:tav>
                            <p:tav tm="100000">
                              <p:val>
                                <p:fltVal val="0"/>
                              </p:val>
                            </p:tav>
                          </p:tavLst>
                        </p:anim>
                      </p:childTnLst>
                    </p:cTn>
                  </p:par>
                  <p:par>
                    <p:cTn id="27" presetID="10" presetClass="entr" presetSubtype="0" fill="hold" grpId="0" nodeType="afterEffect">
                      <p:stCondLst>
                        <p:cond delay="150"/>
                      </p:stCondLst>
                      <p:childTnLst>
                        <p:set>
                          <p:cBhvr>
                            <p:cTn id="28" dur="1" fill="hold">
                              <p:stCondLst>
                                <p:cond delay="0"/>
                              </p:stCondLst>
                            </p:cTn>
                            <p:tgtEl>
                              <p:spTgt spid="322884113"/>
                            </p:tgtEl>
                            <p:attrNameLst>
                              <p:attrName>style.visibility</p:attrName>
                            </p:attrNameLst>
                          </p:cBhvr>
                          <p:to>
                            <p:strVal val="visible"/>
                          </p:to>
                        </p:set>
                        <p:animEffect transition="in" filter="fade">
                          <p:cBhvr>
                            <p:cTn id="29" dur="400"/>
                            <p:tgtEl>
                              <p:spTgt spid="322884113"/>
                            </p:tgtEl>
                          </p:cBhvr>
                        </p:animEffect>
                        <p:anim calcmode="lin" valueType="num">
                          <p:cBhvr additive="base">
                            <p:cTn id="30" dur="400" fill="hold"/>
                            <p:tgtEl>
                              <p:spTgt spid="322884113"/>
                            </p:tgtEl>
                            <p:attrNameLst>
                              <p:attrName>ppt_y</p:attrName>
                            </p:attrNameLst>
                          </p:cBhvr>
                          <p:tavLst>
                            <p:tav tm="0">
                              <p:val>
                                <p:fltVal val="0.045999999999999999"/>
                              </p:val>
                            </p:tav>
                            <p:tav tm="100000">
                              <p:val>
                                <p:fltVal val="0"/>
                              </p:val>
                            </p:tav>
                          </p:tavLst>
                        </p:anim>
                      </p:childTnLst>
                    </p:cTn>
                  </p:par>
                  <p:par>
                    <p:cTn id="31" presetID="10" presetClass="entr" presetSubtype="0" fill="hold" grpId="0" nodeType="afterEffect">
                      <p:stCondLst>
                        <p:cond delay="150"/>
                      </p:stCondLst>
                      <p:childTnLst>
                        <p:set>
                          <p:cBhvr>
                            <p:cTn id="32" dur="1" fill="hold">
                              <p:stCondLst>
                                <p:cond delay="0"/>
                              </p:stCondLst>
                            </p:cTn>
                            <p:tgtEl>
                              <p:spTgt spid="495103737"/>
                            </p:tgtEl>
                            <p:attrNameLst>
                              <p:attrName>style.visibility</p:attrName>
                            </p:attrNameLst>
                          </p:cBhvr>
                          <p:to>
                            <p:strVal val="visible"/>
                          </p:to>
                        </p:set>
                        <p:animEffect transition="in" filter="fade">
                          <p:cBhvr>
                            <p:cTn id="33" dur="400"/>
                            <p:tgtEl>
                              <p:spTgt spid="495103737"/>
                            </p:tgtEl>
                          </p:cBhvr>
                        </p:animEffect>
                        <p:anim calcmode="lin" valueType="num">
                          <p:cBhvr additive="base">
                            <p:cTn id="34" dur="400" fill="hold"/>
                            <p:tgtEl>
                              <p:spTgt spid="495103737"/>
                            </p:tgtEl>
                            <p:attrNameLst>
                              <p:attrName>ppt_y</p:attrName>
                            </p:attrNameLst>
                          </p:cBhvr>
                          <p:tavLst>
                            <p:tav tm="0">
                              <p:val>
                                <p:fltVal val="0.045999999999999999"/>
                              </p:val>
                            </p:tav>
                            <p:tav tm="100000">
                              <p:val>
                                <p:fltVal val="0"/>
                              </p:val>
                            </p:tav>
                          </p:tavLst>
                        </p:anim>
                      </p:childTnLst>
                    </p:cTn>
                  </p:par>
                  <p:par>
                    <p:cTn id="35" presetID="10" presetClass="entr" presetSubtype="0" fill="hold" grpId="0" nodeType="afterEffect">
                      <p:stCondLst>
                        <p:cond delay="150"/>
                      </p:stCondLst>
                      <p:childTnLst>
                        <p:set>
                          <p:cBhvr>
                            <p:cTn id="36" dur="1" fill="hold">
                              <p:stCondLst>
                                <p:cond delay="0"/>
                              </p:stCondLst>
                            </p:cTn>
                            <p:tgtEl>
                              <p:spTgt spid="1919477321"/>
                            </p:tgtEl>
                            <p:attrNameLst>
                              <p:attrName>style.visibility</p:attrName>
                            </p:attrNameLst>
                          </p:cBhvr>
                          <p:to>
                            <p:strVal val="visible"/>
                          </p:to>
                        </p:set>
                        <p:animEffect transition="in" filter="fade">
                          <p:cBhvr>
                            <p:cTn id="37" dur="400"/>
                            <p:tgtEl>
                              <p:spTgt spid="1919477321"/>
                            </p:tgtEl>
                          </p:cBhvr>
                        </p:animEffect>
                        <p:anim calcmode="lin" valueType="num">
                          <p:cBhvr additive="base">
                            <p:cTn id="38" dur="400" fill="hold"/>
                            <p:tgtEl>
                              <p:spTgt spid="1919477321"/>
                            </p:tgtEl>
                            <p:attrNameLst>
                              <p:attrName>ppt_y</p:attrName>
                            </p:attrNameLst>
                          </p:cBhvr>
                          <p:tavLst>
                            <p:tav tm="0">
                              <p:val>
                                <p:fltVal val="0.045999999999999999"/>
                              </p:val>
                            </p:tav>
                            <p:tav tm="100000">
                              <p:val>
                                <p:fltVal val="0"/>
                              </p:val>
                            </p:tav>
                          </p:tavLst>
                        </p:anim>
                      </p:childTnLst>
                    </p:cTn>
                  </p:par>
                  <p:par>
                    <p:cTn id="39" presetID="10" presetClass="entr" presetSubtype="0" fill="hold" grpId="0" nodeType="afterEffect">
                      <p:stCondLst>
                        <p:cond delay="150"/>
                      </p:stCondLst>
                      <p:childTnLst>
                        <p:set>
                          <p:cBhvr>
                            <p:cTn id="40" dur="1" fill="hold">
                              <p:stCondLst>
                                <p:cond delay="0"/>
                              </p:stCondLst>
                            </p:cTn>
                            <p:tgtEl>
                              <p:spTgt spid="1745616603"/>
                            </p:tgtEl>
                            <p:attrNameLst>
                              <p:attrName>style.visibility</p:attrName>
                            </p:attrNameLst>
                          </p:cBhvr>
                          <p:to>
                            <p:strVal val="visible"/>
                          </p:to>
                        </p:set>
                        <p:animEffect transition="in" filter="fade">
                          <p:cBhvr>
                            <p:cTn id="41" dur="400"/>
                            <p:tgtEl>
                              <p:spTgt spid="1745616603"/>
                            </p:tgtEl>
                          </p:cBhvr>
                        </p:animEffect>
                        <p:anim calcmode="lin" valueType="num">
                          <p:cBhvr additive="base">
                            <p:cTn id="42" dur="400" fill="hold"/>
                            <p:tgtEl>
                              <p:spTgt spid="1745616603"/>
                            </p:tgtEl>
                            <p:attrNameLst>
                              <p:attrName>ppt_y</p:attrName>
                            </p:attrNameLst>
                          </p:cBhvr>
                          <p:tavLst>
                            <p:tav tm="0">
                              <p:val>
                                <p:fltVal val="0.045999999999999999"/>
                              </p:val>
                            </p:tav>
                            <p:tav tm="100000">
                              <p:val>
                                <p:fltVal val="0"/>
                              </p:val>
                            </p:tav>
                          </p:tavLst>
                        </p:anim>
                      </p:childTnLst>
                    </p:cTn>
                  </p:par>
                  <p:par>
                    <p:cTn id="43" presetID="10" presetClass="entr" presetSubtype="0" fill="hold" grpId="0" nodeType="afterEffect">
                      <p:stCondLst>
                        <p:cond delay="150"/>
                      </p:stCondLst>
                      <p:childTnLst>
                        <p:set>
                          <p:cBhvr>
                            <p:cTn id="44" dur="1" fill="hold">
                              <p:stCondLst>
                                <p:cond delay="0"/>
                              </p:stCondLst>
                            </p:cTn>
                            <p:tgtEl>
                              <p:spTgt spid="600005892"/>
                            </p:tgtEl>
                            <p:attrNameLst>
                              <p:attrName>style.visibility</p:attrName>
                            </p:attrNameLst>
                          </p:cBhvr>
                          <p:to>
                            <p:strVal val="visible"/>
                          </p:to>
                        </p:set>
                        <p:animEffect transition="in" filter="fade">
                          <p:cBhvr>
                            <p:cTn id="45" dur="400"/>
                            <p:tgtEl>
                              <p:spTgt spid="600005892"/>
                            </p:tgtEl>
                          </p:cBhvr>
                        </p:animEffect>
                        <p:anim calcmode="lin" valueType="num">
                          <p:cBhvr additive="base">
                            <p:cTn id="46" dur="400" fill="hold"/>
                            <p:tgtEl>
                              <p:spTgt spid="600005892"/>
                            </p:tgtEl>
                            <p:attrNameLst>
                              <p:attrName>ppt_y</p:attrName>
                            </p:attrNameLst>
                          </p:cBhvr>
                          <p:tavLst>
                            <p:tav tm="0">
                              <p:val>
                                <p:fltVal val="0.045999999999999999"/>
                              </p:val>
                            </p:tav>
                            <p:tav tm="100000">
                              <p:val>
                                <p:fltVal val="0"/>
                              </p:val>
                            </p:tav>
                          </p:tavLst>
                        </p:anim>
                      </p:childTnLst>
                    </p:cTn>
                  </p:par>
                  <p:par>
                    <p:cTn id="47" presetID="10" presetClass="entr" presetSubtype="0" fill="hold" grpId="0" nodeType="afterEffect">
                      <p:stCondLst>
                        <p:cond delay="150"/>
                      </p:stCondLst>
                      <p:childTnLst>
                        <p:set>
                          <p:cBhvr>
                            <p:cTn id="48" dur="1" fill="hold">
                              <p:stCondLst>
                                <p:cond delay="0"/>
                              </p:stCondLst>
                            </p:cTn>
                            <p:tgtEl>
                              <p:spTgt spid="1453495267"/>
                            </p:tgtEl>
                            <p:attrNameLst>
                              <p:attrName>style.visibility</p:attrName>
                            </p:attrNameLst>
                          </p:cBhvr>
                          <p:to>
                            <p:strVal val="visible"/>
                          </p:to>
                        </p:set>
                        <p:animEffect transition="in" filter="fade">
                          <p:cBhvr>
                            <p:cTn id="49" dur="400"/>
                            <p:tgtEl>
                              <p:spTgt spid="1453495267"/>
                            </p:tgtEl>
                          </p:cBhvr>
                        </p:animEffect>
                        <p:anim calcmode="lin" valueType="num">
                          <p:cBhvr additive="base">
                            <p:cTn id="50" dur="400" fill="hold"/>
                            <p:tgtEl>
                              <p:spTgt spid="1453495267"/>
                            </p:tgtEl>
                            <p:attrNameLst>
                              <p:attrName>ppt_y</p:attrName>
                            </p:attrNameLst>
                          </p:cBhvr>
                          <p:tavLst>
                            <p:tav tm="0">
                              <p:val>
                                <p:fltVal val="0.045999999999999999"/>
                              </p:val>
                            </p:tav>
                            <p:tav tm="100000">
                              <p:val>
                                <p:fltVal val="0"/>
                              </p:val>
                            </p:tav>
                          </p:tavLst>
                        </p:anim>
                      </p:childTnLst>
                    </p:cTn>
                  </p:par>
                  <p:par>
                    <p:cTn id="51" presetID="10" presetClass="entr" presetSubtype="0" fill="hold" grpId="0" nodeType="afterEffect">
                      <p:stCondLst>
                        <p:cond delay="150"/>
                      </p:stCondLst>
                      <p:childTnLst>
                        <p:set>
                          <p:cBhvr>
                            <p:cTn id="52" dur="1" fill="hold">
                              <p:stCondLst>
                                <p:cond delay="0"/>
                              </p:stCondLst>
                            </p:cTn>
                            <p:tgtEl>
                              <p:spTgt spid="631712216"/>
                            </p:tgtEl>
                            <p:attrNameLst>
                              <p:attrName>style.visibility</p:attrName>
                            </p:attrNameLst>
                          </p:cBhvr>
                          <p:to>
                            <p:strVal val="visible"/>
                          </p:to>
                        </p:set>
                        <p:animEffect transition="in" filter="fade">
                          <p:cBhvr>
                            <p:cTn id="53" dur="400"/>
                            <p:tgtEl>
                              <p:spTgt spid="631712216"/>
                            </p:tgtEl>
                          </p:cBhvr>
                        </p:animEffect>
                        <p:anim calcmode="lin" valueType="num">
                          <p:cBhvr additive="base">
                            <p:cTn id="54" dur="400" fill="hold"/>
                            <p:tgtEl>
                              <p:spTgt spid="631712216"/>
                            </p:tgtEl>
                            <p:attrNameLst>
                              <p:attrName>ppt_y</p:attrName>
                            </p:attrNameLst>
                          </p:cBhvr>
                          <p:tavLst>
                            <p:tav tm="0">
                              <p:val>
                                <p:fltVal val="0.045999999999999999"/>
                              </p:val>
                            </p:tav>
                            <p:tav tm="100000">
                              <p:val>
                                <p:fltVal val="0"/>
                              </p:val>
                            </p:tav>
                          </p:tavLst>
                        </p:anim>
                      </p:childTnLst>
                    </p:cTn>
                  </p:par>
                  <p:par>
                    <p:cTn id="55" presetID="10" presetClass="entr" presetSubtype="0" fill="hold" grpId="0" nodeType="afterEffect">
                      <p:stCondLst>
                        <p:cond delay="150"/>
                      </p:stCondLst>
                      <p:childTnLst>
                        <p:set>
                          <p:cBhvr>
                            <p:cTn id="56" dur="1" fill="hold">
                              <p:stCondLst>
                                <p:cond delay="0"/>
                              </p:stCondLst>
                            </p:cTn>
                            <p:tgtEl>
                              <p:spTgt spid="2058086624"/>
                            </p:tgtEl>
                            <p:attrNameLst>
                              <p:attrName>style.visibility</p:attrName>
                            </p:attrNameLst>
                          </p:cBhvr>
                          <p:to>
                            <p:strVal val="visible"/>
                          </p:to>
                        </p:set>
                        <p:animEffect transition="in" filter="fade">
                          <p:cBhvr>
                            <p:cTn id="57" dur="400"/>
                            <p:tgtEl>
                              <p:spTgt spid="2058086624"/>
                            </p:tgtEl>
                          </p:cBhvr>
                        </p:animEffect>
                        <p:anim calcmode="lin" valueType="num">
                          <p:cBhvr additive="base">
                            <p:cTn id="58" dur="400" fill="hold"/>
                            <p:tgtEl>
                              <p:spTgt spid="2058086624"/>
                            </p:tgtEl>
                            <p:attrNameLst>
                              <p:attrName>ppt_y</p:attrName>
                            </p:attrNameLst>
                          </p:cBhvr>
                          <p:tavLst>
                            <p:tav tm="0">
                              <p:val>
                                <p:fltVal val="0.045999999999999999"/>
                              </p:val>
                            </p:tav>
                            <p:tav tm="100000">
                              <p:val>
                                <p:fltVal val="0"/>
                              </p:val>
                            </p:tav>
                          </p:tavLst>
                        </p:anim>
                      </p:childTnLst>
                    </p:cTn>
                  </p:par>
                  <p:par>
                    <p:cTn id="59" presetID="10" presetClass="entr" presetSubtype="0" fill="hold" grpId="0" nodeType="afterEffect">
                      <p:stCondLst>
                        <p:cond delay="150"/>
                      </p:stCondLst>
                      <p:childTnLst>
                        <p:set>
                          <p:cBhvr>
                            <p:cTn id="60" dur="1" fill="hold">
                              <p:stCondLst>
                                <p:cond delay="0"/>
                              </p:stCondLst>
                            </p:cTn>
                            <p:tgtEl>
                              <p:spTgt spid="411521796"/>
                            </p:tgtEl>
                            <p:attrNameLst>
                              <p:attrName>style.visibility</p:attrName>
                            </p:attrNameLst>
                          </p:cBhvr>
                          <p:to>
                            <p:strVal val="visible"/>
                          </p:to>
                        </p:set>
                        <p:animEffect transition="in" filter="fade">
                          <p:cBhvr>
                            <p:cTn id="61" dur="400"/>
                            <p:tgtEl>
                              <p:spTgt spid="411521796"/>
                            </p:tgtEl>
                          </p:cBhvr>
                        </p:animEffect>
                        <p:anim calcmode="lin" valueType="num">
                          <p:cBhvr additive="base">
                            <p:cTn id="62" dur="400" fill="hold"/>
                            <p:tgtEl>
                              <p:spTgt spid="411521796"/>
                            </p:tgtEl>
                            <p:attrNameLst>
                              <p:attrName>ppt_y</p:attrName>
                            </p:attrNameLst>
                          </p:cBhvr>
                          <p:tavLst>
                            <p:tav tm="0">
                              <p:val>
                                <p:fltVal val="0.045999999999999999"/>
                              </p:val>
                            </p:tav>
                            <p:tav tm="100000">
                              <p:val>
                                <p:fltVal val="0"/>
                              </p:val>
                            </p:tav>
                          </p:tavLst>
                        </p:anim>
                      </p:childTnLst>
                    </p:cTn>
                  </p:par>
                  <p:par>
                    <p:cTn id="63" presetID="10" presetClass="entr" presetSubtype="0" fill="hold" grpId="0" nodeType="afterEffect">
                      <p:stCondLst>
                        <p:cond delay="150"/>
                      </p:stCondLst>
                      <p:childTnLst>
                        <p:set>
                          <p:cBhvr>
                            <p:cTn id="64" dur="1" fill="hold">
                              <p:stCondLst>
                                <p:cond delay="0"/>
                              </p:stCondLst>
                            </p:cTn>
                            <p:tgtEl>
                              <p:spTgt spid="1124720811"/>
                            </p:tgtEl>
                            <p:attrNameLst>
                              <p:attrName>style.visibility</p:attrName>
                            </p:attrNameLst>
                          </p:cBhvr>
                          <p:to>
                            <p:strVal val="visible"/>
                          </p:to>
                        </p:set>
                        <p:animEffect transition="in" filter="fade">
                          <p:cBhvr>
                            <p:cTn id="65" dur="400"/>
                            <p:tgtEl>
                              <p:spTgt spid="1124720811"/>
                            </p:tgtEl>
                          </p:cBhvr>
                        </p:animEffect>
                        <p:anim calcmode="lin" valueType="num">
                          <p:cBhvr additive="base">
                            <p:cTn id="66" dur="400" fill="hold"/>
                            <p:tgtEl>
                              <p:spTgt spid="1124720811"/>
                            </p:tgtEl>
                            <p:attrNameLst>
                              <p:attrName>ppt_y</p:attrName>
                            </p:attrNameLst>
                          </p:cBhvr>
                          <p:tavLst>
                            <p:tav tm="0">
                              <p:val>
                                <p:fltVal val="0.045999999999999999"/>
                              </p:val>
                            </p:tav>
                            <p:tav tm="100000">
                              <p:val>
                                <p:fltVal val="0"/>
                              </p:val>
                            </p:tav>
                          </p:tavLst>
                        </p:anim>
                      </p:childTnLst>
                    </p:cTn>
                  </p:par>
                  <p:par>
                    <p:cTn id="67" presetID="10" presetClass="entr" presetSubtype="0" fill="hold" grpId="0" nodeType="afterEffect">
                      <p:stCondLst>
                        <p:cond delay="150"/>
                      </p:stCondLst>
                      <p:childTnLst>
                        <p:set>
                          <p:cBhvr>
                            <p:cTn id="68" dur="1" fill="hold">
                              <p:stCondLst>
                                <p:cond delay="0"/>
                              </p:stCondLst>
                            </p:cTn>
                            <p:tgtEl>
                              <p:spTgt spid="365218999"/>
                            </p:tgtEl>
                            <p:attrNameLst>
                              <p:attrName>style.visibility</p:attrName>
                            </p:attrNameLst>
                          </p:cBhvr>
                          <p:to>
                            <p:strVal val="visible"/>
                          </p:to>
                        </p:set>
                        <p:animEffect transition="in" filter="fade">
                          <p:cBhvr>
                            <p:cTn id="69" dur="400"/>
                            <p:tgtEl>
                              <p:spTgt spid="365218999"/>
                            </p:tgtEl>
                          </p:cBhvr>
                        </p:animEffect>
                        <p:anim calcmode="lin" valueType="num">
                          <p:cBhvr additive="base">
                            <p:cTn id="70" dur="400" fill="hold"/>
                            <p:tgtEl>
                              <p:spTgt spid="365218999"/>
                            </p:tgtEl>
                            <p:attrNameLst>
                              <p:attrName>ppt_y</p:attrName>
                            </p:attrNameLst>
                          </p:cBhvr>
                          <p:tavLst>
                            <p:tav tm="0">
                              <p:val>
                                <p:fltVal val="0.045999999999999999"/>
                              </p:val>
                            </p:tav>
                            <p:tav tm="100000">
                              <p:val>
                                <p:fltVal val="0"/>
                              </p:val>
                            </p:tav>
                          </p:tavLst>
                        </p:anim>
                      </p:childTnLst>
                    </p:cTn>
                  </p:par>
                  <p:par>
                    <p:cTn id="71" presetID="10" presetClass="entr" presetSubtype="0" fill="hold" grpId="0" nodeType="afterEffect">
                      <p:stCondLst>
                        <p:cond delay="150"/>
                      </p:stCondLst>
                      <p:childTnLst>
                        <p:set>
                          <p:cBhvr>
                            <p:cTn id="72" dur="1" fill="hold">
                              <p:stCondLst>
                                <p:cond delay="0"/>
                              </p:stCondLst>
                            </p:cTn>
                            <p:tgtEl>
                              <p:spTgt spid="1547754614"/>
                            </p:tgtEl>
                            <p:attrNameLst>
                              <p:attrName>style.visibility</p:attrName>
                            </p:attrNameLst>
                          </p:cBhvr>
                          <p:to>
                            <p:strVal val="visible"/>
                          </p:to>
                        </p:set>
                        <p:animEffect transition="in" filter="fade">
                          <p:cBhvr>
                            <p:cTn id="73" dur="400"/>
                            <p:tgtEl>
                              <p:spTgt spid="1547754614"/>
                            </p:tgtEl>
                          </p:cBhvr>
                        </p:animEffect>
                        <p:anim calcmode="lin" valueType="num">
                          <p:cBhvr additive="base">
                            <p:cTn id="74" dur="400" fill="hold"/>
                            <p:tgtEl>
                              <p:spTgt spid="1547754614"/>
                            </p:tgtEl>
                            <p:attrNameLst>
                              <p:attrName>ppt_y</p:attrName>
                            </p:attrNameLst>
                          </p:cBhvr>
                          <p:tavLst>
                            <p:tav tm="0">
                              <p:val>
                                <p:fltVal val="0.045999999999999999"/>
                              </p:val>
                            </p:tav>
                            <p:tav tm="100000">
                              <p:val>
                                <p:fltVal val="0"/>
                              </p:val>
                            </p:tav>
                          </p:tavLst>
                        </p:anim>
                      </p:childTnLst>
                    </p:cTn>
                  </p:par>
                  <p:par>
                    <p:cTn id="75" presetID="10" presetClass="entr" presetSubtype="0" fill="hold" grpId="0" nodeType="afterEffect">
                      <p:stCondLst>
                        <p:cond delay="150"/>
                      </p:stCondLst>
                      <p:childTnLst>
                        <p:set>
                          <p:cBhvr>
                            <p:cTn id="76" dur="1" fill="hold">
                              <p:stCondLst>
                                <p:cond delay="0"/>
                              </p:stCondLst>
                            </p:cTn>
                            <p:tgtEl>
                              <p:spTgt spid="1164654773"/>
                            </p:tgtEl>
                            <p:attrNameLst>
                              <p:attrName>style.visibility</p:attrName>
                            </p:attrNameLst>
                          </p:cBhvr>
                          <p:to>
                            <p:strVal val="visible"/>
                          </p:to>
                        </p:set>
                        <p:animEffect transition="in" filter="fade">
                          <p:cBhvr>
                            <p:cTn id="77" dur="400"/>
                            <p:tgtEl>
                              <p:spTgt spid="1164654773"/>
                            </p:tgtEl>
                          </p:cBhvr>
                        </p:animEffect>
                        <p:anim calcmode="lin" valueType="num">
                          <p:cBhvr additive="base">
                            <p:cTn id="78" dur="400" fill="hold"/>
                            <p:tgtEl>
                              <p:spTgt spid="1164654773"/>
                            </p:tgtEl>
                            <p:attrNameLst>
                              <p:attrName>ppt_y</p:attrName>
                            </p:attrNameLst>
                          </p:cBhvr>
                          <p:tavLst>
                            <p:tav tm="0">
                              <p:val>
                                <p:fltVal val="0.045999999999999999"/>
                              </p:val>
                            </p:tav>
                            <p:tav tm="100000">
                              <p:val>
                                <p:fltVal val="0"/>
                              </p:val>
                            </p:tav>
                          </p:tavLst>
                        </p:anim>
                      </p:childTnLst>
                    </p:cTn>
                  </p:par>
                  <p:par>
                    <p:cTn id="79" presetID="10" presetClass="entr" presetSubtype="0" fill="hold" grpId="0" nodeType="afterEffect">
                      <p:stCondLst>
                        <p:cond delay="150"/>
                      </p:stCondLst>
                      <p:childTnLst>
                        <p:set>
                          <p:cBhvr>
                            <p:cTn id="80" dur="1" fill="hold">
                              <p:stCondLst>
                                <p:cond delay="0"/>
                              </p:stCondLst>
                            </p:cTn>
                            <p:tgtEl>
                              <p:spTgt spid="1774233212"/>
                            </p:tgtEl>
                            <p:attrNameLst>
                              <p:attrName>style.visibility</p:attrName>
                            </p:attrNameLst>
                          </p:cBhvr>
                          <p:to>
                            <p:strVal val="visible"/>
                          </p:to>
                        </p:set>
                        <p:animEffect transition="in" filter="fade">
                          <p:cBhvr>
                            <p:cTn id="81" dur="400"/>
                            <p:tgtEl>
                              <p:spTgt spid="1774233212"/>
                            </p:tgtEl>
                          </p:cBhvr>
                        </p:animEffect>
                        <p:anim calcmode="lin" valueType="num">
                          <p:cBhvr additive="base">
                            <p:cTn id="82" dur="400" fill="hold"/>
                            <p:tgtEl>
                              <p:spTgt spid="1774233212"/>
                            </p:tgtEl>
                            <p:attrNameLst>
                              <p:attrName>ppt_y</p:attrName>
                            </p:attrNameLst>
                          </p:cBhvr>
                          <p:tavLst>
                            <p:tav tm="0">
                              <p:val>
                                <p:fltVal val="0.045999999999999999"/>
                              </p:val>
                            </p:tav>
                            <p:tav tm="100000">
                              <p:val>
                                <p:fltVal val="0"/>
                              </p:val>
                            </p:tav>
                          </p:tavLst>
                        </p:anim>
                      </p:childTnLst>
                    </p:cTn>
                  </p:par>
                  <p:par>
                    <p:cTn id="83" presetID="10" presetClass="entr" presetSubtype="0" fill="hold" grpId="0" nodeType="afterEffect">
                      <p:stCondLst>
                        <p:cond delay="150"/>
                      </p:stCondLst>
                      <p:childTnLst>
                        <p:set>
                          <p:cBhvr>
                            <p:cTn id="84" dur="1" fill="hold">
                              <p:stCondLst>
                                <p:cond delay="0"/>
                              </p:stCondLst>
                            </p:cTn>
                            <p:tgtEl>
                              <p:spTgt spid="1583490847"/>
                            </p:tgtEl>
                            <p:attrNameLst>
                              <p:attrName>style.visibility</p:attrName>
                            </p:attrNameLst>
                          </p:cBhvr>
                          <p:to>
                            <p:strVal val="visible"/>
                          </p:to>
                        </p:set>
                        <p:animEffect transition="in" filter="fade">
                          <p:cBhvr>
                            <p:cTn id="85" dur="400"/>
                            <p:tgtEl>
                              <p:spTgt spid="1583490847"/>
                            </p:tgtEl>
                          </p:cBhvr>
                        </p:animEffect>
                        <p:anim calcmode="lin" valueType="num">
                          <p:cBhvr additive="base">
                            <p:cTn id="86" dur="400" fill="hold"/>
                            <p:tgtEl>
                              <p:spTgt spid="1583490847"/>
                            </p:tgtEl>
                            <p:attrNameLst>
                              <p:attrName>ppt_y</p:attrName>
                            </p:attrNameLst>
                          </p:cBhvr>
                          <p:tavLst>
                            <p:tav tm="0">
                              <p:val>
                                <p:fltVal val="0.045999999999999999"/>
                              </p:val>
                            </p:tav>
                            <p:tav tm="100000">
                              <p:val>
                                <p:fltVal val="0"/>
                              </p:val>
                            </p:tav>
                          </p:tavLst>
                        </p:anim>
                      </p:childTnLst>
                    </p:cTn>
                  </p:par>
                  <p:par>
                    <p:cTn id="87" presetID="10" presetClass="entr" presetSubtype="0" fill="hold" grpId="0" nodeType="afterEffect">
                      <p:stCondLst>
                        <p:cond delay="150"/>
                      </p:stCondLst>
                      <p:childTnLst>
                        <p:set>
                          <p:cBhvr>
                            <p:cTn id="88" dur="1" fill="hold">
                              <p:stCondLst>
                                <p:cond delay="0"/>
                              </p:stCondLst>
                            </p:cTn>
                            <p:tgtEl>
                              <p:spTgt spid="684176104"/>
                            </p:tgtEl>
                            <p:attrNameLst>
                              <p:attrName>style.visibility</p:attrName>
                            </p:attrNameLst>
                          </p:cBhvr>
                          <p:to>
                            <p:strVal val="visible"/>
                          </p:to>
                        </p:set>
                        <p:animEffect transition="in" filter="fade">
                          <p:cBhvr>
                            <p:cTn id="89" dur="400"/>
                            <p:tgtEl>
                              <p:spTgt spid="684176104"/>
                            </p:tgtEl>
                          </p:cBhvr>
                        </p:animEffect>
                        <p:anim calcmode="lin" valueType="num">
                          <p:cBhvr additive="base">
                            <p:cTn id="90" dur="400" fill="hold"/>
                            <p:tgtEl>
                              <p:spTgt spid="684176104"/>
                            </p:tgtEl>
                            <p:attrNameLst>
                              <p:attrName>ppt_y</p:attrName>
                            </p:attrNameLst>
                          </p:cBhvr>
                          <p:tavLst>
                            <p:tav tm="0">
                              <p:val>
                                <p:fltVal val="0.045999999999999999"/>
                              </p:val>
                            </p:tav>
                            <p:tav tm="100000">
                              <p:val>
                                <p:fltVal val="0"/>
                              </p:val>
                            </p:tav>
                          </p:tavLst>
                        </p:anim>
                      </p:childTnLst>
                    </p:cTn>
                  </p:par>
                  <p:par>
                    <p:cTn id="91" presetID="10" presetClass="entr" presetSubtype="0" fill="hold" grpId="0" nodeType="afterEffect">
                      <p:stCondLst>
                        <p:cond delay="150"/>
                      </p:stCondLst>
                      <p:childTnLst>
                        <p:set>
                          <p:cBhvr>
                            <p:cTn id="92" dur="1" fill="hold">
                              <p:stCondLst>
                                <p:cond delay="0"/>
                              </p:stCondLst>
                            </p:cTn>
                            <p:tgtEl>
                              <p:spTgt spid="867192308"/>
                            </p:tgtEl>
                            <p:attrNameLst>
                              <p:attrName>style.visibility</p:attrName>
                            </p:attrNameLst>
                          </p:cBhvr>
                          <p:to>
                            <p:strVal val="visible"/>
                          </p:to>
                        </p:set>
                        <p:animEffect transition="in" filter="fade">
                          <p:cBhvr>
                            <p:cTn id="93" dur="400"/>
                            <p:tgtEl>
                              <p:spTgt spid="867192308"/>
                            </p:tgtEl>
                          </p:cBhvr>
                        </p:animEffect>
                        <p:anim calcmode="lin" valueType="num">
                          <p:cBhvr additive="base">
                            <p:cTn id="94" dur="400" fill="hold"/>
                            <p:tgtEl>
                              <p:spTgt spid="867192308"/>
                            </p:tgtEl>
                            <p:attrNameLst>
                              <p:attrName>ppt_y</p:attrName>
                            </p:attrNameLst>
                          </p:cBhvr>
                          <p:tavLst>
                            <p:tav tm="0">
                              <p:val>
                                <p:fltVal val="0.045999999999999999"/>
                              </p:val>
                            </p:tav>
                            <p:tav tm="100000">
                              <p:val>
                                <p:fltVal val="0"/>
                              </p:val>
                            </p:tav>
                          </p:tavLst>
                        </p:anim>
                      </p:childTnLst>
                    </p:cTn>
                  </p:par>
                </p:childTnLst>
              </p:cTn>
            </p:par>
          </p:childTnLst>
        </p:cTn>
      </p:par>
    </p:tnLst>
    <p:bldLst>
      <p:bldP spid="507641645" grpId="0" animBg="1"/>
      <p:bldP spid="805196746" grpId="0" animBg="1"/>
      <p:bldP spid="1950871177" grpId="0" animBg="1"/>
      <p:bldP spid="1722767244" grpId="0" animBg="1"/>
      <p:bldP spid="66884648" grpId="0" animBg="1"/>
      <p:bldP spid="1770388145" grpId="0" animBg="1"/>
      <p:bldP spid="322884113" grpId="0" animBg="1"/>
      <p:bldP spid="495103737" grpId="0" animBg="1"/>
      <p:bldP spid="1919477321" grpId="0" animBg="1"/>
      <p:bldP spid="1745616603" grpId="0" animBg="1"/>
      <p:bldP spid="600005892" grpId="0" animBg="1"/>
      <p:bldP spid="1453495267" grpId="0" animBg="1"/>
      <p:bldP spid="631712216" grpId="0" animBg="1"/>
      <p:bldP spid="2058086624" grpId="0" animBg="1"/>
      <p:bldP spid="411521796" grpId="0" animBg="1"/>
      <p:bldP spid="1124720811" grpId="0" animBg="1"/>
      <p:bldP spid="365218999" grpId="0" animBg="1"/>
      <p:bldP spid="1547754614" grpId="0" animBg="1"/>
      <p:bldP spid="1164654773" grpId="0" animBg="1"/>
      <p:bldP spid="1774233212" grpId="0" animBg="1"/>
      <p:bldP spid="1583490847" grpId="0" animBg="1"/>
      <p:bldP spid="684176104" grpId="0" animBg="1"/>
      <p:bldP spid="867192308" grpId="0" animBg="1"/>
    </p:bldLst>
  </p:timing>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292655452" name="Eyebrow"/>
          <p:cNvSpPr txBox="1"/>
          <p:nvPr/>
        </p:nvSpPr>
        <p:spPr bwMode="auto">
          <a:xfrm>
            <a:off x="914400" y="584200"/>
            <a:ext cx="9144000" cy="254000"/>
          </a:xfrm>
          <a:prstGeom prst="rect">
            <a:avLst/>
          </a:prstGeom>
          <a:noFill/>
          <a:ln>
            <a:noFill/>
          </a:ln>
        </p:spPr>
        <p:txBody>
          <a:bodyPr wrap="square" lIns="0" tIns="0" rIns="0" bIns="0" anchor="t">
            <a:normAutofit/>
          </a:bodyPr>
          <a:lstStyle/>
          <a:p>
            <a:pPr>
              <a:buNone/>
              <a:defRPr/>
            </a:pPr>
            <a:r>
              <a:rPr lang="fr-FR" sz="1400" b="1" spc="240">
                <a:solidFill>
                  <a:srgbClr val="64748B"/>
                </a:solidFill>
              </a:rPr>
              <a:t>01 · INTRODUCTION</a:t>
            </a:r>
            <a:endParaRPr/>
          </a:p>
        </p:txBody>
      </p:sp>
      <p:sp>
        <p:nvSpPr>
          <p:cNvPr id="1186975779" name="Titre"/>
          <p:cNvSpPr txBox="1"/>
          <p:nvPr/>
        </p:nvSpPr>
        <p:spPr bwMode="auto">
          <a:xfrm>
            <a:off x="914400" y="863599"/>
            <a:ext cx="10363200" cy="508000"/>
          </a:xfrm>
          <a:prstGeom prst="rect">
            <a:avLst/>
          </a:prstGeom>
          <a:noFill/>
          <a:ln>
            <a:noFill/>
          </a:ln>
        </p:spPr>
        <p:txBody>
          <a:bodyPr wrap="square" lIns="0" tIns="0" rIns="0" bIns="0" anchor="t">
            <a:normAutofit/>
          </a:bodyPr>
          <a:lstStyle/>
          <a:p>
            <a:pPr>
              <a:buNone/>
              <a:defRPr/>
            </a:pPr>
            <a:r>
              <a:rPr lang="fr-FR" sz="3000">
                <a:solidFill>
                  <a:srgbClr val="0B1F3A"/>
                </a:solidFill>
                <a:latin typeface="Segoe UI Semibold"/>
              </a:rPr>
              <a:t>Terrain d’étude : Nouvelle-Aquitaine</a:t>
            </a:r>
            <a:endParaRPr/>
          </a:p>
        </p:txBody>
      </p:sp>
      <p:sp>
        <p:nvSpPr>
          <p:cNvPr id="2021662710" name="Filet"/>
          <p:cNvSpPr/>
          <p:nvPr/>
        </p:nvSpPr>
        <p:spPr bwMode="auto">
          <a:xfrm>
            <a:off x="914400" y="1473200"/>
            <a:ext cx="685800" cy="50800"/>
          </a:xfrm>
          <a:prstGeom prst="rect">
            <a:avLst/>
          </a:prstGeom>
          <a:solidFill>
            <a:srgbClr val="2563EB"/>
          </a:solidFill>
          <a:ln>
            <a:noFill/>
          </a:ln>
        </p:spPr>
        <p:txBody>
          <a:bodyPr wrap="square" lIns="0" tIns="0" rIns="0" bIns="0" anchor="t">
            <a:normAutofit/>
          </a:bodyPr>
          <a:lstStyle/>
          <a:p>
            <a:pPr>
              <a:defRPr/>
            </a:pPr>
            <a:endParaRPr/>
          </a:p>
        </p:txBody>
      </p:sp>
      <p:sp>
        <p:nvSpPr>
          <p:cNvPr id="2006301374" name="stat"/>
          <p:cNvSpPr/>
          <p:nvPr/>
        </p:nvSpPr>
        <p:spPr bwMode="auto">
          <a:xfrm>
            <a:off x="6451600" y="1905000"/>
            <a:ext cx="2349500" cy="1498600"/>
          </a:xfrm>
          <a:prstGeom prst="roundRect">
            <a:avLst>
              <a:gd name="adj" fmla="val 9000"/>
            </a:avLst>
          </a:prstGeom>
          <a:solidFill>
            <a:srgbClr val="FFFFFF"/>
          </a:solidFill>
          <a:ln w="9525">
            <a:solidFill>
              <a:srgbClr val="E2E8F0"/>
            </a:solidFill>
          </a:ln>
        </p:spPr>
        <p:txBody>
          <a:bodyPr wrap="square" lIns="177800" tIns="177800" rIns="177800" bIns="177800" anchor="ctr">
            <a:normAutofit/>
          </a:bodyPr>
          <a:lstStyle/>
          <a:p>
            <a:pPr algn="ctr">
              <a:buNone/>
              <a:defRPr/>
            </a:pPr>
            <a:r>
              <a:rPr lang="fr-FR" sz="4000" b="1">
                <a:solidFill>
                  <a:srgbClr val="2563EB"/>
                </a:solidFill>
                <a:latin typeface="Segoe UI Semibold"/>
              </a:rPr>
              <a:t>12</a:t>
            </a:r>
            <a:endParaRPr/>
          </a:p>
          <a:p>
            <a:pPr algn="ctr">
              <a:spcBef>
                <a:spcPts val="400"/>
              </a:spcBef>
              <a:buNone/>
              <a:defRPr/>
            </a:pPr>
            <a:r>
              <a:rPr lang="fr-FR" sz="1400">
                <a:solidFill>
                  <a:srgbClr val="64748B"/>
                </a:solidFill>
              </a:rPr>
              <a:t>Départements</a:t>
            </a:r>
            <a:endParaRPr/>
          </a:p>
        </p:txBody>
      </p:sp>
      <p:sp>
        <p:nvSpPr>
          <p:cNvPr id="1950787136" name="stat"/>
          <p:cNvSpPr/>
          <p:nvPr/>
        </p:nvSpPr>
        <p:spPr bwMode="auto">
          <a:xfrm>
            <a:off x="8928100" y="1905000"/>
            <a:ext cx="2349500" cy="1498600"/>
          </a:xfrm>
          <a:prstGeom prst="roundRect">
            <a:avLst>
              <a:gd name="adj" fmla="val 9000"/>
            </a:avLst>
          </a:prstGeom>
          <a:solidFill>
            <a:srgbClr val="FFFFFF"/>
          </a:solidFill>
          <a:ln w="9525">
            <a:solidFill>
              <a:srgbClr val="E2E8F0"/>
            </a:solidFill>
          </a:ln>
        </p:spPr>
        <p:txBody>
          <a:bodyPr wrap="square" lIns="177800" tIns="177800" rIns="177800" bIns="177800" anchor="ctr">
            <a:normAutofit/>
          </a:bodyPr>
          <a:lstStyle/>
          <a:p>
            <a:pPr algn="ctr">
              <a:buNone/>
              <a:defRPr/>
            </a:pPr>
            <a:r>
              <a:rPr lang="fr-FR" sz="4000" b="1">
                <a:solidFill>
                  <a:srgbClr val="0B1F3A"/>
                </a:solidFill>
                <a:latin typeface="Segoe UI Semibold"/>
              </a:rPr>
              <a:t>127</a:t>
            </a:r>
            <a:endParaRPr/>
          </a:p>
          <a:p>
            <a:pPr algn="ctr">
              <a:spcBef>
                <a:spcPts val="400"/>
              </a:spcBef>
              <a:buNone/>
              <a:defRPr/>
            </a:pPr>
            <a:r>
              <a:rPr lang="fr-FR" sz="1400">
                <a:solidFill>
                  <a:srgbClr val="64748B"/>
                </a:solidFill>
              </a:rPr>
              <a:t>Cantons</a:t>
            </a:r>
            <a:endParaRPr/>
          </a:p>
        </p:txBody>
      </p:sp>
      <p:sp>
        <p:nvSpPr>
          <p:cNvPr id="331758116" name="JustLabel"/>
          <p:cNvSpPr txBox="1"/>
          <p:nvPr/>
        </p:nvSpPr>
        <p:spPr bwMode="auto">
          <a:xfrm>
            <a:off x="6451600" y="3708400"/>
            <a:ext cx="4826000" cy="254000"/>
          </a:xfrm>
          <a:prstGeom prst="rect">
            <a:avLst/>
          </a:prstGeom>
          <a:noFill/>
          <a:ln>
            <a:noFill/>
          </a:ln>
        </p:spPr>
        <p:txBody>
          <a:bodyPr wrap="square" lIns="0" tIns="0" rIns="0" bIns="0" anchor="t">
            <a:normAutofit/>
          </a:bodyPr>
          <a:lstStyle/>
          <a:p>
            <a:pPr>
              <a:buNone/>
              <a:defRPr/>
            </a:pPr>
            <a:r>
              <a:rPr lang="fr-FR" sz="1400" b="1" spc="200">
                <a:solidFill>
                  <a:srgbClr val="64748B"/>
                </a:solidFill>
              </a:rPr>
              <a:t>POURQUOI CE TERRAIN ?</a:t>
            </a:r>
            <a:endParaRPr/>
          </a:p>
        </p:txBody>
      </p:sp>
      <p:sp>
        <p:nvSpPr>
          <p:cNvPr id="1980775845" name="Bullets"/>
          <p:cNvSpPr txBox="1"/>
          <p:nvPr/>
        </p:nvSpPr>
        <p:spPr bwMode="auto">
          <a:xfrm>
            <a:off x="6451600" y="4038600"/>
            <a:ext cx="4826000" cy="1778000"/>
          </a:xfrm>
          <a:prstGeom prst="rect">
            <a:avLst/>
          </a:prstGeom>
          <a:noFill/>
          <a:ln>
            <a:noFill/>
          </a:ln>
        </p:spPr>
        <p:txBody>
          <a:bodyPr wrap="square" lIns="0" tIns="0" rIns="0" bIns="0" anchor="t">
            <a:normAutofit/>
          </a:bodyPr>
          <a:lstStyle/>
          <a:p>
            <a:pPr marL="285750" indent="-285750">
              <a:lnSpc>
                <a:spcPts val="2100"/>
              </a:lnSpc>
              <a:spcBef>
                <a:spcPts val="800"/>
              </a:spcBef>
              <a:buClr>
                <a:srgbClr val="2563EB"/>
              </a:buClr>
              <a:buFont typeface="Arial"/>
              <a:buChar char="•"/>
              <a:defRPr/>
            </a:pPr>
            <a:r>
              <a:rPr lang="fr-FR" sz="1600">
                <a:solidFill>
                  <a:srgbClr val="0B1F3A"/>
                </a:solidFill>
              </a:rPr>
              <a:t>Représentativité : territoires urbains, ruraux et littoraux.</a:t>
            </a:r>
            <a:endParaRPr/>
          </a:p>
          <a:p>
            <a:pPr marL="285750" indent="-285750">
              <a:lnSpc>
                <a:spcPts val="2100"/>
              </a:lnSpc>
              <a:spcBef>
                <a:spcPts val="800"/>
              </a:spcBef>
              <a:buClr>
                <a:srgbClr val="2563EB"/>
              </a:buClr>
              <a:buFont typeface="Arial"/>
              <a:buChar char="•"/>
              <a:defRPr/>
            </a:pPr>
            <a:r>
              <a:rPr lang="fr-FR" sz="1600">
                <a:solidFill>
                  <a:srgbClr val="0B1F3A"/>
                </a:solidFill>
              </a:rPr>
              <a:t>Granularité fine à l'échelle du canton (127 mailles).</a:t>
            </a:r>
            <a:endParaRPr/>
          </a:p>
          <a:p>
            <a:pPr marL="285750" indent="-285750">
              <a:lnSpc>
                <a:spcPts val="2100"/>
              </a:lnSpc>
              <a:spcBef>
                <a:spcPts val="800"/>
              </a:spcBef>
              <a:buClr>
                <a:srgbClr val="2563EB"/>
              </a:buClr>
              <a:buFont typeface="Arial"/>
              <a:buChar char="•"/>
              <a:defRPr/>
            </a:pPr>
            <a:r>
              <a:rPr lang="fr-FR" sz="1600">
                <a:solidFill>
                  <a:srgbClr val="0B1F3A"/>
                </a:solidFill>
              </a:rPr>
              <a:t>Données publiques disponibles et homogènes.</a:t>
            </a:r>
            <a:endParaRPr/>
          </a:p>
        </p:txBody>
      </p:sp>
      <p:sp>
        <p:nvSpPr>
          <p:cNvPr id="1601252717" name="Page"/>
          <p:cNvSpPr txBox="1"/>
          <p:nvPr/>
        </p:nvSpPr>
        <p:spPr bwMode="auto">
          <a:xfrm>
            <a:off x="10515600" y="6451600"/>
            <a:ext cx="914400" cy="254000"/>
          </a:xfrm>
          <a:prstGeom prst="rect">
            <a:avLst/>
          </a:prstGeom>
          <a:noFill/>
          <a:ln>
            <a:noFill/>
          </a:ln>
        </p:spPr>
        <p:txBody>
          <a:bodyPr wrap="square" lIns="0" tIns="0" rIns="0" bIns="0" anchor="t">
            <a:normAutofit/>
          </a:bodyPr>
          <a:lstStyle/>
          <a:p>
            <a:pPr algn="r">
              <a:buNone/>
              <a:defRPr/>
            </a:pPr>
            <a:r>
              <a:rPr lang="fr-FR" sz="1400">
                <a:solidFill>
                  <a:srgbClr val="64748B"/>
                </a:solidFill>
              </a:rPr>
              <a:t>05</a:t>
            </a:r>
            <a:endParaRPr/>
          </a:p>
        </p:txBody>
      </p:sp>
      <p:pic>
        <p:nvPicPr>
          <p:cNvPr id="318489997" name=""/>
          <p:cNvPicPr>
            <a:picLocks noChangeAspect="1"/>
          </p:cNvPicPr>
          <p:nvPr/>
        </p:nvPicPr>
        <p:blipFill rotWithShape="1">
          <a:blip r:embed="rId3"/>
          <a:stretch/>
        </p:blipFill>
        <p:spPr bwMode="auto">
          <a:xfrm flipH="0" flipV="0">
            <a:off x="914400" y="1709280"/>
            <a:ext cx="5298801" cy="4461331"/>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med" p14:dur="500" advClick="1">
        <p:fade thruBlk="0"/>
      </p:transition>
    </mc:Choice>
    <mc:Fallback>
      <p:transition spd="med" advClick="1">
        <p:fade thruBlk="0"/>
      </p:transition>
    </mc:Fallback>
  </mc:AlternateContent>
  <p:timing>
    <p:tnLst>
      <p:par>
        <p:cTn id="1" dur="indefinite" restart="never" nodeType="tmRoot">
          <p:childTnLst>
            <p:par>
              <p:cTn id="2" fill="hold">
                <p:stCondLst>
                  <p:cond delay="0"/>
                </p:stCondLst>
                <p:childTnLst>
                  <p:par>
                    <p:cTn id="3" presetID="10" presetClass="entr" presetSubtype="0" fill="hold" grpId="0" nodeType="afterEffect">
                      <p:stCondLst>
                        <p:cond delay="500"/>
                      </p:stCondLst>
                      <p:childTnLst>
                        <p:set>
                          <p:cBhvr>
                            <p:cTn id="4" dur="1" fill="hold">
                              <p:stCondLst>
                                <p:cond delay="0"/>
                              </p:stCondLst>
                            </p:cTn>
                            <p:tgtEl>
                              <p:spTgt spid="1292655452"/>
                            </p:tgtEl>
                            <p:attrNameLst>
                              <p:attrName>style.visibility</p:attrName>
                            </p:attrNameLst>
                          </p:cBhvr>
                          <p:to>
                            <p:strVal val="visible"/>
                          </p:to>
                        </p:set>
                        <p:animEffect transition="in" filter="fade">
                          <p:cBhvr>
                            <p:cTn id="5" dur="400"/>
                            <p:tgtEl>
                              <p:spTgt spid="1292655452"/>
                            </p:tgtEl>
                          </p:cBhvr>
                        </p:animEffect>
                        <p:anim calcmode="lin" valueType="num">
                          <p:cBhvr additive="base">
                            <p:cTn id="6" dur="400" fill="hold"/>
                            <p:tgtEl>
                              <p:spTgt spid="1292655452"/>
                            </p:tgtEl>
                            <p:attrNameLst>
                              <p:attrName>ppt_y</p:attrName>
                            </p:attrNameLst>
                          </p:cBhvr>
                          <p:tavLst>
                            <p:tav tm="0">
                              <p:val>
                                <p:fltVal val="0.045999999999999999"/>
                              </p:val>
                            </p:tav>
                            <p:tav tm="100000">
                              <p:val>
                                <p:fltVal val="0"/>
                              </p:val>
                            </p:tav>
                          </p:tavLst>
                        </p:anim>
                      </p:childTnLst>
                    </p:cTn>
                  </p:par>
                  <p:par>
                    <p:cTn id="7" presetID="10" presetClass="entr" presetSubtype="0" fill="hold" grpId="0" nodeType="afterEffect">
                      <p:stCondLst>
                        <p:cond delay="150"/>
                      </p:stCondLst>
                      <p:childTnLst>
                        <p:set>
                          <p:cBhvr>
                            <p:cTn id="8" dur="1" fill="hold">
                              <p:stCondLst>
                                <p:cond delay="0"/>
                              </p:stCondLst>
                            </p:cTn>
                            <p:tgtEl>
                              <p:spTgt spid="1186975779"/>
                            </p:tgtEl>
                            <p:attrNameLst>
                              <p:attrName>style.visibility</p:attrName>
                            </p:attrNameLst>
                          </p:cBhvr>
                          <p:to>
                            <p:strVal val="visible"/>
                          </p:to>
                        </p:set>
                        <p:animEffect transition="in" filter="fade">
                          <p:cBhvr>
                            <p:cTn id="9" dur="400"/>
                            <p:tgtEl>
                              <p:spTgt spid="1186975779"/>
                            </p:tgtEl>
                          </p:cBhvr>
                        </p:animEffect>
                        <p:anim calcmode="lin" valueType="num">
                          <p:cBhvr additive="base">
                            <p:cTn id="10" dur="400" fill="hold"/>
                            <p:tgtEl>
                              <p:spTgt spid="1186975779"/>
                            </p:tgtEl>
                            <p:attrNameLst>
                              <p:attrName>ppt_y</p:attrName>
                            </p:attrNameLst>
                          </p:cBhvr>
                          <p:tavLst>
                            <p:tav tm="0">
                              <p:val>
                                <p:fltVal val="0.045999999999999999"/>
                              </p:val>
                            </p:tav>
                            <p:tav tm="100000">
                              <p:val>
                                <p:fltVal val="0"/>
                              </p:val>
                            </p:tav>
                          </p:tavLst>
                        </p:anim>
                      </p:childTnLst>
                    </p:cTn>
                  </p:par>
                  <p:par>
                    <p:cTn id="11" presetID="10" presetClass="entr" presetSubtype="0" fill="hold" grpId="0" nodeType="afterEffect">
                      <p:stCondLst>
                        <p:cond delay="150"/>
                      </p:stCondLst>
                      <p:childTnLst>
                        <p:set>
                          <p:cBhvr>
                            <p:cTn id="12" dur="1" fill="hold">
                              <p:stCondLst>
                                <p:cond delay="0"/>
                              </p:stCondLst>
                            </p:cTn>
                            <p:tgtEl>
                              <p:spTgt spid="2021662710"/>
                            </p:tgtEl>
                            <p:attrNameLst>
                              <p:attrName>style.visibility</p:attrName>
                            </p:attrNameLst>
                          </p:cBhvr>
                          <p:to>
                            <p:strVal val="visible"/>
                          </p:to>
                        </p:set>
                        <p:animEffect transition="in" filter="fade">
                          <p:cBhvr>
                            <p:cTn id="13" dur="400"/>
                            <p:tgtEl>
                              <p:spTgt spid="2021662710"/>
                            </p:tgtEl>
                          </p:cBhvr>
                        </p:animEffect>
                        <p:anim calcmode="lin" valueType="num">
                          <p:cBhvr additive="base">
                            <p:cTn id="14" dur="400" fill="hold"/>
                            <p:tgtEl>
                              <p:spTgt spid="2021662710"/>
                            </p:tgtEl>
                            <p:attrNameLst>
                              <p:attrName>ppt_y</p:attrName>
                            </p:attrNameLst>
                          </p:cBhvr>
                          <p:tavLst>
                            <p:tav tm="0">
                              <p:val>
                                <p:fltVal val="0.045999999999999999"/>
                              </p:val>
                            </p:tav>
                            <p:tav tm="100000">
                              <p:val>
                                <p:fltVal val="0"/>
                              </p:val>
                            </p:tav>
                          </p:tavLst>
                        </p:anim>
                      </p:childTnLst>
                    </p:cTn>
                  </p:par>
                  <p:par>
                    <p:cTn id="19" presetID="10" presetClass="entr" presetSubtype="0" fill="hold" grpId="0" nodeType="afterEffect">
                      <p:stCondLst>
                        <p:cond delay="150"/>
                      </p:stCondLst>
                      <p:childTnLst>
                        <p:set>
                          <p:cBhvr>
                            <p:cTn id="20" dur="1" fill="hold">
                              <p:stCondLst>
                                <p:cond delay="0"/>
                              </p:stCondLst>
                            </p:cTn>
                            <p:tgtEl>
                              <p:spTgt spid="2006301374"/>
                            </p:tgtEl>
                            <p:attrNameLst>
                              <p:attrName>style.visibility</p:attrName>
                            </p:attrNameLst>
                          </p:cBhvr>
                          <p:to>
                            <p:strVal val="visible"/>
                          </p:to>
                        </p:set>
                        <p:animEffect transition="in" filter="fade">
                          <p:cBhvr>
                            <p:cTn id="21" dur="400"/>
                            <p:tgtEl>
                              <p:spTgt spid="2006301374"/>
                            </p:tgtEl>
                          </p:cBhvr>
                        </p:animEffect>
                        <p:anim calcmode="lin" valueType="num">
                          <p:cBhvr additive="base">
                            <p:cTn id="22" dur="400" fill="hold"/>
                            <p:tgtEl>
                              <p:spTgt spid="2006301374"/>
                            </p:tgtEl>
                            <p:attrNameLst>
                              <p:attrName>ppt_y</p:attrName>
                            </p:attrNameLst>
                          </p:cBhvr>
                          <p:tavLst>
                            <p:tav tm="0">
                              <p:val>
                                <p:fltVal val="0.045999999999999999"/>
                              </p:val>
                            </p:tav>
                            <p:tav tm="100000">
                              <p:val>
                                <p:fltVal val="0"/>
                              </p:val>
                            </p:tav>
                          </p:tavLst>
                        </p:anim>
                      </p:childTnLst>
                    </p:cTn>
                  </p:par>
                  <p:par>
                    <p:cTn id="23" presetID="10" presetClass="entr" presetSubtype="0" fill="hold" grpId="0" nodeType="afterEffect">
                      <p:stCondLst>
                        <p:cond delay="150"/>
                      </p:stCondLst>
                      <p:childTnLst>
                        <p:set>
                          <p:cBhvr>
                            <p:cTn id="24" dur="1" fill="hold">
                              <p:stCondLst>
                                <p:cond delay="0"/>
                              </p:stCondLst>
                            </p:cTn>
                            <p:tgtEl>
                              <p:spTgt spid="1950787136"/>
                            </p:tgtEl>
                            <p:attrNameLst>
                              <p:attrName>style.visibility</p:attrName>
                            </p:attrNameLst>
                          </p:cBhvr>
                          <p:to>
                            <p:strVal val="visible"/>
                          </p:to>
                        </p:set>
                        <p:animEffect transition="in" filter="fade">
                          <p:cBhvr>
                            <p:cTn id="25" dur="400"/>
                            <p:tgtEl>
                              <p:spTgt spid="1950787136"/>
                            </p:tgtEl>
                          </p:cBhvr>
                        </p:animEffect>
                        <p:anim calcmode="lin" valueType="num">
                          <p:cBhvr additive="base">
                            <p:cTn id="26" dur="400" fill="hold"/>
                            <p:tgtEl>
                              <p:spTgt spid="1950787136"/>
                            </p:tgtEl>
                            <p:attrNameLst>
                              <p:attrName>ppt_y</p:attrName>
                            </p:attrNameLst>
                          </p:cBhvr>
                          <p:tavLst>
                            <p:tav tm="0">
                              <p:val>
                                <p:fltVal val="0.045999999999999999"/>
                              </p:val>
                            </p:tav>
                            <p:tav tm="100000">
                              <p:val>
                                <p:fltVal val="0"/>
                              </p:val>
                            </p:tav>
                          </p:tavLst>
                        </p:anim>
                      </p:childTnLst>
                    </p:cTn>
                  </p:par>
                  <p:par>
                    <p:cTn id="27" presetID="10" presetClass="entr" presetSubtype="0" fill="hold" grpId="0" nodeType="afterEffect">
                      <p:stCondLst>
                        <p:cond delay="150"/>
                      </p:stCondLst>
                      <p:childTnLst>
                        <p:set>
                          <p:cBhvr>
                            <p:cTn id="28" dur="1" fill="hold">
                              <p:stCondLst>
                                <p:cond delay="0"/>
                              </p:stCondLst>
                            </p:cTn>
                            <p:tgtEl>
                              <p:spTgt spid="331758116"/>
                            </p:tgtEl>
                            <p:attrNameLst>
                              <p:attrName>style.visibility</p:attrName>
                            </p:attrNameLst>
                          </p:cBhvr>
                          <p:to>
                            <p:strVal val="visible"/>
                          </p:to>
                        </p:set>
                        <p:animEffect transition="in" filter="fade">
                          <p:cBhvr>
                            <p:cTn id="29" dur="400"/>
                            <p:tgtEl>
                              <p:spTgt spid="331758116"/>
                            </p:tgtEl>
                          </p:cBhvr>
                        </p:animEffect>
                        <p:anim calcmode="lin" valueType="num">
                          <p:cBhvr additive="base">
                            <p:cTn id="30" dur="400" fill="hold"/>
                            <p:tgtEl>
                              <p:spTgt spid="331758116"/>
                            </p:tgtEl>
                            <p:attrNameLst>
                              <p:attrName>ppt_y</p:attrName>
                            </p:attrNameLst>
                          </p:cBhvr>
                          <p:tavLst>
                            <p:tav tm="0">
                              <p:val>
                                <p:fltVal val="0.045999999999999999"/>
                              </p:val>
                            </p:tav>
                            <p:tav tm="100000">
                              <p:val>
                                <p:fltVal val="0"/>
                              </p:val>
                            </p:tav>
                          </p:tavLst>
                        </p:anim>
                      </p:childTnLst>
                    </p:cTn>
                  </p:par>
                  <p:par>
                    <p:cTn id="31" presetID="10" presetClass="entr" presetSubtype="0" fill="hold" grpId="0" nodeType="afterEffect">
                      <p:stCondLst>
                        <p:cond delay="150"/>
                      </p:stCondLst>
                      <p:childTnLst>
                        <p:set>
                          <p:cBhvr>
                            <p:cTn id="32" dur="1" fill="hold">
                              <p:stCondLst>
                                <p:cond delay="0"/>
                              </p:stCondLst>
                            </p:cTn>
                            <p:tgtEl>
                              <p:spTgt spid="1980775845"/>
                            </p:tgtEl>
                            <p:attrNameLst>
                              <p:attrName>style.visibility</p:attrName>
                            </p:attrNameLst>
                          </p:cBhvr>
                          <p:to>
                            <p:strVal val="visible"/>
                          </p:to>
                        </p:set>
                        <p:animEffect transition="in" filter="fade">
                          <p:cBhvr>
                            <p:cTn id="33" dur="400"/>
                            <p:tgtEl>
                              <p:spTgt spid="1980775845"/>
                            </p:tgtEl>
                          </p:cBhvr>
                        </p:animEffect>
                        <p:anim calcmode="lin" valueType="num">
                          <p:cBhvr additive="base">
                            <p:cTn id="34" dur="400" fill="hold"/>
                            <p:tgtEl>
                              <p:spTgt spid="1980775845"/>
                            </p:tgtEl>
                            <p:attrNameLst>
                              <p:attrName>ppt_y</p:attrName>
                            </p:attrNameLst>
                          </p:cBhvr>
                          <p:tavLst>
                            <p:tav tm="0">
                              <p:val>
                                <p:fltVal val="0.045999999999999999"/>
                              </p:val>
                            </p:tav>
                            <p:tav tm="100000">
                              <p:val>
                                <p:fltVal val="0"/>
                              </p:val>
                            </p:tav>
                          </p:tavLst>
                        </p:anim>
                      </p:childTnLst>
                    </p:cTn>
                  </p:par>
                  <p:par>
                    <p:cTn id="35" presetID="10" presetClass="entr" presetSubtype="0" fill="hold" grpId="0" nodeType="afterEffect">
                      <p:stCondLst>
                        <p:cond delay="150"/>
                      </p:stCondLst>
                      <p:childTnLst>
                        <p:set>
                          <p:cBhvr>
                            <p:cTn id="36" dur="1" fill="hold">
                              <p:stCondLst>
                                <p:cond delay="0"/>
                              </p:stCondLst>
                            </p:cTn>
                            <p:tgtEl>
                              <p:spTgt spid="1601252717"/>
                            </p:tgtEl>
                            <p:attrNameLst>
                              <p:attrName>style.visibility</p:attrName>
                            </p:attrNameLst>
                          </p:cBhvr>
                          <p:to>
                            <p:strVal val="visible"/>
                          </p:to>
                        </p:set>
                        <p:animEffect transition="in" filter="fade">
                          <p:cBhvr>
                            <p:cTn id="37" dur="400"/>
                            <p:tgtEl>
                              <p:spTgt spid="1601252717"/>
                            </p:tgtEl>
                          </p:cBhvr>
                        </p:animEffect>
                        <p:anim calcmode="lin" valueType="num">
                          <p:cBhvr additive="base">
                            <p:cTn id="38" dur="400" fill="hold"/>
                            <p:tgtEl>
                              <p:spTgt spid="1601252717"/>
                            </p:tgtEl>
                            <p:attrNameLst>
                              <p:attrName>ppt_y</p:attrName>
                            </p:attrNameLst>
                          </p:cBhvr>
                          <p:tavLst>
                            <p:tav tm="0">
                              <p:val>
                                <p:fltVal val="0.045999999999999999"/>
                              </p:val>
                            </p:tav>
                            <p:tav tm="100000">
                              <p:val>
                                <p:fltVal val="0"/>
                              </p:val>
                            </p:tav>
                          </p:tavLst>
                        </p:anim>
                      </p:childTnLst>
                    </p:cTn>
                  </p:par>
                </p:childTnLst>
              </p:cTn>
            </p:par>
          </p:childTnLst>
        </p:cTn>
      </p:par>
    </p:tnLst>
    <p:bldLst>
      <p:bldP spid="1292655452" grpId="0" animBg="1"/>
      <p:bldP spid="1186975779" grpId="0" animBg="1"/>
      <p:bldP spid="2021662710" grpId="0" animBg="1"/>
      <p:bldP spid="2006301374" grpId="0" animBg="1"/>
      <p:bldP spid="1950787136" grpId="0" animBg="1"/>
      <p:bldP spid="331758116" grpId="0" animBg="1"/>
      <p:bldP spid="1980775845" grpId="0" animBg="1"/>
      <p:bldP spid="1601252717" grpId="0" animBg="1"/>
    </p:bldLst>
  </p:timing>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651629046" name="Eyebrow"/>
          <p:cNvSpPr txBox="1"/>
          <p:nvPr/>
        </p:nvSpPr>
        <p:spPr bwMode="auto">
          <a:xfrm>
            <a:off x="914400" y="584200"/>
            <a:ext cx="9144000" cy="254000"/>
          </a:xfrm>
          <a:prstGeom prst="rect">
            <a:avLst/>
          </a:prstGeom>
          <a:noFill/>
          <a:ln>
            <a:noFill/>
          </a:ln>
        </p:spPr>
        <p:txBody>
          <a:bodyPr wrap="square" lIns="0" tIns="0" rIns="0" bIns="0" anchor="t">
            <a:normAutofit/>
          </a:bodyPr>
          <a:lstStyle/>
          <a:p>
            <a:pPr>
              <a:buNone/>
              <a:defRPr/>
            </a:pPr>
            <a:r>
              <a:rPr lang="fr-FR" sz="1400" b="1" spc="240">
                <a:solidFill>
                  <a:srgbClr val="64748B"/>
                </a:solidFill>
              </a:rPr>
              <a:t>DÉMARCHE PROJET</a:t>
            </a:r>
            <a:endParaRPr/>
          </a:p>
        </p:txBody>
      </p:sp>
      <p:sp>
        <p:nvSpPr>
          <p:cNvPr id="2059231389" name="Titre"/>
          <p:cNvSpPr txBox="1"/>
          <p:nvPr/>
        </p:nvSpPr>
        <p:spPr bwMode="auto">
          <a:xfrm>
            <a:off x="914400" y="863599"/>
            <a:ext cx="9652000" cy="508000"/>
          </a:xfrm>
          <a:prstGeom prst="rect">
            <a:avLst/>
          </a:prstGeom>
          <a:noFill/>
          <a:ln>
            <a:noFill/>
          </a:ln>
        </p:spPr>
        <p:txBody>
          <a:bodyPr wrap="square" lIns="0" tIns="0" rIns="0" bIns="0" anchor="t">
            <a:normAutofit/>
          </a:bodyPr>
          <a:lstStyle/>
          <a:p>
            <a:pPr>
              <a:buNone/>
              <a:defRPr/>
            </a:pPr>
            <a:r>
              <a:rPr lang="fr-FR" sz="3000">
                <a:solidFill>
                  <a:srgbClr val="0B1F3A"/>
                </a:solidFill>
                <a:latin typeface="Segoe UI Semibold"/>
              </a:rPr>
              <a:t>Méthodologie &amp; organisation</a:t>
            </a:r>
            <a:endParaRPr/>
          </a:p>
        </p:txBody>
      </p:sp>
      <p:sp>
        <p:nvSpPr>
          <p:cNvPr id="473930813" name="Filet"/>
          <p:cNvSpPr/>
          <p:nvPr/>
        </p:nvSpPr>
        <p:spPr bwMode="auto">
          <a:xfrm>
            <a:off x="914400" y="1473200"/>
            <a:ext cx="685800" cy="50800"/>
          </a:xfrm>
          <a:prstGeom prst="rect">
            <a:avLst/>
          </a:prstGeom>
          <a:solidFill>
            <a:srgbClr val="2563EB"/>
          </a:solidFill>
          <a:ln>
            <a:noFill/>
          </a:ln>
        </p:spPr>
        <p:txBody>
          <a:bodyPr wrap="square" lIns="0" tIns="0" rIns="0" bIns="0" anchor="t">
            <a:normAutofit/>
          </a:bodyPr>
          <a:lstStyle/>
          <a:p>
            <a:pPr>
              <a:defRPr/>
            </a:pPr>
            <a:endParaRPr/>
          </a:p>
        </p:txBody>
      </p:sp>
      <p:sp>
        <p:nvSpPr>
          <p:cNvPr id="893008964" name="Frise"/>
          <p:cNvSpPr/>
          <p:nvPr/>
        </p:nvSpPr>
        <p:spPr bwMode="auto">
          <a:xfrm>
            <a:off x="1654629" y="2133600"/>
            <a:ext cx="8882743" cy="38100"/>
          </a:xfrm>
          <a:prstGeom prst="rect">
            <a:avLst/>
          </a:prstGeom>
          <a:solidFill>
            <a:srgbClr val="BFD3F2"/>
          </a:solidFill>
          <a:ln>
            <a:noFill/>
          </a:ln>
        </p:spPr>
        <p:txBody>
          <a:bodyPr wrap="square" lIns="0" tIns="0" rIns="0" bIns="0" anchor="t">
            <a:normAutofit/>
          </a:bodyPr>
          <a:lstStyle/>
          <a:p>
            <a:pPr>
              <a:defRPr/>
            </a:pPr>
            <a:endParaRPr/>
          </a:p>
        </p:txBody>
      </p:sp>
      <p:sp>
        <p:nvSpPr>
          <p:cNvPr id="7657040" name="Badge0"/>
          <p:cNvSpPr/>
          <p:nvPr/>
        </p:nvSpPr>
        <p:spPr bwMode="auto">
          <a:xfrm>
            <a:off x="1400629" y="1905000"/>
            <a:ext cx="508000" cy="508000"/>
          </a:xfrm>
          <a:prstGeom prst="ellipse">
            <a:avLst/>
          </a:prstGeom>
          <a:solidFill>
            <a:srgbClr val="2563EB"/>
          </a:solidFill>
          <a:ln>
            <a:noFill/>
          </a:ln>
        </p:spPr>
        <p:txBody>
          <a:bodyPr wrap="square" lIns="0" tIns="0" rIns="0" bIns="0" anchor="ctr">
            <a:normAutofit/>
          </a:bodyPr>
          <a:lstStyle/>
          <a:p>
            <a:pPr algn="ctr">
              <a:buNone/>
              <a:defRPr/>
            </a:pPr>
            <a:r>
              <a:rPr lang="fr-FR" sz="1600" b="1">
                <a:solidFill>
                  <a:srgbClr val="FFFFFF"/>
                </a:solidFill>
                <a:latin typeface="Segoe UI Semibold"/>
              </a:rPr>
              <a:t>1</a:t>
            </a:r>
            <a:endParaRPr/>
          </a:p>
        </p:txBody>
      </p:sp>
      <p:sp>
        <p:nvSpPr>
          <p:cNvPr id="80815747" name="Label0"/>
          <p:cNvSpPr txBox="1"/>
          <p:nvPr/>
        </p:nvSpPr>
        <p:spPr bwMode="auto">
          <a:xfrm>
            <a:off x="956129" y="2514600"/>
            <a:ext cx="1397000" cy="762000"/>
          </a:xfrm>
          <a:prstGeom prst="rect">
            <a:avLst/>
          </a:prstGeom>
          <a:noFill/>
          <a:ln>
            <a:noFill/>
          </a:ln>
        </p:spPr>
        <p:txBody>
          <a:bodyPr wrap="square" lIns="0" tIns="0" rIns="0" bIns="0" anchor="t">
            <a:normAutofit/>
          </a:bodyPr>
          <a:lstStyle/>
          <a:p>
            <a:pPr algn="ctr">
              <a:lnSpc>
                <a:spcPts val="1500"/>
              </a:lnSpc>
              <a:buNone/>
              <a:defRPr/>
            </a:pPr>
            <a:r>
              <a:rPr lang="fr-FR" sz="1400">
                <a:solidFill>
                  <a:srgbClr val="0B1F3A"/>
                </a:solidFill>
                <a:latin typeface="Segoe UI Semibold"/>
              </a:rPr>
              <a:t>Compréhension métier</a:t>
            </a:r>
            <a:endParaRPr/>
          </a:p>
        </p:txBody>
      </p:sp>
      <p:sp>
        <p:nvSpPr>
          <p:cNvPr id="1592262328" name="Badge1"/>
          <p:cNvSpPr/>
          <p:nvPr/>
        </p:nvSpPr>
        <p:spPr bwMode="auto">
          <a:xfrm>
            <a:off x="2881086" y="1905000"/>
            <a:ext cx="508000" cy="508000"/>
          </a:xfrm>
          <a:prstGeom prst="ellipse">
            <a:avLst/>
          </a:prstGeom>
          <a:solidFill>
            <a:srgbClr val="2563EB"/>
          </a:solidFill>
          <a:ln>
            <a:noFill/>
          </a:ln>
        </p:spPr>
        <p:txBody>
          <a:bodyPr wrap="square" lIns="0" tIns="0" rIns="0" bIns="0" anchor="ctr">
            <a:normAutofit/>
          </a:bodyPr>
          <a:lstStyle/>
          <a:p>
            <a:pPr algn="ctr">
              <a:buNone/>
              <a:defRPr/>
            </a:pPr>
            <a:r>
              <a:rPr lang="fr-FR" sz="1600" b="1">
                <a:solidFill>
                  <a:srgbClr val="FFFFFF"/>
                </a:solidFill>
                <a:latin typeface="Segoe UI Semibold"/>
              </a:rPr>
              <a:t>2</a:t>
            </a:r>
            <a:endParaRPr/>
          </a:p>
        </p:txBody>
      </p:sp>
      <p:sp>
        <p:nvSpPr>
          <p:cNvPr id="1885010421" name="Label1"/>
          <p:cNvSpPr txBox="1"/>
          <p:nvPr/>
        </p:nvSpPr>
        <p:spPr bwMode="auto">
          <a:xfrm>
            <a:off x="2436586" y="2514600"/>
            <a:ext cx="1397000" cy="762000"/>
          </a:xfrm>
          <a:prstGeom prst="rect">
            <a:avLst/>
          </a:prstGeom>
          <a:noFill/>
          <a:ln>
            <a:noFill/>
          </a:ln>
        </p:spPr>
        <p:txBody>
          <a:bodyPr wrap="square" lIns="0" tIns="0" rIns="0" bIns="0" anchor="t">
            <a:normAutofit/>
          </a:bodyPr>
          <a:lstStyle/>
          <a:p>
            <a:pPr algn="ctr">
              <a:lnSpc>
                <a:spcPts val="1500"/>
              </a:lnSpc>
              <a:buNone/>
              <a:defRPr/>
            </a:pPr>
            <a:r>
              <a:rPr lang="fr-FR" sz="1400">
                <a:solidFill>
                  <a:srgbClr val="0B1F3A"/>
                </a:solidFill>
                <a:latin typeface="Segoe UI Semibold"/>
              </a:rPr>
              <a:t>Compréhension des données</a:t>
            </a:r>
            <a:endParaRPr/>
          </a:p>
        </p:txBody>
      </p:sp>
      <p:sp>
        <p:nvSpPr>
          <p:cNvPr id="1867531773" name="Badge2"/>
          <p:cNvSpPr/>
          <p:nvPr/>
        </p:nvSpPr>
        <p:spPr bwMode="auto">
          <a:xfrm>
            <a:off x="4361543" y="1905000"/>
            <a:ext cx="508000" cy="508000"/>
          </a:xfrm>
          <a:prstGeom prst="ellipse">
            <a:avLst/>
          </a:prstGeom>
          <a:solidFill>
            <a:srgbClr val="2563EB"/>
          </a:solidFill>
          <a:ln>
            <a:noFill/>
          </a:ln>
        </p:spPr>
        <p:txBody>
          <a:bodyPr wrap="square" lIns="0" tIns="0" rIns="0" bIns="0" anchor="ctr">
            <a:normAutofit/>
          </a:bodyPr>
          <a:lstStyle/>
          <a:p>
            <a:pPr algn="ctr">
              <a:buNone/>
              <a:defRPr/>
            </a:pPr>
            <a:r>
              <a:rPr lang="fr-FR" sz="1600" b="1">
                <a:solidFill>
                  <a:srgbClr val="FFFFFF"/>
                </a:solidFill>
                <a:latin typeface="Segoe UI Semibold"/>
              </a:rPr>
              <a:t>3</a:t>
            </a:r>
            <a:endParaRPr/>
          </a:p>
        </p:txBody>
      </p:sp>
      <p:sp>
        <p:nvSpPr>
          <p:cNvPr id="845285182" name="Label2"/>
          <p:cNvSpPr txBox="1"/>
          <p:nvPr/>
        </p:nvSpPr>
        <p:spPr bwMode="auto">
          <a:xfrm>
            <a:off x="3917043" y="2514600"/>
            <a:ext cx="1397000" cy="762000"/>
          </a:xfrm>
          <a:prstGeom prst="rect">
            <a:avLst/>
          </a:prstGeom>
          <a:noFill/>
          <a:ln>
            <a:noFill/>
          </a:ln>
        </p:spPr>
        <p:txBody>
          <a:bodyPr wrap="square" lIns="0" tIns="0" rIns="0" bIns="0" anchor="t">
            <a:normAutofit/>
          </a:bodyPr>
          <a:lstStyle/>
          <a:p>
            <a:pPr algn="ctr">
              <a:lnSpc>
                <a:spcPts val="1500"/>
              </a:lnSpc>
              <a:buNone/>
              <a:defRPr/>
            </a:pPr>
            <a:r>
              <a:rPr lang="fr-FR" sz="1400">
                <a:solidFill>
                  <a:srgbClr val="0B1F3A"/>
                </a:solidFill>
                <a:latin typeface="Segoe UI Semibold"/>
              </a:rPr>
              <a:t>Préparation des données</a:t>
            </a:r>
            <a:endParaRPr/>
          </a:p>
        </p:txBody>
      </p:sp>
      <p:sp>
        <p:nvSpPr>
          <p:cNvPr id="1631463529" name="Badge3"/>
          <p:cNvSpPr/>
          <p:nvPr/>
        </p:nvSpPr>
        <p:spPr bwMode="auto">
          <a:xfrm>
            <a:off x="5842000" y="1905000"/>
            <a:ext cx="508000" cy="508000"/>
          </a:xfrm>
          <a:prstGeom prst="ellipse">
            <a:avLst/>
          </a:prstGeom>
          <a:solidFill>
            <a:srgbClr val="2563EB"/>
          </a:solidFill>
          <a:ln>
            <a:noFill/>
          </a:ln>
        </p:spPr>
        <p:txBody>
          <a:bodyPr wrap="square" lIns="0" tIns="0" rIns="0" bIns="0" anchor="ctr">
            <a:normAutofit/>
          </a:bodyPr>
          <a:lstStyle/>
          <a:p>
            <a:pPr algn="ctr">
              <a:buNone/>
              <a:defRPr/>
            </a:pPr>
            <a:r>
              <a:rPr lang="fr-FR" sz="1600" b="1">
                <a:solidFill>
                  <a:srgbClr val="FFFFFF"/>
                </a:solidFill>
                <a:latin typeface="Segoe UI Semibold"/>
              </a:rPr>
              <a:t>4</a:t>
            </a:r>
            <a:endParaRPr/>
          </a:p>
        </p:txBody>
      </p:sp>
      <p:sp>
        <p:nvSpPr>
          <p:cNvPr id="1739828018" name="Label3"/>
          <p:cNvSpPr txBox="1"/>
          <p:nvPr/>
        </p:nvSpPr>
        <p:spPr bwMode="auto">
          <a:xfrm>
            <a:off x="5397500" y="2514600"/>
            <a:ext cx="1397000" cy="762000"/>
          </a:xfrm>
          <a:prstGeom prst="rect">
            <a:avLst/>
          </a:prstGeom>
          <a:noFill/>
          <a:ln>
            <a:noFill/>
          </a:ln>
        </p:spPr>
        <p:txBody>
          <a:bodyPr wrap="square" lIns="0" tIns="0" rIns="0" bIns="0" anchor="t">
            <a:normAutofit/>
          </a:bodyPr>
          <a:lstStyle/>
          <a:p>
            <a:pPr algn="ctr">
              <a:lnSpc>
                <a:spcPts val="1500"/>
              </a:lnSpc>
              <a:buNone/>
              <a:defRPr/>
            </a:pPr>
            <a:r>
              <a:rPr lang="fr-FR" sz="1400">
                <a:solidFill>
                  <a:srgbClr val="0B1F3A"/>
                </a:solidFill>
                <a:latin typeface="Segoe UI Semibold"/>
              </a:rPr>
              <a:t>Modélisation</a:t>
            </a:r>
            <a:endParaRPr/>
          </a:p>
        </p:txBody>
      </p:sp>
      <p:sp>
        <p:nvSpPr>
          <p:cNvPr id="77571254" name="Badge4"/>
          <p:cNvSpPr/>
          <p:nvPr/>
        </p:nvSpPr>
        <p:spPr bwMode="auto">
          <a:xfrm>
            <a:off x="7322457" y="1905000"/>
            <a:ext cx="508000" cy="508000"/>
          </a:xfrm>
          <a:prstGeom prst="ellipse">
            <a:avLst/>
          </a:prstGeom>
          <a:solidFill>
            <a:srgbClr val="2563EB"/>
          </a:solidFill>
          <a:ln>
            <a:noFill/>
          </a:ln>
        </p:spPr>
        <p:txBody>
          <a:bodyPr wrap="square" lIns="0" tIns="0" rIns="0" bIns="0" anchor="ctr">
            <a:normAutofit/>
          </a:bodyPr>
          <a:lstStyle/>
          <a:p>
            <a:pPr algn="ctr">
              <a:buNone/>
              <a:defRPr/>
            </a:pPr>
            <a:r>
              <a:rPr lang="fr-FR" sz="1600" b="1">
                <a:solidFill>
                  <a:srgbClr val="FFFFFF"/>
                </a:solidFill>
                <a:latin typeface="Segoe UI Semibold"/>
              </a:rPr>
              <a:t>5</a:t>
            </a:r>
            <a:endParaRPr/>
          </a:p>
        </p:txBody>
      </p:sp>
      <p:sp>
        <p:nvSpPr>
          <p:cNvPr id="232974847" name="Label4"/>
          <p:cNvSpPr txBox="1"/>
          <p:nvPr/>
        </p:nvSpPr>
        <p:spPr bwMode="auto">
          <a:xfrm>
            <a:off x="6877957" y="2514600"/>
            <a:ext cx="1397000" cy="762000"/>
          </a:xfrm>
          <a:prstGeom prst="rect">
            <a:avLst/>
          </a:prstGeom>
          <a:noFill/>
          <a:ln>
            <a:noFill/>
          </a:ln>
        </p:spPr>
        <p:txBody>
          <a:bodyPr wrap="square" lIns="0" tIns="0" rIns="0" bIns="0" anchor="t">
            <a:normAutofit/>
          </a:bodyPr>
          <a:lstStyle/>
          <a:p>
            <a:pPr algn="ctr">
              <a:lnSpc>
                <a:spcPts val="1500"/>
              </a:lnSpc>
              <a:buNone/>
              <a:defRPr/>
            </a:pPr>
            <a:r>
              <a:rPr lang="fr-FR" sz="1400">
                <a:solidFill>
                  <a:srgbClr val="0B1F3A"/>
                </a:solidFill>
                <a:latin typeface="Segoe UI Semibold"/>
              </a:rPr>
              <a:t>Évaluation</a:t>
            </a:r>
            <a:endParaRPr/>
          </a:p>
        </p:txBody>
      </p:sp>
      <p:sp>
        <p:nvSpPr>
          <p:cNvPr id="685270213" name="Badge5"/>
          <p:cNvSpPr/>
          <p:nvPr/>
        </p:nvSpPr>
        <p:spPr bwMode="auto">
          <a:xfrm>
            <a:off x="8802914" y="1905000"/>
            <a:ext cx="508000" cy="508000"/>
          </a:xfrm>
          <a:prstGeom prst="ellipse">
            <a:avLst/>
          </a:prstGeom>
          <a:solidFill>
            <a:srgbClr val="2563EB"/>
          </a:solidFill>
          <a:ln>
            <a:noFill/>
          </a:ln>
        </p:spPr>
        <p:txBody>
          <a:bodyPr wrap="square" lIns="0" tIns="0" rIns="0" bIns="0" anchor="ctr">
            <a:normAutofit/>
          </a:bodyPr>
          <a:lstStyle/>
          <a:p>
            <a:pPr algn="ctr">
              <a:buNone/>
              <a:defRPr/>
            </a:pPr>
            <a:r>
              <a:rPr lang="fr-FR" sz="1600" b="1">
                <a:solidFill>
                  <a:srgbClr val="FFFFFF"/>
                </a:solidFill>
                <a:latin typeface="Segoe UI Semibold"/>
              </a:rPr>
              <a:t>6</a:t>
            </a:r>
            <a:endParaRPr/>
          </a:p>
        </p:txBody>
      </p:sp>
      <p:sp>
        <p:nvSpPr>
          <p:cNvPr id="545658050" name="Label5"/>
          <p:cNvSpPr txBox="1"/>
          <p:nvPr/>
        </p:nvSpPr>
        <p:spPr bwMode="auto">
          <a:xfrm>
            <a:off x="8358414" y="2514600"/>
            <a:ext cx="1397000" cy="762000"/>
          </a:xfrm>
          <a:prstGeom prst="rect">
            <a:avLst/>
          </a:prstGeom>
          <a:noFill/>
          <a:ln>
            <a:noFill/>
          </a:ln>
        </p:spPr>
        <p:txBody>
          <a:bodyPr wrap="square" lIns="0" tIns="0" rIns="0" bIns="0" anchor="t">
            <a:normAutofit/>
          </a:bodyPr>
          <a:lstStyle/>
          <a:p>
            <a:pPr algn="ctr">
              <a:lnSpc>
                <a:spcPts val="1500"/>
              </a:lnSpc>
              <a:buNone/>
              <a:defRPr/>
            </a:pPr>
            <a:r>
              <a:rPr lang="fr-FR" sz="1400">
                <a:solidFill>
                  <a:srgbClr val="0B1F3A"/>
                </a:solidFill>
                <a:latin typeface="Segoe UI Semibold"/>
              </a:rPr>
              <a:t>Déploiement</a:t>
            </a:r>
            <a:endParaRPr/>
          </a:p>
        </p:txBody>
      </p:sp>
      <p:sp>
        <p:nvSpPr>
          <p:cNvPr id="1948905322" name="Badge6"/>
          <p:cNvSpPr/>
          <p:nvPr/>
        </p:nvSpPr>
        <p:spPr bwMode="auto">
          <a:xfrm>
            <a:off x="10283371" y="1905000"/>
            <a:ext cx="508000" cy="508000"/>
          </a:xfrm>
          <a:prstGeom prst="ellipse">
            <a:avLst/>
          </a:prstGeom>
          <a:solidFill>
            <a:srgbClr val="2563EB"/>
          </a:solidFill>
          <a:ln>
            <a:noFill/>
          </a:ln>
        </p:spPr>
        <p:txBody>
          <a:bodyPr wrap="square" lIns="0" tIns="0" rIns="0" bIns="0" anchor="ctr">
            <a:normAutofit/>
          </a:bodyPr>
          <a:lstStyle/>
          <a:p>
            <a:pPr algn="ctr">
              <a:buNone/>
              <a:defRPr/>
            </a:pPr>
            <a:r>
              <a:rPr lang="fr-FR" sz="1600" b="1">
                <a:solidFill>
                  <a:srgbClr val="FFFFFF"/>
                </a:solidFill>
                <a:latin typeface="Segoe UI Semibold"/>
              </a:rPr>
              <a:t>7</a:t>
            </a:r>
            <a:endParaRPr/>
          </a:p>
        </p:txBody>
      </p:sp>
      <p:sp>
        <p:nvSpPr>
          <p:cNvPr id="663900508" name="Label6"/>
          <p:cNvSpPr txBox="1"/>
          <p:nvPr/>
        </p:nvSpPr>
        <p:spPr bwMode="auto">
          <a:xfrm>
            <a:off x="9838871" y="2514600"/>
            <a:ext cx="1397000" cy="762000"/>
          </a:xfrm>
          <a:prstGeom prst="rect">
            <a:avLst/>
          </a:prstGeom>
          <a:noFill/>
          <a:ln>
            <a:noFill/>
          </a:ln>
        </p:spPr>
        <p:txBody>
          <a:bodyPr wrap="square" lIns="0" tIns="0" rIns="0" bIns="0" anchor="t">
            <a:normAutofit/>
          </a:bodyPr>
          <a:lstStyle/>
          <a:p>
            <a:pPr algn="ctr">
              <a:lnSpc>
                <a:spcPts val="1500"/>
              </a:lnSpc>
              <a:buNone/>
              <a:defRPr/>
            </a:pPr>
            <a:r>
              <a:rPr lang="fr-FR" sz="1400">
                <a:solidFill>
                  <a:srgbClr val="0B1F3A"/>
                </a:solidFill>
                <a:latin typeface="Segoe UI Semibold"/>
              </a:rPr>
              <a:t>Restitution</a:t>
            </a:r>
            <a:endParaRPr/>
          </a:p>
        </p:txBody>
      </p:sp>
      <p:sp>
        <p:nvSpPr>
          <p:cNvPr id="1726254993" name="Page"/>
          <p:cNvSpPr txBox="1"/>
          <p:nvPr/>
        </p:nvSpPr>
        <p:spPr bwMode="auto">
          <a:xfrm>
            <a:off x="10515600" y="6451600"/>
            <a:ext cx="914400" cy="254000"/>
          </a:xfrm>
          <a:prstGeom prst="rect">
            <a:avLst/>
          </a:prstGeom>
          <a:noFill/>
          <a:ln>
            <a:noFill/>
          </a:ln>
        </p:spPr>
        <p:txBody>
          <a:bodyPr wrap="square" lIns="0" tIns="0" rIns="0" bIns="0" anchor="t">
            <a:normAutofit/>
          </a:bodyPr>
          <a:lstStyle/>
          <a:p>
            <a:pPr algn="r">
              <a:buNone/>
              <a:defRPr/>
            </a:pPr>
            <a:r>
              <a:rPr lang="fr-FR" sz="1400">
                <a:solidFill>
                  <a:srgbClr val="64748B"/>
                </a:solidFill>
              </a:rPr>
              <a:t>06</a:t>
            </a:r>
            <a:endParaRPr/>
          </a:p>
        </p:txBody>
      </p:sp>
      <p:pic>
        <p:nvPicPr>
          <p:cNvPr id="1377416158" name=""/>
          <p:cNvPicPr>
            <a:picLocks noChangeAspect="1"/>
          </p:cNvPicPr>
          <p:nvPr/>
        </p:nvPicPr>
        <p:blipFill rotWithShape="1">
          <a:blip r:embed="rId3"/>
          <a:stretch/>
        </p:blipFill>
        <p:spPr bwMode="auto">
          <a:xfrm flipH="0" flipV="0">
            <a:off x="914399" y="3057757"/>
            <a:ext cx="10058400" cy="3520842"/>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med" p14:dur="500" advClick="1">
        <p:fade thruBlk="0"/>
      </p:transition>
    </mc:Choice>
    <mc:Fallback>
      <p:transition spd="med" advClick="1">
        <p:fade thruBlk="0"/>
      </p:transition>
    </mc:Fallback>
  </mc:AlternateContent>
  <p:timing>
    <p:tnLst>
      <p:par>
        <p:cTn id="1" dur="indefinite" restart="never" nodeType="tmRoot">
          <p:childTnLst>
            <p:par>
              <p:cTn id="2" fill="hold">
                <p:stCondLst>
                  <p:cond delay="0"/>
                </p:stCondLst>
                <p:childTnLst>
                  <p:par>
                    <p:cTn id="3" presetID="10" presetClass="entr" presetSubtype="0" fill="hold" grpId="0" nodeType="afterEffect">
                      <p:stCondLst>
                        <p:cond delay="500"/>
                      </p:stCondLst>
                      <p:childTnLst>
                        <p:set>
                          <p:cBhvr>
                            <p:cTn id="4" dur="1" fill="hold">
                              <p:stCondLst>
                                <p:cond delay="0"/>
                              </p:stCondLst>
                            </p:cTn>
                            <p:tgtEl>
                              <p:spTgt spid="1651629046"/>
                            </p:tgtEl>
                            <p:attrNameLst>
                              <p:attrName>style.visibility</p:attrName>
                            </p:attrNameLst>
                          </p:cBhvr>
                          <p:to>
                            <p:strVal val="visible"/>
                          </p:to>
                        </p:set>
                        <p:animEffect transition="in" filter="fade">
                          <p:cBhvr>
                            <p:cTn id="5" dur="400"/>
                            <p:tgtEl>
                              <p:spTgt spid="1651629046"/>
                            </p:tgtEl>
                          </p:cBhvr>
                        </p:animEffect>
                        <p:anim calcmode="lin" valueType="num">
                          <p:cBhvr additive="base">
                            <p:cTn id="6" dur="400" fill="hold"/>
                            <p:tgtEl>
                              <p:spTgt spid="1651629046"/>
                            </p:tgtEl>
                            <p:attrNameLst>
                              <p:attrName>ppt_y</p:attrName>
                            </p:attrNameLst>
                          </p:cBhvr>
                          <p:tavLst>
                            <p:tav tm="0">
                              <p:val>
                                <p:fltVal val="0.045999999999999999"/>
                              </p:val>
                            </p:tav>
                            <p:tav tm="100000">
                              <p:val>
                                <p:fltVal val="0"/>
                              </p:val>
                            </p:tav>
                          </p:tavLst>
                        </p:anim>
                      </p:childTnLst>
                    </p:cTn>
                  </p:par>
                  <p:par>
                    <p:cTn id="7" presetID="10" presetClass="entr" presetSubtype="0" fill="hold" grpId="0" nodeType="afterEffect">
                      <p:stCondLst>
                        <p:cond delay="150"/>
                      </p:stCondLst>
                      <p:childTnLst>
                        <p:set>
                          <p:cBhvr>
                            <p:cTn id="8" dur="1" fill="hold">
                              <p:stCondLst>
                                <p:cond delay="0"/>
                              </p:stCondLst>
                            </p:cTn>
                            <p:tgtEl>
                              <p:spTgt spid="2059231389"/>
                            </p:tgtEl>
                            <p:attrNameLst>
                              <p:attrName>style.visibility</p:attrName>
                            </p:attrNameLst>
                          </p:cBhvr>
                          <p:to>
                            <p:strVal val="visible"/>
                          </p:to>
                        </p:set>
                        <p:animEffect transition="in" filter="fade">
                          <p:cBhvr>
                            <p:cTn id="9" dur="400"/>
                            <p:tgtEl>
                              <p:spTgt spid="2059231389"/>
                            </p:tgtEl>
                          </p:cBhvr>
                        </p:animEffect>
                        <p:anim calcmode="lin" valueType="num">
                          <p:cBhvr additive="base">
                            <p:cTn id="10" dur="400" fill="hold"/>
                            <p:tgtEl>
                              <p:spTgt spid="2059231389"/>
                            </p:tgtEl>
                            <p:attrNameLst>
                              <p:attrName>ppt_y</p:attrName>
                            </p:attrNameLst>
                          </p:cBhvr>
                          <p:tavLst>
                            <p:tav tm="0">
                              <p:val>
                                <p:fltVal val="0.045999999999999999"/>
                              </p:val>
                            </p:tav>
                            <p:tav tm="100000">
                              <p:val>
                                <p:fltVal val="0"/>
                              </p:val>
                            </p:tav>
                          </p:tavLst>
                        </p:anim>
                      </p:childTnLst>
                    </p:cTn>
                  </p:par>
                  <p:par>
                    <p:cTn id="11" presetID="10" presetClass="entr" presetSubtype="0" fill="hold" grpId="0" nodeType="afterEffect">
                      <p:stCondLst>
                        <p:cond delay="150"/>
                      </p:stCondLst>
                      <p:childTnLst>
                        <p:set>
                          <p:cBhvr>
                            <p:cTn id="12" dur="1" fill="hold">
                              <p:stCondLst>
                                <p:cond delay="0"/>
                              </p:stCondLst>
                            </p:cTn>
                            <p:tgtEl>
                              <p:spTgt spid="473930813"/>
                            </p:tgtEl>
                            <p:attrNameLst>
                              <p:attrName>style.visibility</p:attrName>
                            </p:attrNameLst>
                          </p:cBhvr>
                          <p:to>
                            <p:strVal val="visible"/>
                          </p:to>
                        </p:set>
                        <p:animEffect transition="in" filter="fade">
                          <p:cBhvr>
                            <p:cTn id="13" dur="400"/>
                            <p:tgtEl>
                              <p:spTgt spid="473930813"/>
                            </p:tgtEl>
                          </p:cBhvr>
                        </p:animEffect>
                        <p:anim calcmode="lin" valueType="num">
                          <p:cBhvr additive="base">
                            <p:cTn id="14" dur="400" fill="hold"/>
                            <p:tgtEl>
                              <p:spTgt spid="473930813"/>
                            </p:tgtEl>
                            <p:attrNameLst>
                              <p:attrName>ppt_y</p:attrName>
                            </p:attrNameLst>
                          </p:cBhvr>
                          <p:tavLst>
                            <p:tav tm="0">
                              <p:val>
                                <p:fltVal val="0.045999999999999999"/>
                              </p:val>
                            </p:tav>
                            <p:tav tm="100000">
                              <p:val>
                                <p:fltVal val="0"/>
                              </p:val>
                            </p:tav>
                          </p:tavLst>
                        </p:anim>
                      </p:childTnLst>
                    </p:cTn>
                  </p:par>
                  <p:par>
                    <p:cTn id="15" presetID="10" presetClass="entr" presetSubtype="0" fill="hold" grpId="0" nodeType="afterEffect">
                      <p:stCondLst>
                        <p:cond delay="150"/>
                      </p:stCondLst>
                      <p:childTnLst>
                        <p:set>
                          <p:cBhvr>
                            <p:cTn id="16" dur="1" fill="hold">
                              <p:stCondLst>
                                <p:cond delay="0"/>
                              </p:stCondLst>
                            </p:cTn>
                            <p:tgtEl>
                              <p:spTgt spid="893008964"/>
                            </p:tgtEl>
                            <p:attrNameLst>
                              <p:attrName>style.visibility</p:attrName>
                            </p:attrNameLst>
                          </p:cBhvr>
                          <p:to>
                            <p:strVal val="visible"/>
                          </p:to>
                        </p:set>
                        <p:animEffect transition="in" filter="fade">
                          <p:cBhvr>
                            <p:cTn id="17" dur="400"/>
                            <p:tgtEl>
                              <p:spTgt spid="893008964"/>
                            </p:tgtEl>
                          </p:cBhvr>
                        </p:animEffect>
                        <p:anim calcmode="lin" valueType="num">
                          <p:cBhvr additive="base">
                            <p:cTn id="18" dur="400" fill="hold"/>
                            <p:tgtEl>
                              <p:spTgt spid="893008964"/>
                            </p:tgtEl>
                            <p:attrNameLst>
                              <p:attrName>ppt_y</p:attrName>
                            </p:attrNameLst>
                          </p:cBhvr>
                          <p:tavLst>
                            <p:tav tm="0">
                              <p:val>
                                <p:fltVal val="0.045999999999999999"/>
                              </p:val>
                            </p:tav>
                            <p:tav tm="100000">
                              <p:val>
                                <p:fltVal val="0"/>
                              </p:val>
                            </p:tav>
                          </p:tavLst>
                        </p:anim>
                      </p:childTnLst>
                    </p:cTn>
                  </p:par>
                  <p:par>
                    <p:cTn id="19" presetID="10" presetClass="entr" presetSubtype="0" fill="hold" grpId="0" nodeType="afterEffect">
                      <p:stCondLst>
                        <p:cond delay="150"/>
                      </p:stCondLst>
                      <p:childTnLst>
                        <p:set>
                          <p:cBhvr>
                            <p:cTn id="20" dur="1" fill="hold">
                              <p:stCondLst>
                                <p:cond delay="0"/>
                              </p:stCondLst>
                            </p:cTn>
                            <p:tgtEl>
                              <p:spTgt spid="7657040"/>
                            </p:tgtEl>
                            <p:attrNameLst>
                              <p:attrName>style.visibility</p:attrName>
                            </p:attrNameLst>
                          </p:cBhvr>
                          <p:to>
                            <p:strVal val="visible"/>
                          </p:to>
                        </p:set>
                        <p:animEffect transition="in" filter="fade">
                          <p:cBhvr>
                            <p:cTn id="21" dur="400"/>
                            <p:tgtEl>
                              <p:spTgt spid="7657040"/>
                            </p:tgtEl>
                          </p:cBhvr>
                        </p:animEffect>
                        <p:anim calcmode="lin" valueType="num">
                          <p:cBhvr additive="base">
                            <p:cTn id="22" dur="400" fill="hold"/>
                            <p:tgtEl>
                              <p:spTgt spid="7657040"/>
                            </p:tgtEl>
                            <p:attrNameLst>
                              <p:attrName>ppt_y</p:attrName>
                            </p:attrNameLst>
                          </p:cBhvr>
                          <p:tavLst>
                            <p:tav tm="0">
                              <p:val>
                                <p:fltVal val="0.045999999999999999"/>
                              </p:val>
                            </p:tav>
                            <p:tav tm="100000">
                              <p:val>
                                <p:fltVal val="0"/>
                              </p:val>
                            </p:tav>
                          </p:tavLst>
                        </p:anim>
                      </p:childTnLst>
                    </p:cTn>
                  </p:par>
                  <p:par>
                    <p:cTn id="23" presetID="10" presetClass="entr" presetSubtype="0" fill="hold" grpId="0" nodeType="afterEffect">
                      <p:stCondLst>
                        <p:cond delay="150"/>
                      </p:stCondLst>
                      <p:childTnLst>
                        <p:set>
                          <p:cBhvr>
                            <p:cTn id="24" dur="1" fill="hold">
                              <p:stCondLst>
                                <p:cond delay="0"/>
                              </p:stCondLst>
                            </p:cTn>
                            <p:tgtEl>
                              <p:spTgt spid="80815747"/>
                            </p:tgtEl>
                            <p:attrNameLst>
                              <p:attrName>style.visibility</p:attrName>
                            </p:attrNameLst>
                          </p:cBhvr>
                          <p:to>
                            <p:strVal val="visible"/>
                          </p:to>
                        </p:set>
                        <p:animEffect transition="in" filter="fade">
                          <p:cBhvr>
                            <p:cTn id="25" dur="400"/>
                            <p:tgtEl>
                              <p:spTgt spid="80815747"/>
                            </p:tgtEl>
                          </p:cBhvr>
                        </p:animEffect>
                        <p:anim calcmode="lin" valueType="num">
                          <p:cBhvr additive="base">
                            <p:cTn id="26" dur="400" fill="hold"/>
                            <p:tgtEl>
                              <p:spTgt spid="80815747"/>
                            </p:tgtEl>
                            <p:attrNameLst>
                              <p:attrName>ppt_y</p:attrName>
                            </p:attrNameLst>
                          </p:cBhvr>
                          <p:tavLst>
                            <p:tav tm="0">
                              <p:val>
                                <p:fltVal val="0.045999999999999999"/>
                              </p:val>
                            </p:tav>
                            <p:tav tm="100000">
                              <p:val>
                                <p:fltVal val="0"/>
                              </p:val>
                            </p:tav>
                          </p:tavLst>
                        </p:anim>
                      </p:childTnLst>
                    </p:cTn>
                  </p:par>
                  <p:par>
                    <p:cTn id="27" presetID="10" presetClass="entr" presetSubtype="0" fill="hold" grpId="0" nodeType="afterEffect">
                      <p:stCondLst>
                        <p:cond delay="150"/>
                      </p:stCondLst>
                      <p:childTnLst>
                        <p:set>
                          <p:cBhvr>
                            <p:cTn id="28" dur="1" fill="hold">
                              <p:stCondLst>
                                <p:cond delay="0"/>
                              </p:stCondLst>
                            </p:cTn>
                            <p:tgtEl>
                              <p:spTgt spid="1592262328"/>
                            </p:tgtEl>
                            <p:attrNameLst>
                              <p:attrName>style.visibility</p:attrName>
                            </p:attrNameLst>
                          </p:cBhvr>
                          <p:to>
                            <p:strVal val="visible"/>
                          </p:to>
                        </p:set>
                        <p:animEffect transition="in" filter="fade">
                          <p:cBhvr>
                            <p:cTn id="29" dur="400"/>
                            <p:tgtEl>
                              <p:spTgt spid="1592262328"/>
                            </p:tgtEl>
                          </p:cBhvr>
                        </p:animEffect>
                        <p:anim calcmode="lin" valueType="num">
                          <p:cBhvr additive="base">
                            <p:cTn id="30" dur="400" fill="hold"/>
                            <p:tgtEl>
                              <p:spTgt spid="1592262328"/>
                            </p:tgtEl>
                            <p:attrNameLst>
                              <p:attrName>ppt_y</p:attrName>
                            </p:attrNameLst>
                          </p:cBhvr>
                          <p:tavLst>
                            <p:tav tm="0">
                              <p:val>
                                <p:fltVal val="0.045999999999999999"/>
                              </p:val>
                            </p:tav>
                            <p:tav tm="100000">
                              <p:val>
                                <p:fltVal val="0"/>
                              </p:val>
                            </p:tav>
                          </p:tavLst>
                        </p:anim>
                      </p:childTnLst>
                    </p:cTn>
                  </p:par>
                  <p:par>
                    <p:cTn id="31" presetID="10" presetClass="entr" presetSubtype="0" fill="hold" grpId="0" nodeType="afterEffect">
                      <p:stCondLst>
                        <p:cond delay="150"/>
                      </p:stCondLst>
                      <p:childTnLst>
                        <p:set>
                          <p:cBhvr>
                            <p:cTn id="32" dur="1" fill="hold">
                              <p:stCondLst>
                                <p:cond delay="0"/>
                              </p:stCondLst>
                            </p:cTn>
                            <p:tgtEl>
                              <p:spTgt spid="1885010421"/>
                            </p:tgtEl>
                            <p:attrNameLst>
                              <p:attrName>style.visibility</p:attrName>
                            </p:attrNameLst>
                          </p:cBhvr>
                          <p:to>
                            <p:strVal val="visible"/>
                          </p:to>
                        </p:set>
                        <p:animEffect transition="in" filter="fade">
                          <p:cBhvr>
                            <p:cTn id="33" dur="400"/>
                            <p:tgtEl>
                              <p:spTgt spid="1885010421"/>
                            </p:tgtEl>
                          </p:cBhvr>
                        </p:animEffect>
                        <p:anim calcmode="lin" valueType="num">
                          <p:cBhvr additive="base">
                            <p:cTn id="34" dur="400" fill="hold"/>
                            <p:tgtEl>
                              <p:spTgt spid="1885010421"/>
                            </p:tgtEl>
                            <p:attrNameLst>
                              <p:attrName>ppt_y</p:attrName>
                            </p:attrNameLst>
                          </p:cBhvr>
                          <p:tavLst>
                            <p:tav tm="0">
                              <p:val>
                                <p:fltVal val="0.045999999999999999"/>
                              </p:val>
                            </p:tav>
                            <p:tav tm="100000">
                              <p:val>
                                <p:fltVal val="0"/>
                              </p:val>
                            </p:tav>
                          </p:tavLst>
                        </p:anim>
                      </p:childTnLst>
                    </p:cTn>
                  </p:par>
                  <p:par>
                    <p:cTn id="35" presetID="10" presetClass="entr" presetSubtype="0" fill="hold" grpId="0" nodeType="afterEffect">
                      <p:stCondLst>
                        <p:cond delay="150"/>
                      </p:stCondLst>
                      <p:childTnLst>
                        <p:set>
                          <p:cBhvr>
                            <p:cTn id="36" dur="1" fill="hold">
                              <p:stCondLst>
                                <p:cond delay="0"/>
                              </p:stCondLst>
                            </p:cTn>
                            <p:tgtEl>
                              <p:spTgt spid="1867531773"/>
                            </p:tgtEl>
                            <p:attrNameLst>
                              <p:attrName>style.visibility</p:attrName>
                            </p:attrNameLst>
                          </p:cBhvr>
                          <p:to>
                            <p:strVal val="visible"/>
                          </p:to>
                        </p:set>
                        <p:animEffect transition="in" filter="fade">
                          <p:cBhvr>
                            <p:cTn id="37" dur="400"/>
                            <p:tgtEl>
                              <p:spTgt spid="1867531773"/>
                            </p:tgtEl>
                          </p:cBhvr>
                        </p:animEffect>
                        <p:anim calcmode="lin" valueType="num">
                          <p:cBhvr additive="base">
                            <p:cTn id="38" dur="400" fill="hold"/>
                            <p:tgtEl>
                              <p:spTgt spid="1867531773"/>
                            </p:tgtEl>
                            <p:attrNameLst>
                              <p:attrName>ppt_y</p:attrName>
                            </p:attrNameLst>
                          </p:cBhvr>
                          <p:tavLst>
                            <p:tav tm="0">
                              <p:val>
                                <p:fltVal val="0.045999999999999999"/>
                              </p:val>
                            </p:tav>
                            <p:tav tm="100000">
                              <p:val>
                                <p:fltVal val="0"/>
                              </p:val>
                            </p:tav>
                          </p:tavLst>
                        </p:anim>
                      </p:childTnLst>
                    </p:cTn>
                  </p:par>
                  <p:par>
                    <p:cTn id="39" presetID="10" presetClass="entr" presetSubtype="0" fill="hold" grpId="0" nodeType="afterEffect">
                      <p:stCondLst>
                        <p:cond delay="150"/>
                      </p:stCondLst>
                      <p:childTnLst>
                        <p:set>
                          <p:cBhvr>
                            <p:cTn id="40" dur="1" fill="hold">
                              <p:stCondLst>
                                <p:cond delay="0"/>
                              </p:stCondLst>
                            </p:cTn>
                            <p:tgtEl>
                              <p:spTgt spid="845285182"/>
                            </p:tgtEl>
                            <p:attrNameLst>
                              <p:attrName>style.visibility</p:attrName>
                            </p:attrNameLst>
                          </p:cBhvr>
                          <p:to>
                            <p:strVal val="visible"/>
                          </p:to>
                        </p:set>
                        <p:animEffect transition="in" filter="fade">
                          <p:cBhvr>
                            <p:cTn id="41" dur="400"/>
                            <p:tgtEl>
                              <p:spTgt spid="845285182"/>
                            </p:tgtEl>
                          </p:cBhvr>
                        </p:animEffect>
                        <p:anim calcmode="lin" valueType="num">
                          <p:cBhvr additive="base">
                            <p:cTn id="42" dur="400" fill="hold"/>
                            <p:tgtEl>
                              <p:spTgt spid="845285182"/>
                            </p:tgtEl>
                            <p:attrNameLst>
                              <p:attrName>ppt_y</p:attrName>
                            </p:attrNameLst>
                          </p:cBhvr>
                          <p:tavLst>
                            <p:tav tm="0">
                              <p:val>
                                <p:fltVal val="0.045999999999999999"/>
                              </p:val>
                            </p:tav>
                            <p:tav tm="100000">
                              <p:val>
                                <p:fltVal val="0"/>
                              </p:val>
                            </p:tav>
                          </p:tavLst>
                        </p:anim>
                      </p:childTnLst>
                    </p:cTn>
                  </p:par>
                  <p:par>
                    <p:cTn id="43" presetID="10" presetClass="entr" presetSubtype="0" fill="hold" grpId="0" nodeType="afterEffect">
                      <p:stCondLst>
                        <p:cond delay="150"/>
                      </p:stCondLst>
                      <p:childTnLst>
                        <p:set>
                          <p:cBhvr>
                            <p:cTn id="44" dur="1" fill="hold">
                              <p:stCondLst>
                                <p:cond delay="0"/>
                              </p:stCondLst>
                            </p:cTn>
                            <p:tgtEl>
                              <p:spTgt spid="1631463529"/>
                            </p:tgtEl>
                            <p:attrNameLst>
                              <p:attrName>style.visibility</p:attrName>
                            </p:attrNameLst>
                          </p:cBhvr>
                          <p:to>
                            <p:strVal val="visible"/>
                          </p:to>
                        </p:set>
                        <p:animEffect transition="in" filter="fade">
                          <p:cBhvr>
                            <p:cTn id="45" dur="400"/>
                            <p:tgtEl>
                              <p:spTgt spid="1631463529"/>
                            </p:tgtEl>
                          </p:cBhvr>
                        </p:animEffect>
                        <p:anim calcmode="lin" valueType="num">
                          <p:cBhvr additive="base">
                            <p:cTn id="46" dur="400" fill="hold"/>
                            <p:tgtEl>
                              <p:spTgt spid="1631463529"/>
                            </p:tgtEl>
                            <p:attrNameLst>
                              <p:attrName>ppt_y</p:attrName>
                            </p:attrNameLst>
                          </p:cBhvr>
                          <p:tavLst>
                            <p:tav tm="0">
                              <p:val>
                                <p:fltVal val="0.045999999999999999"/>
                              </p:val>
                            </p:tav>
                            <p:tav tm="100000">
                              <p:val>
                                <p:fltVal val="0"/>
                              </p:val>
                            </p:tav>
                          </p:tavLst>
                        </p:anim>
                      </p:childTnLst>
                    </p:cTn>
                  </p:par>
                  <p:par>
                    <p:cTn id="47" presetID="10" presetClass="entr" presetSubtype="0" fill="hold" grpId="0" nodeType="afterEffect">
                      <p:stCondLst>
                        <p:cond delay="150"/>
                      </p:stCondLst>
                      <p:childTnLst>
                        <p:set>
                          <p:cBhvr>
                            <p:cTn id="48" dur="1" fill="hold">
                              <p:stCondLst>
                                <p:cond delay="0"/>
                              </p:stCondLst>
                            </p:cTn>
                            <p:tgtEl>
                              <p:spTgt spid="1739828018"/>
                            </p:tgtEl>
                            <p:attrNameLst>
                              <p:attrName>style.visibility</p:attrName>
                            </p:attrNameLst>
                          </p:cBhvr>
                          <p:to>
                            <p:strVal val="visible"/>
                          </p:to>
                        </p:set>
                        <p:animEffect transition="in" filter="fade">
                          <p:cBhvr>
                            <p:cTn id="49" dur="400"/>
                            <p:tgtEl>
                              <p:spTgt spid="1739828018"/>
                            </p:tgtEl>
                          </p:cBhvr>
                        </p:animEffect>
                        <p:anim calcmode="lin" valueType="num">
                          <p:cBhvr additive="base">
                            <p:cTn id="50" dur="400" fill="hold"/>
                            <p:tgtEl>
                              <p:spTgt spid="1739828018"/>
                            </p:tgtEl>
                            <p:attrNameLst>
                              <p:attrName>ppt_y</p:attrName>
                            </p:attrNameLst>
                          </p:cBhvr>
                          <p:tavLst>
                            <p:tav tm="0">
                              <p:val>
                                <p:fltVal val="0.045999999999999999"/>
                              </p:val>
                            </p:tav>
                            <p:tav tm="100000">
                              <p:val>
                                <p:fltVal val="0"/>
                              </p:val>
                            </p:tav>
                          </p:tavLst>
                        </p:anim>
                      </p:childTnLst>
                    </p:cTn>
                  </p:par>
                  <p:par>
                    <p:cTn id="51" presetID="10" presetClass="entr" presetSubtype="0" fill="hold" grpId="0" nodeType="afterEffect">
                      <p:stCondLst>
                        <p:cond delay="150"/>
                      </p:stCondLst>
                      <p:childTnLst>
                        <p:set>
                          <p:cBhvr>
                            <p:cTn id="52" dur="1" fill="hold">
                              <p:stCondLst>
                                <p:cond delay="0"/>
                              </p:stCondLst>
                            </p:cTn>
                            <p:tgtEl>
                              <p:spTgt spid="77571254"/>
                            </p:tgtEl>
                            <p:attrNameLst>
                              <p:attrName>style.visibility</p:attrName>
                            </p:attrNameLst>
                          </p:cBhvr>
                          <p:to>
                            <p:strVal val="visible"/>
                          </p:to>
                        </p:set>
                        <p:animEffect transition="in" filter="fade">
                          <p:cBhvr>
                            <p:cTn id="53" dur="400"/>
                            <p:tgtEl>
                              <p:spTgt spid="77571254"/>
                            </p:tgtEl>
                          </p:cBhvr>
                        </p:animEffect>
                        <p:anim calcmode="lin" valueType="num">
                          <p:cBhvr additive="base">
                            <p:cTn id="54" dur="400" fill="hold"/>
                            <p:tgtEl>
                              <p:spTgt spid="77571254"/>
                            </p:tgtEl>
                            <p:attrNameLst>
                              <p:attrName>ppt_y</p:attrName>
                            </p:attrNameLst>
                          </p:cBhvr>
                          <p:tavLst>
                            <p:tav tm="0">
                              <p:val>
                                <p:fltVal val="0.045999999999999999"/>
                              </p:val>
                            </p:tav>
                            <p:tav tm="100000">
                              <p:val>
                                <p:fltVal val="0"/>
                              </p:val>
                            </p:tav>
                          </p:tavLst>
                        </p:anim>
                      </p:childTnLst>
                    </p:cTn>
                  </p:par>
                  <p:par>
                    <p:cTn id="55" presetID="10" presetClass="entr" presetSubtype="0" fill="hold" grpId="0" nodeType="afterEffect">
                      <p:stCondLst>
                        <p:cond delay="150"/>
                      </p:stCondLst>
                      <p:childTnLst>
                        <p:set>
                          <p:cBhvr>
                            <p:cTn id="56" dur="1" fill="hold">
                              <p:stCondLst>
                                <p:cond delay="0"/>
                              </p:stCondLst>
                            </p:cTn>
                            <p:tgtEl>
                              <p:spTgt spid="232974847"/>
                            </p:tgtEl>
                            <p:attrNameLst>
                              <p:attrName>style.visibility</p:attrName>
                            </p:attrNameLst>
                          </p:cBhvr>
                          <p:to>
                            <p:strVal val="visible"/>
                          </p:to>
                        </p:set>
                        <p:animEffect transition="in" filter="fade">
                          <p:cBhvr>
                            <p:cTn id="57" dur="400"/>
                            <p:tgtEl>
                              <p:spTgt spid="232974847"/>
                            </p:tgtEl>
                          </p:cBhvr>
                        </p:animEffect>
                        <p:anim calcmode="lin" valueType="num">
                          <p:cBhvr additive="base">
                            <p:cTn id="58" dur="400" fill="hold"/>
                            <p:tgtEl>
                              <p:spTgt spid="232974847"/>
                            </p:tgtEl>
                            <p:attrNameLst>
                              <p:attrName>ppt_y</p:attrName>
                            </p:attrNameLst>
                          </p:cBhvr>
                          <p:tavLst>
                            <p:tav tm="0">
                              <p:val>
                                <p:fltVal val="0.045999999999999999"/>
                              </p:val>
                            </p:tav>
                            <p:tav tm="100000">
                              <p:val>
                                <p:fltVal val="0"/>
                              </p:val>
                            </p:tav>
                          </p:tavLst>
                        </p:anim>
                      </p:childTnLst>
                    </p:cTn>
                  </p:par>
                  <p:par>
                    <p:cTn id="59" presetID="10" presetClass="entr" presetSubtype="0" fill="hold" grpId="0" nodeType="afterEffect">
                      <p:stCondLst>
                        <p:cond delay="150"/>
                      </p:stCondLst>
                      <p:childTnLst>
                        <p:set>
                          <p:cBhvr>
                            <p:cTn id="60" dur="1" fill="hold">
                              <p:stCondLst>
                                <p:cond delay="0"/>
                              </p:stCondLst>
                            </p:cTn>
                            <p:tgtEl>
                              <p:spTgt spid="685270213"/>
                            </p:tgtEl>
                            <p:attrNameLst>
                              <p:attrName>style.visibility</p:attrName>
                            </p:attrNameLst>
                          </p:cBhvr>
                          <p:to>
                            <p:strVal val="visible"/>
                          </p:to>
                        </p:set>
                        <p:animEffect transition="in" filter="fade">
                          <p:cBhvr>
                            <p:cTn id="61" dur="400"/>
                            <p:tgtEl>
                              <p:spTgt spid="685270213"/>
                            </p:tgtEl>
                          </p:cBhvr>
                        </p:animEffect>
                        <p:anim calcmode="lin" valueType="num">
                          <p:cBhvr additive="base">
                            <p:cTn id="62" dur="400" fill="hold"/>
                            <p:tgtEl>
                              <p:spTgt spid="685270213"/>
                            </p:tgtEl>
                            <p:attrNameLst>
                              <p:attrName>ppt_y</p:attrName>
                            </p:attrNameLst>
                          </p:cBhvr>
                          <p:tavLst>
                            <p:tav tm="0">
                              <p:val>
                                <p:fltVal val="0.045999999999999999"/>
                              </p:val>
                            </p:tav>
                            <p:tav tm="100000">
                              <p:val>
                                <p:fltVal val="0"/>
                              </p:val>
                            </p:tav>
                          </p:tavLst>
                        </p:anim>
                      </p:childTnLst>
                    </p:cTn>
                  </p:par>
                  <p:par>
                    <p:cTn id="63" presetID="10" presetClass="entr" presetSubtype="0" fill="hold" grpId="0" nodeType="afterEffect">
                      <p:stCondLst>
                        <p:cond delay="150"/>
                      </p:stCondLst>
                      <p:childTnLst>
                        <p:set>
                          <p:cBhvr>
                            <p:cTn id="64" dur="1" fill="hold">
                              <p:stCondLst>
                                <p:cond delay="0"/>
                              </p:stCondLst>
                            </p:cTn>
                            <p:tgtEl>
                              <p:spTgt spid="545658050"/>
                            </p:tgtEl>
                            <p:attrNameLst>
                              <p:attrName>style.visibility</p:attrName>
                            </p:attrNameLst>
                          </p:cBhvr>
                          <p:to>
                            <p:strVal val="visible"/>
                          </p:to>
                        </p:set>
                        <p:animEffect transition="in" filter="fade">
                          <p:cBhvr>
                            <p:cTn id="65" dur="400"/>
                            <p:tgtEl>
                              <p:spTgt spid="545658050"/>
                            </p:tgtEl>
                          </p:cBhvr>
                        </p:animEffect>
                        <p:anim calcmode="lin" valueType="num">
                          <p:cBhvr additive="base">
                            <p:cTn id="66" dur="400" fill="hold"/>
                            <p:tgtEl>
                              <p:spTgt spid="545658050"/>
                            </p:tgtEl>
                            <p:attrNameLst>
                              <p:attrName>ppt_y</p:attrName>
                            </p:attrNameLst>
                          </p:cBhvr>
                          <p:tavLst>
                            <p:tav tm="0">
                              <p:val>
                                <p:fltVal val="0.045999999999999999"/>
                              </p:val>
                            </p:tav>
                            <p:tav tm="100000">
                              <p:val>
                                <p:fltVal val="0"/>
                              </p:val>
                            </p:tav>
                          </p:tavLst>
                        </p:anim>
                      </p:childTnLst>
                    </p:cTn>
                  </p:par>
                  <p:par>
                    <p:cTn id="67" presetID="10" presetClass="entr" presetSubtype="0" fill="hold" grpId="0" nodeType="afterEffect">
                      <p:stCondLst>
                        <p:cond delay="150"/>
                      </p:stCondLst>
                      <p:childTnLst>
                        <p:set>
                          <p:cBhvr>
                            <p:cTn id="68" dur="1" fill="hold">
                              <p:stCondLst>
                                <p:cond delay="0"/>
                              </p:stCondLst>
                            </p:cTn>
                            <p:tgtEl>
                              <p:spTgt spid="1948905322"/>
                            </p:tgtEl>
                            <p:attrNameLst>
                              <p:attrName>style.visibility</p:attrName>
                            </p:attrNameLst>
                          </p:cBhvr>
                          <p:to>
                            <p:strVal val="visible"/>
                          </p:to>
                        </p:set>
                        <p:animEffect transition="in" filter="fade">
                          <p:cBhvr>
                            <p:cTn id="69" dur="400"/>
                            <p:tgtEl>
                              <p:spTgt spid="1948905322"/>
                            </p:tgtEl>
                          </p:cBhvr>
                        </p:animEffect>
                        <p:anim calcmode="lin" valueType="num">
                          <p:cBhvr additive="base">
                            <p:cTn id="70" dur="400" fill="hold"/>
                            <p:tgtEl>
                              <p:spTgt spid="1948905322"/>
                            </p:tgtEl>
                            <p:attrNameLst>
                              <p:attrName>ppt_y</p:attrName>
                            </p:attrNameLst>
                          </p:cBhvr>
                          <p:tavLst>
                            <p:tav tm="0">
                              <p:val>
                                <p:fltVal val="0.045999999999999999"/>
                              </p:val>
                            </p:tav>
                            <p:tav tm="100000">
                              <p:val>
                                <p:fltVal val="0"/>
                              </p:val>
                            </p:tav>
                          </p:tavLst>
                        </p:anim>
                      </p:childTnLst>
                    </p:cTn>
                  </p:par>
                  <p:par>
                    <p:cTn id="71" presetID="10" presetClass="entr" presetSubtype="0" fill="hold" grpId="0" nodeType="afterEffect">
                      <p:stCondLst>
                        <p:cond delay="150"/>
                      </p:stCondLst>
                      <p:childTnLst>
                        <p:set>
                          <p:cBhvr>
                            <p:cTn id="72" dur="1" fill="hold">
                              <p:stCondLst>
                                <p:cond delay="0"/>
                              </p:stCondLst>
                            </p:cTn>
                            <p:tgtEl>
                              <p:spTgt spid="663900508"/>
                            </p:tgtEl>
                            <p:attrNameLst>
                              <p:attrName>style.visibility</p:attrName>
                            </p:attrNameLst>
                          </p:cBhvr>
                          <p:to>
                            <p:strVal val="visible"/>
                          </p:to>
                        </p:set>
                        <p:animEffect transition="in" filter="fade">
                          <p:cBhvr>
                            <p:cTn id="73" dur="400"/>
                            <p:tgtEl>
                              <p:spTgt spid="663900508"/>
                            </p:tgtEl>
                          </p:cBhvr>
                        </p:animEffect>
                        <p:anim calcmode="lin" valueType="num">
                          <p:cBhvr additive="base">
                            <p:cTn id="74" dur="400" fill="hold"/>
                            <p:tgtEl>
                              <p:spTgt spid="663900508"/>
                            </p:tgtEl>
                            <p:attrNameLst>
                              <p:attrName>ppt_y</p:attrName>
                            </p:attrNameLst>
                          </p:cBhvr>
                          <p:tavLst>
                            <p:tav tm="0">
                              <p:val>
                                <p:fltVal val="0.045999999999999999"/>
                              </p:val>
                            </p:tav>
                            <p:tav tm="100000">
                              <p:val>
                                <p:fltVal val="0"/>
                              </p:val>
                            </p:tav>
                          </p:tavLst>
                        </p:anim>
                      </p:childTnLst>
                    </p:cTn>
                  </p:par>
                  <p:par>
                    <p:cTn id="91" presetID="10" presetClass="entr" presetSubtype="0" fill="hold" grpId="0" nodeType="afterEffect">
                      <p:stCondLst>
                        <p:cond delay="150"/>
                      </p:stCondLst>
                      <p:childTnLst>
                        <p:set>
                          <p:cBhvr>
                            <p:cTn id="92" dur="1" fill="hold">
                              <p:stCondLst>
                                <p:cond delay="0"/>
                              </p:stCondLst>
                            </p:cTn>
                            <p:tgtEl>
                              <p:spTgt spid="1726254993"/>
                            </p:tgtEl>
                            <p:attrNameLst>
                              <p:attrName>style.visibility</p:attrName>
                            </p:attrNameLst>
                          </p:cBhvr>
                          <p:to>
                            <p:strVal val="visible"/>
                          </p:to>
                        </p:set>
                        <p:animEffect transition="in" filter="fade">
                          <p:cBhvr>
                            <p:cTn id="93" dur="400"/>
                            <p:tgtEl>
                              <p:spTgt spid="1726254993"/>
                            </p:tgtEl>
                          </p:cBhvr>
                        </p:animEffect>
                        <p:anim calcmode="lin" valueType="num">
                          <p:cBhvr additive="base">
                            <p:cTn id="94" dur="400" fill="hold"/>
                            <p:tgtEl>
                              <p:spTgt spid="1726254993"/>
                            </p:tgtEl>
                            <p:attrNameLst>
                              <p:attrName>ppt_y</p:attrName>
                            </p:attrNameLst>
                          </p:cBhvr>
                          <p:tavLst>
                            <p:tav tm="0">
                              <p:val>
                                <p:fltVal val="0.045999999999999999"/>
                              </p:val>
                            </p:tav>
                            <p:tav tm="100000">
                              <p:val>
                                <p:fltVal val="0"/>
                              </p:val>
                            </p:tav>
                          </p:tavLst>
                        </p:anim>
                      </p:childTnLst>
                    </p:cTn>
                  </p:par>
                </p:childTnLst>
              </p:cTn>
            </p:par>
          </p:childTnLst>
        </p:cTn>
      </p:par>
    </p:tnLst>
    <p:bldLst>
      <p:bldP spid="1651629046" grpId="0" animBg="1"/>
      <p:bldP spid="2059231389" grpId="0" animBg="1"/>
      <p:bldP spid="473930813" grpId="0" animBg="1"/>
      <p:bldP spid="893008964" grpId="0" animBg="1"/>
      <p:bldP spid="7657040" grpId="0" animBg="1"/>
      <p:bldP spid="80815747" grpId="0" animBg="1"/>
      <p:bldP spid="1592262328" grpId="0" animBg="1"/>
      <p:bldP spid="1885010421" grpId="0" animBg="1"/>
      <p:bldP spid="1867531773" grpId="0" animBg="1"/>
      <p:bldP spid="845285182" grpId="0" animBg="1"/>
      <p:bldP spid="1631463529" grpId="0" animBg="1"/>
      <p:bldP spid="1739828018" grpId="0" animBg="1"/>
      <p:bldP spid="77571254" grpId="0" animBg="1"/>
      <p:bldP spid="232974847" grpId="0" animBg="1"/>
      <p:bldP spid="685270213" grpId="0" animBg="1"/>
      <p:bldP spid="545658050" grpId="0" animBg="1"/>
      <p:bldP spid="1948905322" grpId="0" animBg="1"/>
      <p:bldP spid="663900508" grpId="0" animBg="1"/>
      <p:bldP spid="1726254993" grpId="0" animBg="1"/>
    </p:bldLst>
  </p:timing>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789064934" name="Eyebrow"/>
          <p:cNvSpPr txBox="1"/>
          <p:nvPr/>
        </p:nvSpPr>
        <p:spPr bwMode="auto">
          <a:xfrm>
            <a:off x="914400" y="584200"/>
            <a:ext cx="9144000" cy="254000"/>
          </a:xfrm>
          <a:prstGeom prst="rect">
            <a:avLst/>
          </a:prstGeom>
          <a:noFill/>
          <a:ln>
            <a:noFill/>
          </a:ln>
        </p:spPr>
        <p:txBody>
          <a:bodyPr wrap="square" lIns="0" tIns="0" rIns="0" bIns="0" anchor="t">
            <a:normAutofit/>
          </a:bodyPr>
          <a:lstStyle/>
          <a:p>
            <a:pPr>
              <a:buNone/>
              <a:defRPr/>
            </a:pPr>
            <a:r>
              <a:rPr lang="fr-FR" sz="1400" b="1" spc="240">
                <a:solidFill>
                  <a:srgbClr val="64748B"/>
                </a:solidFill>
              </a:rPr>
              <a:t>02 · CHOIX TECHNIQUES</a:t>
            </a:r>
            <a:endParaRPr/>
          </a:p>
        </p:txBody>
      </p:sp>
      <p:sp>
        <p:nvSpPr>
          <p:cNvPr id="914176926" name="Titre"/>
          <p:cNvSpPr txBox="1"/>
          <p:nvPr/>
        </p:nvSpPr>
        <p:spPr bwMode="auto">
          <a:xfrm>
            <a:off x="914400" y="863599"/>
            <a:ext cx="10363200" cy="508000"/>
          </a:xfrm>
          <a:prstGeom prst="rect">
            <a:avLst/>
          </a:prstGeom>
          <a:noFill/>
          <a:ln>
            <a:noFill/>
          </a:ln>
        </p:spPr>
        <p:txBody>
          <a:bodyPr wrap="square" lIns="0" tIns="0" rIns="0" bIns="0" anchor="t">
            <a:normAutofit/>
          </a:bodyPr>
          <a:lstStyle/>
          <a:p>
            <a:pPr>
              <a:buNone/>
              <a:defRPr/>
            </a:pPr>
            <a:r>
              <a:rPr lang="fr-FR" sz="3000">
                <a:solidFill>
                  <a:srgbClr val="0B1F3A"/>
                </a:solidFill>
                <a:latin typeface="Segoe UI Semibold"/>
              </a:rPr>
              <a:t>Choix des critères : 28 variables « delta »</a:t>
            </a:r>
            <a:endParaRPr/>
          </a:p>
        </p:txBody>
      </p:sp>
      <p:sp>
        <p:nvSpPr>
          <p:cNvPr id="231428502" name="Filet"/>
          <p:cNvSpPr/>
          <p:nvPr/>
        </p:nvSpPr>
        <p:spPr bwMode="auto">
          <a:xfrm>
            <a:off x="914400" y="1473200"/>
            <a:ext cx="685800" cy="50800"/>
          </a:xfrm>
          <a:prstGeom prst="rect">
            <a:avLst/>
          </a:prstGeom>
          <a:solidFill>
            <a:srgbClr val="2563EB"/>
          </a:solidFill>
          <a:ln>
            <a:noFill/>
          </a:ln>
        </p:spPr>
        <p:txBody>
          <a:bodyPr wrap="square" lIns="0" tIns="0" rIns="0" bIns="0" anchor="t">
            <a:normAutofit/>
          </a:bodyPr>
          <a:lstStyle/>
          <a:p>
            <a:pPr>
              <a:defRPr/>
            </a:pPr>
            <a:endParaRPr/>
          </a:p>
        </p:txBody>
      </p:sp>
      <p:sp>
        <p:nvSpPr>
          <p:cNvPr id="299612267" name="stat"/>
          <p:cNvSpPr/>
          <p:nvPr/>
        </p:nvSpPr>
        <p:spPr bwMode="auto">
          <a:xfrm>
            <a:off x="914400" y="1905000"/>
            <a:ext cx="2286000" cy="1498600"/>
          </a:xfrm>
          <a:prstGeom prst="roundRect">
            <a:avLst>
              <a:gd name="adj" fmla="val 9000"/>
            </a:avLst>
          </a:prstGeom>
          <a:solidFill>
            <a:srgbClr val="FFFFFF"/>
          </a:solidFill>
          <a:ln w="9525">
            <a:solidFill>
              <a:srgbClr val="E2E8F0"/>
            </a:solidFill>
          </a:ln>
        </p:spPr>
        <p:txBody>
          <a:bodyPr wrap="square" lIns="177800" tIns="177800" rIns="177800" bIns="177800" anchor="ctr">
            <a:normAutofit/>
          </a:bodyPr>
          <a:lstStyle/>
          <a:p>
            <a:pPr algn="ctr">
              <a:buNone/>
              <a:defRPr/>
            </a:pPr>
            <a:r>
              <a:rPr lang="fr-FR" sz="4000" b="1">
                <a:solidFill>
                  <a:srgbClr val="2563EB"/>
                </a:solidFill>
                <a:latin typeface="Segoe UI Semibold"/>
              </a:rPr>
              <a:t>28</a:t>
            </a:r>
            <a:endParaRPr/>
          </a:p>
          <a:p>
            <a:pPr algn="ctr">
              <a:spcBef>
                <a:spcPts val="400"/>
              </a:spcBef>
              <a:buNone/>
              <a:defRPr/>
            </a:pPr>
            <a:r>
              <a:rPr lang="fr-FR" sz="1400">
                <a:solidFill>
                  <a:srgbClr val="64748B"/>
                </a:solidFill>
              </a:rPr>
              <a:t>variables « delta »</a:t>
            </a:r>
            <a:endParaRPr/>
          </a:p>
        </p:txBody>
      </p:sp>
      <p:sp>
        <p:nvSpPr>
          <p:cNvPr id="22559969" name="Explik"/>
          <p:cNvSpPr txBox="1"/>
          <p:nvPr/>
        </p:nvSpPr>
        <p:spPr bwMode="auto">
          <a:xfrm>
            <a:off x="3429000" y="2032000"/>
            <a:ext cx="2692400" cy="1498600"/>
          </a:xfrm>
          <a:prstGeom prst="rect">
            <a:avLst/>
          </a:prstGeom>
          <a:noFill/>
          <a:ln>
            <a:noFill/>
          </a:ln>
        </p:spPr>
        <p:txBody>
          <a:bodyPr wrap="square" lIns="0" tIns="0" rIns="0" bIns="0" anchor="t">
            <a:normAutofit/>
          </a:bodyPr>
          <a:lstStyle/>
          <a:p>
            <a:pPr>
              <a:lnSpc>
                <a:spcPts val="2000"/>
              </a:lnSpc>
              <a:buNone/>
              <a:defRPr/>
            </a:pPr>
            <a:r>
              <a:rPr lang="fr-FR" sz="1500">
                <a:solidFill>
                  <a:srgbClr val="64748B"/>
                </a:solidFill>
              </a:rPr>
              <a:t>Chaque variable mesure une évolution entre deux périodes (delta), et non une valeur absolue.</a:t>
            </a:r>
            <a:endParaRPr/>
          </a:p>
        </p:txBody>
      </p:sp>
      <p:sp>
        <p:nvSpPr>
          <p:cNvPr id="645123374" name="FamLabel"/>
          <p:cNvSpPr txBox="1"/>
          <p:nvPr/>
        </p:nvSpPr>
        <p:spPr bwMode="auto">
          <a:xfrm>
            <a:off x="914400" y="3708400"/>
            <a:ext cx="5207000" cy="254000"/>
          </a:xfrm>
          <a:prstGeom prst="rect">
            <a:avLst/>
          </a:prstGeom>
          <a:noFill/>
          <a:ln>
            <a:noFill/>
          </a:ln>
        </p:spPr>
        <p:txBody>
          <a:bodyPr wrap="square" lIns="0" tIns="0" rIns="0" bIns="0" anchor="t">
            <a:normAutofit/>
          </a:bodyPr>
          <a:lstStyle/>
          <a:p>
            <a:pPr>
              <a:buNone/>
              <a:defRPr/>
            </a:pPr>
            <a:r>
              <a:rPr lang="fr-FR" sz="1400" b="1" spc="200">
                <a:solidFill>
                  <a:srgbClr val="64748B"/>
                </a:solidFill>
              </a:rPr>
              <a:t>5 FAMILLES DE CRITÈRES</a:t>
            </a:r>
            <a:endParaRPr/>
          </a:p>
        </p:txBody>
      </p:sp>
      <p:sp>
        <p:nvSpPr>
          <p:cNvPr id="11148044" name="chip"/>
          <p:cNvSpPr/>
          <p:nvPr/>
        </p:nvSpPr>
        <p:spPr bwMode="auto">
          <a:xfrm>
            <a:off x="914400" y="4064000"/>
            <a:ext cx="1574800" cy="381000"/>
          </a:xfrm>
          <a:prstGeom prst="roundRect">
            <a:avLst>
              <a:gd name="adj" fmla="val 50000"/>
            </a:avLst>
          </a:prstGeom>
          <a:solidFill>
            <a:srgbClr val="EEF2FB"/>
          </a:solidFill>
          <a:ln>
            <a:noFill/>
          </a:ln>
        </p:spPr>
        <p:txBody>
          <a:bodyPr wrap="square" lIns="101600" tIns="101600" rIns="101600" bIns="101600" anchor="ctr">
            <a:normAutofit/>
          </a:bodyPr>
          <a:lstStyle/>
          <a:p>
            <a:pPr algn="ctr">
              <a:buNone/>
              <a:defRPr/>
            </a:pPr>
            <a:r>
              <a:rPr lang="fr-FR" sz="1400">
                <a:solidFill>
                  <a:srgbClr val="2563EB"/>
                </a:solidFill>
                <a:latin typeface="Segoe UI Semibold"/>
              </a:rPr>
              <a:t>Délinquance</a:t>
            </a:r>
            <a:endParaRPr/>
          </a:p>
        </p:txBody>
      </p:sp>
      <p:sp>
        <p:nvSpPr>
          <p:cNvPr id="1956955741" name="chip"/>
          <p:cNvSpPr/>
          <p:nvPr/>
        </p:nvSpPr>
        <p:spPr bwMode="auto">
          <a:xfrm>
            <a:off x="2590800" y="4064000"/>
            <a:ext cx="1676400" cy="381000"/>
          </a:xfrm>
          <a:prstGeom prst="roundRect">
            <a:avLst>
              <a:gd name="adj" fmla="val 50000"/>
            </a:avLst>
          </a:prstGeom>
          <a:solidFill>
            <a:srgbClr val="EEF2FB"/>
          </a:solidFill>
          <a:ln>
            <a:noFill/>
          </a:ln>
        </p:spPr>
        <p:txBody>
          <a:bodyPr wrap="square" lIns="101600" tIns="101600" rIns="101600" bIns="101600" anchor="ctr">
            <a:normAutofit/>
          </a:bodyPr>
          <a:lstStyle/>
          <a:p>
            <a:pPr algn="ctr">
              <a:buNone/>
              <a:defRPr/>
            </a:pPr>
            <a:r>
              <a:rPr lang="fr-FR" sz="1400">
                <a:solidFill>
                  <a:srgbClr val="2563EB"/>
                </a:solidFill>
                <a:latin typeface="Segoe UI Semibold"/>
              </a:rPr>
              <a:t>Démographie</a:t>
            </a:r>
            <a:endParaRPr/>
          </a:p>
        </p:txBody>
      </p:sp>
      <p:sp>
        <p:nvSpPr>
          <p:cNvPr id="2135583386" name="chip"/>
          <p:cNvSpPr/>
          <p:nvPr/>
        </p:nvSpPr>
        <p:spPr bwMode="auto">
          <a:xfrm>
            <a:off x="4368800" y="4064000"/>
            <a:ext cx="1168400" cy="381000"/>
          </a:xfrm>
          <a:prstGeom prst="roundRect">
            <a:avLst>
              <a:gd name="adj" fmla="val 50000"/>
            </a:avLst>
          </a:prstGeom>
          <a:solidFill>
            <a:srgbClr val="EEF2FB"/>
          </a:solidFill>
          <a:ln>
            <a:noFill/>
          </a:ln>
        </p:spPr>
        <p:txBody>
          <a:bodyPr wrap="square" lIns="101600" tIns="101600" rIns="101600" bIns="101600" anchor="ctr">
            <a:normAutofit/>
          </a:bodyPr>
          <a:lstStyle/>
          <a:p>
            <a:pPr algn="ctr">
              <a:buNone/>
              <a:defRPr/>
            </a:pPr>
            <a:r>
              <a:rPr lang="fr-FR" sz="1400">
                <a:solidFill>
                  <a:srgbClr val="2563EB"/>
                </a:solidFill>
                <a:latin typeface="Segoe UI Semibold"/>
              </a:rPr>
              <a:t>Emploi</a:t>
            </a:r>
            <a:endParaRPr/>
          </a:p>
        </p:txBody>
      </p:sp>
      <p:sp>
        <p:nvSpPr>
          <p:cNvPr id="953523992" name="chip"/>
          <p:cNvSpPr/>
          <p:nvPr/>
        </p:nvSpPr>
        <p:spPr bwMode="auto">
          <a:xfrm>
            <a:off x="914400" y="4546600"/>
            <a:ext cx="1422400" cy="381000"/>
          </a:xfrm>
          <a:prstGeom prst="roundRect">
            <a:avLst>
              <a:gd name="adj" fmla="val 50000"/>
            </a:avLst>
          </a:prstGeom>
          <a:solidFill>
            <a:srgbClr val="EEF2FB"/>
          </a:solidFill>
          <a:ln>
            <a:noFill/>
          </a:ln>
        </p:spPr>
        <p:txBody>
          <a:bodyPr wrap="square" lIns="101600" tIns="101600" rIns="101600" bIns="101600" anchor="ctr">
            <a:normAutofit/>
          </a:bodyPr>
          <a:lstStyle/>
          <a:p>
            <a:pPr algn="ctr">
              <a:buNone/>
              <a:defRPr/>
            </a:pPr>
            <a:r>
              <a:rPr lang="fr-FR" sz="1400">
                <a:solidFill>
                  <a:srgbClr val="2563EB"/>
                </a:solidFill>
                <a:latin typeface="Segoe UI Semibold"/>
              </a:rPr>
              <a:t>Logement</a:t>
            </a:r>
            <a:endParaRPr/>
          </a:p>
        </p:txBody>
      </p:sp>
      <p:sp>
        <p:nvSpPr>
          <p:cNvPr id="1605272776" name="chip"/>
          <p:cNvSpPr/>
          <p:nvPr/>
        </p:nvSpPr>
        <p:spPr bwMode="auto">
          <a:xfrm>
            <a:off x="2438400" y="4546600"/>
            <a:ext cx="1574800" cy="381000"/>
          </a:xfrm>
          <a:prstGeom prst="roundRect">
            <a:avLst>
              <a:gd name="adj" fmla="val 50000"/>
            </a:avLst>
          </a:prstGeom>
          <a:solidFill>
            <a:srgbClr val="EEF2FB"/>
          </a:solidFill>
          <a:ln>
            <a:noFill/>
          </a:ln>
        </p:spPr>
        <p:txBody>
          <a:bodyPr wrap="square" lIns="101600" tIns="101600" rIns="101600" bIns="101600" anchor="ctr">
            <a:normAutofit/>
          </a:bodyPr>
          <a:lstStyle/>
          <a:p>
            <a:pPr algn="ctr">
              <a:buNone/>
              <a:defRPr/>
            </a:pPr>
            <a:r>
              <a:rPr lang="fr-FR" sz="1400">
                <a:solidFill>
                  <a:srgbClr val="2563EB"/>
                </a:solidFill>
                <a:latin typeface="Segoe UI Semibold"/>
              </a:rPr>
              <a:t>Entreprises</a:t>
            </a:r>
            <a:endParaRPr/>
          </a:p>
        </p:txBody>
      </p:sp>
      <p:sp>
        <p:nvSpPr>
          <p:cNvPr id="731108151" name="TblLabel"/>
          <p:cNvSpPr txBox="1"/>
          <p:nvPr/>
        </p:nvSpPr>
        <p:spPr bwMode="auto">
          <a:xfrm>
            <a:off x="6451600" y="1498600"/>
            <a:ext cx="4826000" cy="254000"/>
          </a:xfrm>
          <a:prstGeom prst="rect">
            <a:avLst/>
          </a:prstGeom>
          <a:noFill/>
          <a:ln>
            <a:noFill/>
          </a:ln>
        </p:spPr>
        <p:txBody>
          <a:bodyPr wrap="square" lIns="0" tIns="0" rIns="0" bIns="0" anchor="t">
            <a:normAutofit/>
          </a:bodyPr>
          <a:lstStyle/>
          <a:p>
            <a:pPr>
              <a:buNone/>
              <a:defRPr/>
            </a:pPr>
            <a:r>
              <a:rPr lang="fr-FR" sz="1400" b="1" spc="200">
                <a:solidFill>
                  <a:srgbClr val="64748B"/>
                </a:solidFill>
              </a:rPr>
              <a:t>TOP 5 PAR IMPORTANCE</a:t>
            </a:r>
            <a:endParaRPr/>
          </a:p>
        </p:txBody>
      </p:sp>
      <p:graphicFrame>
        <p:nvGraphicFramePr>
          <p:cNvPr id="1768595717" name="Top5"/>
          <p:cNvGraphicFramePr>
            <a:graphicFrameLocks xmlns:a="http://schemas.openxmlformats.org/drawingml/2006/main" noGrp="1"/>
          </p:cNvGraphicFramePr>
          <p:nvPr/>
        </p:nvGraphicFramePr>
        <p:xfrm rot="0">
          <a:off x="6451600" y="1905000"/>
          <a:ext cx="4826000" cy="3302000"/>
        </p:xfrm>
        <a:graphic>
          <a:graphicData uri="http://schemas.openxmlformats.org/drawingml/2006/table">
            <a:tbl>
              <a:tblPr firstRow="1" firstCol="0" lastRow="0" lastCol="0" bandRow="0" bandCol="0"/>
              <a:tblGrid>
                <a:gridCol w="3175000"/>
                <a:gridCol w="1651000"/>
              </a:tblGrid>
              <a:tr h="508000">
                <a:tc>
                  <a:txBody>
                    <a:bodyPr/>
                    <a:p>
                      <a:pPr algn="l">
                        <a:defRPr/>
                      </a:pPr>
                      <a:r>
                        <a:rPr lang="fr-FR" sz="1400" b="1">
                          <a:solidFill>
                            <a:srgbClr val="FFFFFF"/>
                          </a:solidFill>
                          <a:latin typeface="Segoe UI Semibold"/>
                        </a:rPr>
                        <a:t>Variable (Δ)</a:t>
                      </a:r>
                      <a:endParaRPr/>
                    </a:p>
                  </a:txBody>
                  <a:tcPr marT="36576" marB="36576" anchor="ctr">
                    <a:lnL w="0" algn="ctr">
                      <a:noFill/>
                    </a:lnL>
                    <a:lnR w="0" algn="ctr">
                      <a:noFill/>
                    </a:lnR>
                    <a:lnT w="0" algn="ctr">
                      <a:noFill/>
                    </a:lnT>
                    <a:lnB w="6350" algn="ctr">
                      <a:solidFill>
                        <a:srgbClr val="E2E8F0"/>
                      </a:solidFill>
                    </a:lnB>
                    <a:solidFill>
                      <a:srgbClr val="0B1F3A"/>
                    </a:solidFill>
                  </a:tcPr>
                </a:tc>
                <a:tc>
                  <a:txBody>
                    <a:bodyPr/>
                    <a:p>
                      <a:pPr algn="r">
                        <a:defRPr/>
                      </a:pPr>
                      <a:r>
                        <a:rPr lang="fr-FR" sz="1400" b="1">
                          <a:solidFill>
                            <a:srgbClr val="FFFFFF"/>
                          </a:solidFill>
                          <a:latin typeface="Segoe UI Semibold"/>
                        </a:rPr>
                        <a:t>Importance</a:t>
                      </a:r>
                      <a:endParaRPr/>
                    </a:p>
                  </a:txBody>
                  <a:tcPr marT="36576" marB="36576" anchor="ctr">
                    <a:lnL w="0" algn="ctr">
                      <a:noFill/>
                    </a:lnL>
                    <a:lnR w="0" algn="ctr">
                      <a:noFill/>
                    </a:lnR>
                    <a:lnT w="0" algn="ctr">
                      <a:noFill/>
                    </a:lnT>
                    <a:lnB w="6350" algn="ctr">
                      <a:solidFill>
                        <a:srgbClr val="E2E8F0"/>
                      </a:solidFill>
                    </a:lnB>
                    <a:solidFill>
                      <a:srgbClr val="0B1F3A"/>
                    </a:solidFill>
                  </a:tcPr>
                </a:tc>
              </a:tr>
              <a:tr h="558800">
                <a:tc>
                  <a:txBody>
                    <a:bodyPr/>
                    <a:p>
                      <a:pPr algn="l">
                        <a:defRPr/>
                      </a:pPr>
                      <a:r>
                        <a:rPr lang="fr-FR" sz="1400">
                          <a:solidFill>
                            <a:srgbClr val="0B1F3A"/>
                          </a:solidFill>
                        </a:rPr>
                        <a:t>Délinquance</a:t>
                      </a:r>
                      <a:endParaRPr/>
                    </a:p>
                  </a:txBody>
                  <a:tcPr marT="36576" marB="36576" anchor="ctr">
                    <a:lnL w="0" algn="ctr">
                      <a:noFill/>
                    </a:lnL>
                    <a:lnR w="0" algn="ctr">
                      <a:noFill/>
                    </a:lnR>
                    <a:lnT w="6350" algn="ctr">
                      <a:solidFill>
                        <a:srgbClr val="E2E8F0"/>
                      </a:solidFill>
                    </a:lnT>
                    <a:lnB w="6350" algn="ctr">
                      <a:solidFill>
                        <a:srgbClr val="E2E8F0"/>
                      </a:solidFill>
                    </a:lnB>
                    <a:noFill/>
                  </a:tcPr>
                </a:tc>
                <a:tc>
                  <a:txBody>
                    <a:bodyPr/>
                    <a:p>
                      <a:pPr algn="r">
                        <a:defRPr/>
                      </a:pPr>
                      <a:r>
                        <a:rPr lang="fr-FR" sz="1400" b="1">
                          <a:solidFill>
                            <a:srgbClr val="2563EB"/>
                          </a:solidFill>
                          <a:latin typeface="Segoe UI Semibold"/>
                        </a:rPr>
                        <a:t>17,46 %</a:t>
                      </a:r>
                      <a:endParaRPr/>
                    </a:p>
                  </a:txBody>
                  <a:tcPr marT="36576" marB="36576" anchor="ctr">
                    <a:lnL w="0" algn="ctr">
                      <a:noFill/>
                    </a:lnL>
                    <a:lnR w="0" algn="ctr">
                      <a:noFill/>
                    </a:lnR>
                    <a:lnT w="6350" algn="ctr">
                      <a:solidFill>
                        <a:srgbClr val="E2E8F0"/>
                      </a:solidFill>
                    </a:lnT>
                    <a:lnB w="6350" algn="ctr">
                      <a:solidFill>
                        <a:srgbClr val="E2E8F0"/>
                      </a:solidFill>
                    </a:lnB>
                    <a:noFill/>
                  </a:tcPr>
                </a:tc>
              </a:tr>
              <a:tr h="558800">
                <a:tc>
                  <a:txBody>
                    <a:bodyPr/>
                    <a:p>
                      <a:pPr algn="l">
                        <a:defRPr/>
                      </a:pPr>
                      <a:r>
                        <a:rPr lang="fr-FR" sz="1400">
                          <a:solidFill>
                            <a:srgbClr val="0B1F3A"/>
                          </a:solidFill>
                        </a:rPr>
                        <a:t>Population active 15-64 ans</a:t>
                      </a:r>
                      <a:endParaRPr/>
                    </a:p>
                  </a:txBody>
                  <a:tcPr marT="36576" marB="36576" anchor="ctr">
                    <a:lnL w="0" algn="ctr">
                      <a:noFill/>
                    </a:lnL>
                    <a:lnR w="0" algn="ctr">
                      <a:noFill/>
                    </a:lnR>
                    <a:lnT w="6350" algn="ctr">
                      <a:solidFill>
                        <a:srgbClr val="E2E8F0"/>
                      </a:solidFill>
                    </a:lnT>
                    <a:lnB w="6350" algn="ctr">
                      <a:solidFill>
                        <a:srgbClr val="E2E8F0"/>
                      </a:solidFill>
                    </a:lnB>
                    <a:noFill/>
                  </a:tcPr>
                </a:tc>
                <a:tc>
                  <a:txBody>
                    <a:bodyPr/>
                    <a:p>
                      <a:pPr algn="r">
                        <a:defRPr/>
                      </a:pPr>
                      <a:r>
                        <a:rPr lang="fr-FR" sz="1400" b="1">
                          <a:solidFill>
                            <a:srgbClr val="2563EB"/>
                          </a:solidFill>
                          <a:latin typeface="Segoe UI Semibold"/>
                        </a:rPr>
                        <a:t>7,75 %</a:t>
                      </a:r>
                      <a:endParaRPr/>
                    </a:p>
                  </a:txBody>
                  <a:tcPr marT="36576" marB="36576" anchor="ctr">
                    <a:lnL w="0" algn="ctr">
                      <a:noFill/>
                    </a:lnL>
                    <a:lnR w="0" algn="ctr">
                      <a:noFill/>
                    </a:lnR>
                    <a:lnT w="6350" algn="ctr">
                      <a:solidFill>
                        <a:srgbClr val="E2E8F0"/>
                      </a:solidFill>
                    </a:lnT>
                    <a:lnB w="6350" algn="ctr">
                      <a:solidFill>
                        <a:srgbClr val="E2E8F0"/>
                      </a:solidFill>
                    </a:lnB>
                    <a:noFill/>
                  </a:tcPr>
                </a:tc>
              </a:tr>
              <a:tr h="558800">
                <a:tc>
                  <a:txBody>
                    <a:bodyPr/>
                    <a:p>
                      <a:pPr algn="l">
                        <a:defRPr/>
                      </a:pPr>
                      <a:r>
                        <a:rPr lang="fr-FR" sz="1400">
                          <a:solidFill>
                            <a:srgbClr val="0B1F3A"/>
                          </a:solidFill>
                        </a:rPr>
                        <a:t>Population totale</a:t>
                      </a:r>
                      <a:endParaRPr/>
                    </a:p>
                  </a:txBody>
                  <a:tcPr marT="36576" marB="36576" anchor="ctr">
                    <a:lnL w="0" algn="ctr">
                      <a:noFill/>
                    </a:lnL>
                    <a:lnR w="0" algn="ctr">
                      <a:noFill/>
                    </a:lnR>
                    <a:lnT w="6350" algn="ctr">
                      <a:solidFill>
                        <a:srgbClr val="E2E8F0"/>
                      </a:solidFill>
                    </a:lnT>
                    <a:lnB w="6350" algn="ctr">
                      <a:solidFill>
                        <a:srgbClr val="E2E8F0"/>
                      </a:solidFill>
                    </a:lnB>
                    <a:noFill/>
                  </a:tcPr>
                </a:tc>
                <a:tc>
                  <a:txBody>
                    <a:bodyPr/>
                    <a:p>
                      <a:pPr algn="r">
                        <a:defRPr/>
                      </a:pPr>
                      <a:r>
                        <a:rPr lang="fr-FR" sz="1400" b="1">
                          <a:solidFill>
                            <a:srgbClr val="2563EB"/>
                          </a:solidFill>
                          <a:latin typeface="Segoe UI Semibold"/>
                        </a:rPr>
                        <a:t>6,21 %</a:t>
                      </a:r>
                      <a:endParaRPr/>
                    </a:p>
                  </a:txBody>
                  <a:tcPr marT="36576" marB="36576" anchor="ctr">
                    <a:lnL w="0" algn="ctr">
                      <a:noFill/>
                    </a:lnL>
                    <a:lnR w="0" algn="ctr">
                      <a:noFill/>
                    </a:lnR>
                    <a:lnT w="6350" algn="ctr">
                      <a:solidFill>
                        <a:srgbClr val="E2E8F0"/>
                      </a:solidFill>
                    </a:lnT>
                    <a:lnB w="6350" algn="ctr">
                      <a:solidFill>
                        <a:srgbClr val="E2E8F0"/>
                      </a:solidFill>
                    </a:lnB>
                    <a:noFill/>
                  </a:tcPr>
                </a:tc>
              </a:tr>
              <a:tr h="558800">
                <a:tc>
                  <a:txBody>
                    <a:bodyPr/>
                    <a:p>
                      <a:pPr algn="l">
                        <a:defRPr/>
                      </a:pPr>
                      <a:r>
                        <a:rPr lang="fr-FR" sz="1400">
                          <a:solidFill>
                            <a:srgbClr val="0B1F3A"/>
                          </a:solidFill>
                        </a:rPr>
                        <a:t>Logements vacants</a:t>
                      </a:r>
                      <a:endParaRPr/>
                    </a:p>
                  </a:txBody>
                  <a:tcPr marT="36576" marB="36576" anchor="ctr">
                    <a:lnL w="0" algn="ctr">
                      <a:noFill/>
                    </a:lnL>
                    <a:lnR w="0" algn="ctr">
                      <a:noFill/>
                    </a:lnR>
                    <a:lnT w="6350" algn="ctr">
                      <a:solidFill>
                        <a:srgbClr val="E2E8F0"/>
                      </a:solidFill>
                    </a:lnT>
                    <a:lnB w="6350" algn="ctr">
                      <a:solidFill>
                        <a:srgbClr val="E2E8F0"/>
                      </a:solidFill>
                    </a:lnB>
                    <a:noFill/>
                  </a:tcPr>
                </a:tc>
                <a:tc>
                  <a:txBody>
                    <a:bodyPr/>
                    <a:p>
                      <a:pPr algn="r">
                        <a:defRPr/>
                      </a:pPr>
                      <a:r>
                        <a:rPr lang="fr-FR" sz="1400" b="1">
                          <a:solidFill>
                            <a:srgbClr val="2563EB"/>
                          </a:solidFill>
                          <a:latin typeface="Segoe UI Semibold"/>
                        </a:rPr>
                        <a:t>5,76 %</a:t>
                      </a:r>
                      <a:endParaRPr/>
                    </a:p>
                  </a:txBody>
                  <a:tcPr marT="36576" marB="36576" anchor="ctr">
                    <a:lnL w="0" algn="ctr">
                      <a:noFill/>
                    </a:lnL>
                    <a:lnR w="0" algn="ctr">
                      <a:noFill/>
                    </a:lnR>
                    <a:lnT w="6350" algn="ctr">
                      <a:solidFill>
                        <a:srgbClr val="E2E8F0"/>
                      </a:solidFill>
                    </a:lnT>
                    <a:lnB w="6350" algn="ctr">
                      <a:solidFill>
                        <a:srgbClr val="E2E8F0"/>
                      </a:solidFill>
                    </a:lnB>
                    <a:noFill/>
                  </a:tcPr>
                </a:tc>
              </a:tr>
              <a:tr h="558800">
                <a:tc>
                  <a:txBody>
                    <a:bodyPr/>
                    <a:p>
                      <a:pPr algn="l">
                        <a:defRPr/>
                      </a:pPr>
                      <a:r>
                        <a:rPr lang="fr-FR" sz="1400">
                          <a:solidFill>
                            <a:srgbClr val="0B1F3A"/>
                          </a:solidFill>
                        </a:rPr>
                        <a:t>Parc de logements</a:t>
                      </a:r>
                      <a:endParaRPr/>
                    </a:p>
                  </a:txBody>
                  <a:tcPr marT="36576" marB="36576" anchor="ctr">
                    <a:lnL w="0" algn="ctr">
                      <a:noFill/>
                    </a:lnL>
                    <a:lnR w="0" algn="ctr">
                      <a:noFill/>
                    </a:lnR>
                    <a:lnT w="6350" algn="ctr">
                      <a:solidFill>
                        <a:srgbClr val="E2E8F0"/>
                      </a:solidFill>
                    </a:lnT>
                    <a:lnB w="6350" algn="ctr">
                      <a:solidFill>
                        <a:srgbClr val="E2E8F0"/>
                      </a:solidFill>
                    </a:lnB>
                    <a:noFill/>
                  </a:tcPr>
                </a:tc>
                <a:tc>
                  <a:txBody>
                    <a:bodyPr/>
                    <a:p>
                      <a:pPr algn="r">
                        <a:defRPr/>
                      </a:pPr>
                      <a:r>
                        <a:rPr lang="fr-FR" sz="1400" b="1">
                          <a:solidFill>
                            <a:srgbClr val="2563EB"/>
                          </a:solidFill>
                          <a:latin typeface="Segoe UI Semibold"/>
                        </a:rPr>
                        <a:t>5,75 %</a:t>
                      </a:r>
                      <a:endParaRPr/>
                    </a:p>
                  </a:txBody>
                  <a:tcPr marT="36576" marB="36576" anchor="ctr">
                    <a:lnL w="0" algn="ctr">
                      <a:noFill/>
                    </a:lnL>
                    <a:lnR w="0" algn="ctr">
                      <a:noFill/>
                    </a:lnR>
                    <a:lnT w="6350" algn="ctr">
                      <a:solidFill>
                        <a:srgbClr val="E2E8F0"/>
                      </a:solidFill>
                    </a:lnT>
                    <a:lnB w="6350" algn="ctr">
                      <a:solidFill>
                        <a:srgbClr val="E2E8F0"/>
                      </a:solidFill>
                    </a:lnB>
                    <a:noFill/>
                  </a:tcPr>
                </a:tc>
              </a:tr>
            </a:tbl>
          </a:graphicData>
        </a:graphic>
      </p:graphicFrame>
      <p:sp>
        <p:nvSpPr>
          <p:cNvPr id="141201269" name="Page"/>
          <p:cNvSpPr txBox="1"/>
          <p:nvPr/>
        </p:nvSpPr>
        <p:spPr bwMode="auto">
          <a:xfrm>
            <a:off x="10515600" y="6451600"/>
            <a:ext cx="914400" cy="254000"/>
          </a:xfrm>
          <a:prstGeom prst="rect">
            <a:avLst/>
          </a:prstGeom>
          <a:noFill/>
          <a:ln>
            <a:noFill/>
          </a:ln>
        </p:spPr>
        <p:txBody>
          <a:bodyPr wrap="square" lIns="0" tIns="0" rIns="0" bIns="0" anchor="t">
            <a:normAutofit/>
          </a:bodyPr>
          <a:lstStyle/>
          <a:p>
            <a:pPr algn="r">
              <a:buNone/>
              <a:defRPr/>
            </a:pPr>
            <a:r>
              <a:rPr lang="fr-FR" sz="1400">
                <a:solidFill>
                  <a:srgbClr val="64748B"/>
                </a:solidFill>
              </a:rPr>
              <a:t>07</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med" p14:dur="500" advClick="1">
        <p:fade thruBlk="0"/>
      </p:transition>
    </mc:Choice>
    <mc:Fallback>
      <p:transition spd="med" advClick="1">
        <p:fade thruBlk="0"/>
      </p:transition>
    </mc:Fallback>
  </mc:AlternateContent>
  <p:timing>
    <p:tnLst>
      <p:par>
        <p:cTn id="1" dur="indefinite" restart="never" nodeType="tmRoot">
          <p:childTnLst>
            <p:par>
              <p:cTn id="2" fill="hold">
                <p:stCondLst>
                  <p:cond delay="0"/>
                </p:stCondLst>
                <p:childTnLst>
                  <p:par>
                    <p:cTn id="3" presetID="10" presetClass="entr" presetSubtype="0" fill="hold" grpId="0" nodeType="afterEffect">
                      <p:stCondLst>
                        <p:cond delay="500"/>
                      </p:stCondLst>
                      <p:childTnLst>
                        <p:set>
                          <p:cBhvr>
                            <p:cTn id="4" dur="1" fill="hold">
                              <p:stCondLst>
                                <p:cond delay="0"/>
                              </p:stCondLst>
                            </p:cTn>
                            <p:tgtEl>
                              <p:spTgt spid="1789064934"/>
                            </p:tgtEl>
                            <p:attrNameLst>
                              <p:attrName>style.visibility</p:attrName>
                            </p:attrNameLst>
                          </p:cBhvr>
                          <p:to>
                            <p:strVal val="visible"/>
                          </p:to>
                        </p:set>
                        <p:animEffect transition="in" filter="fade">
                          <p:cBhvr>
                            <p:cTn id="5" dur="400"/>
                            <p:tgtEl>
                              <p:spTgt spid="1789064934"/>
                            </p:tgtEl>
                          </p:cBhvr>
                        </p:animEffect>
                        <p:anim calcmode="lin" valueType="num">
                          <p:cBhvr additive="base">
                            <p:cTn id="6" dur="400" fill="hold"/>
                            <p:tgtEl>
                              <p:spTgt spid="1789064934"/>
                            </p:tgtEl>
                            <p:attrNameLst>
                              <p:attrName>ppt_y</p:attrName>
                            </p:attrNameLst>
                          </p:cBhvr>
                          <p:tavLst>
                            <p:tav tm="0">
                              <p:val>
                                <p:fltVal val="0.045999999999999999"/>
                              </p:val>
                            </p:tav>
                            <p:tav tm="100000">
                              <p:val>
                                <p:fltVal val="0"/>
                              </p:val>
                            </p:tav>
                          </p:tavLst>
                        </p:anim>
                      </p:childTnLst>
                    </p:cTn>
                  </p:par>
                  <p:par>
                    <p:cTn id="7" presetID="10" presetClass="entr" presetSubtype="0" fill="hold" grpId="0" nodeType="afterEffect">
                      <p:stCondLst>
                        <p:cond delay="150"/>
                      </p:stCondLst>
                      <p:childTnLst>
                        <p:set>
                          <p:cBhvr>
                            <p:cTn id="8" dur="1" fill="hold">
                              <p:stCondLst>
                                <p:cond delay="0"/>
                              </p:stCondLst>
                            </p:cTn>
                            <p:tgtEl>
                              <p:spTgt spid="914176926"/>
                            </p:tgtEl>
                            <p:attrNameLst>
                              <p:attrName>style.visibility</p:attrName>
                            </p:attrNameLst>
                          </p:cBhvr>
                          <p:to>
                            <p:strVal val="visible"/>
                          </p:to>
                        </p:set>
                        <p:animEffect transition="in" filter="fade">
                          <p:cBhvr>
                            <p:cTn id="9" dur="400"/>
                            <p:tgtEl>
                              <p:spTgt spid="914176926"/>
                            </p:tgtEl>
                          </p:cBhvr>
                        </p:animEffect>
                        <p:anim calcmode="lin" valueType="num">
                          <p:cBhvr additive="base">
                            <p:cTn id="10" dur="400" fill="hold"/>
                            <p:tgtEl>
                              <p:spTgt spid="914176926"/>
                            </p:tgtEl>
                            <p:attrNameLst>
                              <p:attrName>ppt_y</p:attrName>
                            </p:attrNameLst>
                          </p:cBhvr>
                          <p:tavLst>
                            <p:tav tm="0">
                              <p:val>
                                <p:fltVal val="0.045999999999999999"/>
                              </p:val>
                            </p:tav>
                            <p:tav tm="100000">
                              <p:val>
                                <p:fltVal val="0"/>
                              </p:val>
                            </p:tav>
                          </p:tavLst>
                        </p:anim>
                      </p:childTnLst>
                    </p:cTn>
                  </p:par>
                  <p:par>
                    <p:cTn id="11" presetID="10" presetClass="entr" presetSubtype="0" fill="hold" grpId="0" nodeType="afterEffect">
                      <p:stCondLst>
                        <p:cond delay="150"/>
                      </p:stCondLst>
                      <p:childTnLst>
                        <p:set>
                          <p:cBhvr>
                            <p:cTn id="12" dur="1" fill="hold">
                              <p:stCondLst>
                                <p:cond delay="0"/>
                              </p:stCondLst>
                            </p:cTn>
                            <p:tgtEl>
                              <p:spTgt spid="231428502"/>
                            </p:tgtEl>
                            <p:attrNameLst>
                              <p:attrName>style.visibility</p:attrName>
                            </p:attrNameLst>
                          </p:cBhvr>
                          <p:to>
                            <p:strVal val="visible"/>
                          </p:to>
                        </p:set>
                        <p:animEffect transition="in" filter="fade">
                          <p:cBhvr>
                            <p:cTn id="13" dur="400"/>
                            <p:tgtEl>
                              <p:spTgt spid="231428502"/>
                            </p:tgtEl>
                          </p:cBhvr>
                        </p:animEffect>
                        <p:anim calcmode="lin" valueType="num">
                          <p:cBhvr additive="base">
                            <p:cTn id="14" dur="400" fill="hold"/>
                            <p:tgtEl>
                              <p:spTgt spid="231428502"/>
                            </p:tgtEl>
                            <p:attrNameLst>
                              <p:attrName>ppt_y</p:attrName>
                            </p:attrNameLst>
                          </p:cBhvr>
                          <p:tavLst>
                            <p:tav tm="0">
                              <p:val>
                                <p:fltVal val="0.045999999999999999"/>
                              </p:val>
                            </p:tav>
                            <p:tav tm="100000">
                              <p:val>
                                <p:fltVal val="0"/>
                              </p:val>
                            </p:tav>
                          </p:tavLst>
                        </p:anim>
                      </p:childTnLst>
                    </p:cTn>
                  </p:par>
                  <p:par>
                    <p:cTn id="15" presetID="10" presetClass="entr" presetSubtype="0" fill="hold" grpId="0" nodeType="afterEffect">
                      <p:stCondLst>
                        <p:cond delay="150"/>
                      </p:stCondLst>
                      <p:childTnLst>
                        <p:set>
                          <p:cBhvr>
                            <p:cTn id="16" dur="1" fill="hold">
                              <p:stCondLst>
                                <p:cond delay="0"/>
                              </p:stCondLst>
                            </p:cTn>
                            <p:tgtEl>
                              <p:spTgt spid="299612267"/>
                            </p:tgtEl>
                            <p:attrNameLst>
                              <p:attrName>style.visibility</p:attrName>
                            </p:attrNameLst>
                          </p:cBhvr>
                          <p:to>
                            <p:strVal val="visible"/>
                          </p:to>
                        </p:set>
                        <p:animEffect transition="in" filter="fade">
                          <p:cBhvr>
                            <p:cTn id="17" dur="400"/>
                            <p:tgtEl>
                              <p:spTgt spid="299612267"/>
                            </p:tgtEl>
                          </p:cBhvr>
                        </p:animEffect>
                        <p:anim calcmode="lin" valueType="num">
                          <p:cBhvr additive="base">
                            <p:cTn id="18" dur="400" fill="hold"/>
                            <p:tgtEl>
                              <p:spTgt spid="299612267"/>
                            </p:tgtEl>
                            <p:attrNameLst>
                              <p:attrName>ppt_y</p:attrName>
                            </p:attrNameLst>
                          </p:cBhvr>
                          <p:tavLst>
                            <p:tav tm="0">
                              <p:val>
                                <p:fltVal val="0.045999999999999999"/>
                              </p:val>
                            </p:tav>
                            <p:tav tm="100000">
                              <p:val>
                                <p:fltVal val="0"/>
                              </p:val>
                            </p:tav>
                          </p:tavLst>
                        </p:anim>
                      </p:childTnLst>
                    </p:cTn>
                  </p:par>
                  <p:par>
                    <p:cTn id="19" presetID="10" presetClass="entr" presetSubtype="0" fill="hold" grpId="0" nodeType="afterEffect">
                      <p:stCondLst>
                        <p:cond delay="150"/>
                      </p:stCondLst>
                      <p:childTnLst>
                        <p:set>
                          <p:cBhvr>
                            <p:cTn id="20" dur="1" fill="hold">
                              <p:stCondLst>
                                <p:cond delay="0"/>
                              </p:stCondLst>
                            </p:cTn>
                            <p:tgtEl>
                              <p:spTgt spid="22559969"/>
                            </p:tgtEl>
                            <p:attrNameLst>
                              <p:attrName>style.visibility</p:attrName>
                            </p:attrNameLst>
                          </p:cBhvr>
                          <p:to>
                            <p:strVal val="visible"/>
                          </p:to>
                        </p:set>
                        <p:animEffect transition="in" filter="fade">
                          <p:cBhvr>
                            <p:cTn id="21" dur="400"/>
                            <p:tgtEl>
                              <p:spTgt spid="22559969"/>
                            </p:tgtEl>
                          </p:cBhvr>
                        </p:animEffect>
                        <p:anim calcmode="lin" valueType="num">
                          <p:cBhvr additive="base">
                            <p:cTn id="22" dur="400" fill="hold"/>
                            <p:tgtEl>
                              <p:spTgt spid="22559969"/>
                            </p:tgtEl>
                            <p:attrNameLst>
                              <p:attrName>ppt_y</p:attrName>
                            </p:attrNameLst>
                          </p:cBhvr>
                          <p:tavLst>
                            <p:tav tm="0">
                              <p:val>
                                <p:fltVal val="0.045999999999999999"/>
                              </p:val>
                            </p:tav>
                            <p:tav tm="100000">
                              <p:val>
                                <p:fltVal val="0"/>
                              </p:val>
                            </p:tav>
                          </p:tavLst>
                        </p:anim>
                      </p:childTnLst>
                    </p:cTn>
                  </p:par>
                  <p:par>
                    <p:cTn id="23" presetID="10" presetClass="entr" presetSubtype="0" fill="hold" grpId="0" nodeType="afterEffect">
                      <p:stCondLst>
                        <p:cond delay="150"/>
                      </p:stCondLst>
                      <p:childTnLst>
                        <p:set>
                          <p:cBhvr>
                            <p:cTn id="24" dur="1" fill="hold">
                              <p:stCondLst>
                                <p:cond delay="0"/>
                              </p:stCondLst>
                            </p:cTn>
                            <p:tgtEl>
                              <p:spTgt spid="645123374"/>
                            </p:tgtEl>
                            <p:attrNameLst>
                              <p:attrName>style.visibility</p:attrName>
                            </p:attrNameLst>
                          </p:cBhvr>
                          <p:to>
                            <p:strVal val="visible"/>
                          </p:to>
                        </p:set>
                        <p:animEffect transition="in" filter="fade">
                          <p:cBhvr>
                            <p:cTn id="25" dur="400"/>
                            <p:tgtEl>
                              <p:spTgt spid="645123374"/>
                            </p:tgtEl>
                          </p:cBhvr>
                        </p:animEffect>
                        <p:anim calcmode="lin" valueType="num">
                          <p:cBhvr additive="base">
                            <p:cTn id="26" dur="400" fill="hold"/>
                            <p:tgtEl>
                              <p:spTgt spid="645123374"/>
                            </p:tgtEl>
                            <p:attrNameLst>
                              <p:attrName>ppt_y</p:attrName>
                            </p:attrNameLst>
                          </p:cBhvr>
                          <p:tavLst>
                            <p:tav tm="0">
                              <p:val>
                                <p:fltVal val="0.045999999999999999"/>
                              </p:val>
                            </p:tav>
                            <p:tav tm="100000">
                              <p:val>
                                <p:fltVal val="0"/>
                              </p:val>
                            </p:tav>
                          </p:tavLst>
                        </p:anim>
                      </p:childTnLst>
                    </p:cTn>
                  </p:par>
                  <p:par>
                    <p:cTn id="27" presetID="10" presetClass="entr" presetSubtype="0" fill="hold" grpId="0" nodeType="afterEffect">
                      <p:stCondLst>
                        <p:cond delay="150"/>
                      </p:stCondLst>
                      <p:childTnLst>
                        <p:set>
                          <p:cBhvr>
                            <p:cTn id="28" dur="1" fill="hold">
                              <p:stCondLst>
                                <p:cond delay="0"/>
                              </p:stCondLst>
                            </p:cTn>
                            <p:tgtEl>
                              <p:spTgt spid="11148044"/>
                            </p:tgtEl>
                            <p:attrNameLst>
                              <p:attrName>style.visibility</p:attrName>
                            </p:attrNameLst>
                          </p:cBhvr>
                          <p:to>
                            <p:strVal val="visible"/>
                          </p:to>
                        </p:set>
                        <p:animEffect transition="in" filter="fade">
                          <p:cBhvr>
                            <p:cTn id="29" dur="400"/>
                            <p:tgtEl>
                              <p:spTgt spid="11148044"/>
                            </p:tgtEl>
                          </p:cBhvr>
                        </p:animEffect>
                        <p:anim calcmode="lin" valueType="num">
                          <p:cBhvr additive="base">
                            <p:cTn id="30" dur="400" fill="hold"/>
                            <p:tgtEl>
                              <p:spTgt spid="11148044"/>
                            </p:tgtEl>
                            <p:attrNameLst>
                              <p:attrName>ppt_y</p:attrName>
                            </p:attrNameLst>
                          </p:cBhvr>
                          <p:tavLst>
                            <p:tav tm="0">
                              <p:val>
                                <p:fltVal val="0.045999999999999999"/>
                              </p:val>
                            </p:tav>
                            <p:tav tm="100000">
                              <p:val>
                                <p:fltVal val="0"/>
                              </p:val>
                            </p:tav>
                          </p:tavLst>
                        </p:anim>
                      </p:childTnLst>
                    </p:cTn>
                  </p:par>
                  <p:par>
                    <p:cTn id="31" presetID="10" presetClass="entr" presetSubtype="0" fill="hold" grpId="0" nodeType="afterEffect">
                      <p:stCondLst>
                        <p:cond delay="150"/>
                      </p:stCondLst>
                      <p:childTnLst>
                        <p:set>
                          <p:cBhvr>
                            <p:cTn id="32" dur="1" fill="hold">
                              <p:stCondLst>
                                <p:cond delay="0"/>
                              </p:stCondLst>
                            </p:cTn>
                            <p:tgtEl>
                              <p:spTgt spid="1956955741"/>
                            </p:tgtEl>
                            <p:attrNameLst>
                              <p:attrName>style.visibility</p:attrName>
                            </p:attrNameLst>
                          </p:cBhvr>
                          <p:to>
                            <p:strVal val="visible"/>
                          </p:to>
                        </p:set>
                        <p:animEffect transition="in" filter="fade">
                          <p:cBhvr>
                            <p:cTn id="33" dur="400"/>
                            <p:tgtEl>
                              <p:spTgt spid="1956955741"/>
                            </p:tgtEl>
                          </p:cBhvr>
                        </p:animEffect>
                        <p:anim calcmode="lin" valueType="num">
                          <p:cBhvr additive="base">
                            <p:cTn id="34" dur="400" fill="hold"/>
                            <p:tgtEl>
                              <p:spTgt spid="1956955741"/>
                            </p:tgtEl>
                            <p:attrNameLst>
                              <p:attrName>ppt_y</p:attrName>
                            </p:attrNameLst>
                          </p:cBhvr>
                          <p:tavLst>
                            <p:tav tm="0">
                              <p:val>
                                <p:fltVal val="0.045999999999999999"/>
                              </p:val>
                            </p:tav>
                            <p:tav tm="100000">
                              <p:val>
                                <p:fltVal val="0"/>
                              </p:val>
                            </p:tav>
                          </p:tavLst>
                        </p:anim>
                      </p:childTnLst>
                    </p:cTn>
                  </p:par>
                  <p:par>
                    <p:cTn id="35" presetID="10" presetClass="entr" presetSubtype="0" fill="hold" grpId="0" nodeType="afterEffect">
                      <p:stCondLst>
                        <p:cond delay="150"/>
                      </p:stCondLst>
                      <p:childTnLst>
                        <p:set>
                          <p:cBhvr>
                            <p:cTn id="36" dur="1" fill="hold">
                              <p:stCondLst>
                                <p:cond delay="0"/>
                              </p:stCondLst>
                            </p:cTn>
                            <p:tgtEl>
                              <p:spTgt spid="2135583386"/>
                            </p:tgtEl>
                            <p:attrNameLst>
                              <p:attrName>style.visibility</p:attrName>
                            </p:attrNameLst>
                          </p:cBhvr>
                          <p:to>
                            <p:strVal val="visible"/>
                          </p:to>
                        </p:set>
                        <p:animEffect transition="in" filter="fade">
                          <p:cBhvr>
                            <p:cTn id="37" dur="400"/>
                            <p:tgtEl>
                              <p:spTgt spid="2135583386"/>
                            </p:tgtEl>
                          </p:cBhvr>
                        </p:animEffect>
                        <p:anim calcmode="lin" valueType="num">
                          <p:cBhvr additive="base">
                            <p:cTn id="38" dur="400" fill="hold"/>
                            <p:tgtEl>
                              <p:spTgt spid="2135583386"/>
                            </p:tgtEl>
                            <p:attrNameLst>
                              <p:attrName>ppt_y</p:attrName>
                            </p:attrNameLst>
                          </p:cBhvr>
                          <p:tavLst>
                            <p:tav tm="0">
                              <p:val>
                                <p:fltVal val="0.045999999999999999"/>
                              </p:val>
                            </p:tav>
                            <p:tav tm="100000">
                              <p:val>
                                <p:fltVal val="0"/>
                              </p:val>
                            </p:tav>
                          </p:tavLst>
                        </p:anim>
                      </p:childTnLst>
                    </p:cTn>
                  </p:par>
                  <p:par>
                    <p:cTn id="39" presetID="10" presetClass="entr" presetSubtype="0" fill="hold" grpId="0" nodeType="afterEffect">
                      <p:stCondLst>
                        <p:cond delay="150"/>
                      </p:stCondLst>
                      <p:childTnLst>
                        <p:set>
                          <p:cBhvr>
                            <p:cTn id="40" dur="1" fill="hold">
                              <p:stCondLst>
                                <p:cond delay="0"/>
                              </p:stCondLst>
                            </p:cTn>
                            <p:tgtEl>
                              <p:spTgt spid="953523992"/>
                            </p:tgtEl>
                            <p:attrNameLst>
                              <p:attrName>style.visibility</p:attrName>
                            </p:attrNameLst>
                          </p:cBhvr>
                          <p:to>
                            <p:strVal val="visible"/>
                          </p:to>
                        </p:set>
                        <p:animEffect transition="in" filter="fade">
                          <p:cBhvr>
                            <p:cTn id="41" dur="400"/>
                            <p:tgtEl>
                              <p:spTgt spid="953523992"/>
                            </p:tgtEl>
                          </p:cBhvr>
                        </p:animEffect>
                        <p:anim calcmode="lin" valueType="num">
                          <p:cBhvr additive="base">
                            <p:cTn id="42" dur="400" fill="hold"/>
                            <p:tgtEl>
                              <p:spTgt spid="953523992"/>
                            </p:tgtEl>
                            <p:attrNameLst>
                              <p:attrName>ppt_y</p:attrName>
                            </p:attrNameLst>
                          </p:cBhvr>
                          <p:tavLst>
                            <p:tav tm="0">
                              <p:val>
                                <p:fltVal val="0.045999999999999999"/>
                              </p:val>
                            </p:tav>
                            <p:tav tm="100000">
                              <p:val>
                                <p:fltVal val="0"/>
                              </p:val>
                            </p:tav>
                          </p:tavLst>
                        </p:anim>
                      </p:childTnLst>
                    </p:cTn>
                  </p:par>
                  <p:par>
                    <p:cTn id="43" presetID="10" presetClass="entr" presetSubtype="0" fill="hold" grpId="0" nodeType="afterEffect">
                      <p:stCondLst>
                        <p:cond delay="150"/>
                      </p:stCondLst>
                      <p:childTnLst>
                        <p:set>
                          <p:cBhvr>
                            <p:cTn id="44" dur="1" fill="hold">
                              <p:stCondLst>
                                <p:cond delay="0"/>
                              </p:stCondLst>
                            </p:cTn>
                            <p:tgtEl>
                              <p:spTgt spid="1605272776"/>
                            </p:tgtEl>
                            <p:attrNameLst>
                              <p:attrName>style.visibility</p:attrName>
                            </p:attrNameLst>
                          </p:cBhvr>
                          <p:to>
                            <p:strVal val="visible"/>
                          </p:to>
                        </p:set>
                        <p:animEffect transition="in" filter="fade">
                          <p:cBhvr>
                            <p:cTn id="45" dur="400"/>
                            <p:tgtEl>
                              <p:spTgt spid="1605272776"/>
                            </p:tgtEl>
                          </p:cBhvr>
                        </p:animEffect>
                        <p:anim calcmode="lin" valueType="num">
                          <p:cBhvr additive="base">
                            <p:cTn id="46" dur="400" fill="hold"/>
                            <p:tgtEl>
                              <p:spTgt spid="1605272776"/>
                            </p:tgtEl>
                            <p:attrNameLst>
                              <p:attrName>ppt_y</p:attrName>
                            </p:attrNameLst>
                          </p:cBhvr>
                          <p:tavLst>
                            <p:tav tm="0">
                              <p:val>
                                <p:fltVal val="0.045999999999999999"/>
                              </p:val>
                            </p:tav>
                            <p:tav tm="100000">
                              <p:val>
                                <p:fltVal val="0"/>
                              </p:val>
                            </p:tav>
                          </p:tavLst>
                        </p:anim>
                      </p:childTnLst>
                    </p:cTn>
                  </p:par>
                  <p:par>
                    <p:cTn id="47" presetID="10" presetClass="entr" presetSubtype="0" fill="hold" grpId="0" nodeType="afterEffect">
                      <p:stCondLst>
                        <p:cond delay="150"/>
                      </p:stCondLst>
                      <p:childTnLst>
                        <p:set>
                          <p:cBhvr>
                            <p:cTn id="48" dur="1" fill="hold">
                              <p:stCondLst>
                                <p:cond delay="0"/>
                              </p:stCondLst>
                            </p:cTn>
                            <p:tgtEl>
                              <p:spTgt spid="731108151"/>
                            </p:tgtEl>
                            <p:attrNameLst>
                              <p:attrName>style.visibility</p:attrName>
                            </p:attrNameLst>
                          </p:cBhvr>
                          <p:to>
                            <p:strVal val="visible"/>
                          </p:to>
                        </p:set>
                        <p:animEffect transition="in" filter="fade">
                          <p:cBhvr>
                            <p:cTn id="49" dur="400"/>
                            <p:tgtEl>
                              <p:spTgt spid="731108151"/>
                            </p:tgtEl>
                          </p:cBhvr>
                        </p:animEffect>
                        <p:anim calcmode="lin" valueType="num">
                          <p:cBhvr additive="base">
                            <p:cTn id="50" dur="400" fill="hold"/>
                            <p:tgtEl>
                              <p:spTgt spid="731108151"/>
                            </p:tgtEl>
                            <p:attrNameLst>
                              <p:attrName>ppt_y</p:attrName>
                            </p:attrNameLst>
                          </p:cBhvr>
                          <p:tavLst>
                            <p:tav tm="0">
                              <p:val>
                                <p:fltVal val="0.045999999999999999"/>
                              </p:val>
                            </p:tav>
                            <p:tav tm="100000">
                              <p:val>
                                <p:fltVal val="0"/>
                              </p:val>
                            </p:tav>
                          </p:tavLst>
                        </p:anim>
                      </p:childTnLst>
                    </p:cTn>
                  </p:par>
                  <p:par>
                    <p:cTn id="51" presetID="10" presetClass="entr" presetSubtype="0" fill="hold" grpId="0" nodeType="afterEffect">
                      <p:stCondLst>
                        <p:cond delay="150"/>
                      </p:stCondLst>
                      <p:childTnLst>
                        <p:set>
                          <p:cBhvr>
                            <p:cTn id="52" dur="1" fill="hold">
                              <p:stCondLst>
                                <p:cond delay="0"/>
                              </p:stCondLst>
                            </p:cTn>
                            <p:tgtEl>
                              <p:spTgt spid="1768595717"/>
                            </p:tgtEl>
                            <p:attrNameLst>
                              <p:attrName>style.visibility</p:attrName>
                            </p:attrNameLst>
                          </p:cBhvr>
                          <p:to>
                            <p:strVal val="visible"/>
                          </p:to>
                        </p:set>
                        <p:animEffect transition="in" filter="fade">
                          <p:cBhvr>
                            <p:cTn id="53" dur="400"/>
                            <p:tgtEl>
                              <p:spTgt spid="1768595717"/>
                            </p:tgtEl>
                          </p:cBhvr>
                        </p:animEffect>
                        <p:anim calcmode="lin" valueType="num">
                          <p:cBhvr additive="base">
                            <p:cTn id="54" dur="400" fill="hold"/>
                            <p:tgtEl>
                              <p:spTgt spid="1768595717"/>
                            </p:tgtEl>
                            <p:attrNameLst>
                              <p:attrName>ppt_y</p:attrName>
                            </p:attrNameLst>
                          </p:cBhvr>
                          <p:tavLst>
                            <p:tav tm="0">
                              <p:val>
                                <p:fltVal val="0.045999999999999999"/>
                              </p:val>
                            </p:tav>
                            <p:tav tm="100000">
                              <p:val>
                                <p:fltVal val="0"/>
                              </p:val>
                            </p:tav>
                          </p:tavLst>
                        </p:anim>
                      </p:childTnLst>
                    </p:cTn>
                  </p:par>
                  <p:par>
                    <p:cTn id="55" presetID="10" presetClass="entr" presetSubtype="0" fill="hold" grpId="0" nodeType="afterEffect">
                      <p:stCondLst>
                        <p:cond delay="150"/>
                      </p:stCondLst>
                      <p:childTnLst>
                        <p:set>
                          <p:cBhvr>
                            <p:cTn id="56" dur="1" fill="hold">
                              <p:stCondLst>
                                <p:cond delay="0"/>
                              </p:stCondLst>
                            </p:cTn>
                            <p:tgtEl>
                              <p:spTgt spid="141201269"/>
                            </p:tgtEl>
                            <p:attrNameLst>
                              <p:attrName>style.visibility</p:attrName>
                            </p:attrNameLst>
                          </p:cBhvr>
                          <p:to>
                            <p:strVal val="visible"/>
                          </p:to>
                        </p:set>
                        <p:animEffect transition="in" filter="fade">
                          <p:cBhvr>
                            <p:cTn id="57" dur="400"/>
                            <p:tgtEl>
                              <p:spTgt spid="141201269"/>
                            </p:tgtEl>
                          </p:cBhvr>
                        </p:animEffect>
                        <p:anim calcmode="lin" valueType="num">
                          <p:cBhvr additive="base">
                            <p:cTn id="58" dur="400" fill="hold"/>
                            <p:tgtEl>
                              <p:spTgt spid="141201269"/>
                            </p:tgtEl>
                            <p:attrNameLst>
                              <p:attrName>ppt_y</p:attrName>
                            </p:attrNameLst>
                          </p:cBhvr>
                          <p:tavLst>
                            <p:tav tm="0">
                              <p:val>
                                <p:fltVal val="0.045999999999999999"/>
                              </p:val>
                            </p:tav>
                            <p:tav tm="100000">
                              <p:val>
                                <p:fltVal val="0"/>
                              </p:val>
                            </p:tav>
                          </p:tavLst>
                        </p:anim>
                      </p:childTnLst>
                    </p:cTn>
                  </p:par>
                </p:childTnLst>
              </p:cTn>
            </p:par>
          </p:childTnLst>
        </p:cTn>
      </p:par>
    </p:tnLst>
    <p:bldLst>
      <p:bldP spid="1789064934" grpId="0" animBg="1"/>
      <p:bldP spid="914176926" grpId="0" animBg="1"/>
      <p:bldP spid="231428502" grpId="0" animBg="1"/>
      <p:bldP spid="299612267" grpId="0" animBg="1"/>
      <p:bldP spid="22559969" grpId="0" animBg="1"/>
      <p:bldP spid="645123374" grpId="0" animBg="1"/>
      <p:bldP spid="11148044" grpId="0" animBg="1"/>
      <p:bldP spid="1956955741" grpId="0" animBg="1"/>
      <p:bldP spid="2135583386" grpId="0" animBg="1"/>
      <p:bldP spid="953523992" grpId="0" animBg="1"/>
      <p:bldP spid="1605272776" grpId="0" animBg="1"/>
      <p:bldP spid="731108151" grpId="0" animBg="1"/>
      <p:bldP spid="1768595717" grpId="0" animBg="1"/>
      <p:bldP spid="141201269" grpId="0" animBg="1"/>
    </p:bldLst>
  </p:timing>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257646450" name="Eyebrow"/>
          <p:cNvSpPr txBox="1"/>
          <p:nvPr/>
        </p:nvSpPr>
        <p:spPr bwMode="auto">
          <a:xfrm>
            <a:off x="914400" y="584200"/>
            <a:ext cx="9144000" cy="254000"/>
          </a:xfrm>
          <a:prstGeom prst="rect">
            <a:avLst/>
          </a:prstGeom>
          <a:noFill/>
          <a:ln>
            <a:noFill/>
          </a:ln>
        </p:spPr>
        <p:txBody>
          <a:bodyPr wrap="square" lIns="0" tIns="0" rIns="0" bIns="0" anchor="t">
            <a:normAutofit/>
          </a:bodyPr>
          <a:lstStyle/>
          <a:p>
            <a:pPr>
              <a:buNone/>
              <a:defRPr/>
            </a:pPr>
            <a:r>
              <a:rPr lang="fr-FR" sz="1400" b="1" spc="240">
                <a:solidFill>
                  <a:srgbClr val="64748B"/>
                </a:solidFill>
              </a:rPr>
              <a:t>02 · CHOIX TECHNIQUES</a:t>
            </a:r>
            <a:endParaRPr/>
          </a:p>
        </p:txBody>
      </p:sp>
      <p:sp>
        <p:nvSpPr>
          <p:cNvPr id="1085625828" name="Titre"/>
          <p:cNvSpPr txBox="1"/>
          <p:nvPr/>
        </p:nvSpPr>
        <p:spPr bwMode="auto">
          <a:xfrm>
            <a:off x="914400" y="863599"/>
            <a:ext cx="10363200" cy="508000"/>
          </a:xfrm>
          <a:prstGeom prst="rect">
            <a:avLst/>
          </a:prstGeom>
          <a:noFill/>
          <a:ln>
            <a:noFill/>
          </a:ln>
        </p:spPr>
        <p:txBody>
          <a:bodyPr wrap="square" lIns="0" tIns="0" rIns="0" bIns="0" anchor="t">
            <a:normAutofit/>
          </a:bodyPr>
          <a:lstStyle/>
          <a:p>
            <a:pPr>
              <a:buNone/>
              <a:defRPr/>
            </a:pPr>
            <a:r>
              <a:rPr lang="fr-FR" sz="3000">
                <a:solidFill>
                  <a:srgbClr val="0B1F3A"/>
                </a:solidFill>
                <a:latin typeface="Segoe UI Semibold"/>
              </a:rPr>
              <a:t>Spectre politique : de l'économie à l'orientation</a:t>
            </a:r>
            <a:endParaRPr/>
          </a:p>
        </p:txBody>
      </p:sp>
      <p:sp>
        <p:nvSpPr>
          <p:cNvPr id="1228388499" name="Filet"/>
          <p:cNvSpPr/>
          <p:nvPr/>
        </p:nvSpPr>
        <p:spPr bwMode="auto">
          <a:xfrm>
            <a:off x="914400" y="1473200"/>
            <a:ext cx="685800" cy="50800"/>
          </a:xfrm>
          <a:prstGeom prst="rect">
            <a:avLst/>
          </a:prstGeom>
          <a:solidFill>
            <a:srgbClr val="2563EB"/>
          </a:solidFill>
          <a:ln>
            <a:noFill/>
          </a:ln>
        </p:spPr>
        <p:txBody>
          <a:bodyPr wrap="square" lIns="0" tIns="0" rIns="0" bIns="0" anchor="t">
            <a:normAutofit/>
          </a:bodyPr>
          <a:lstStyle/>
          <a:p>
            <a:pPr>
              <a:defRPr/>
            </a:pPr>
            <a:endParaRPr/>
          </a:p>
        </p:txBody>
      </p:sp>
      <p:sp>
        <p:nvSpPr>
          <p:cNvPr id="440375220" name="KeyMsg"/>
          <p:cNvSpPr txBox="1"/>
          <p:nvPr/>
        </p:nvSpPr>
        <p:spPr bwMode="auto">
          <a:xfrm>
            <a:off x="914400" y="1905000"/>
            <a:ext cx="10363200" cy="508000"/>
          </a:xfrm>
          <a:prstGeom prst="rect">
            <a:avLst/>
          </a:prstGeom>
          <a:noFill/>
          <a:ln>
            <a:noFill/>
          </a:ln>
        </p:spPr>
        <p:txBody>
          <a:bodyPr wrap="square" lIns="0" tIns="0" rIns="0" bIns="0" anchor="t">
            <a:normAutofit/>
          </a:bodyPr>
          <a:lstStyle/>
          <a:p>
            <a:pPr algn="ctr">
              <a:buNone/>
              <a:defRPr/>
            </a:pPr>
            <a:r>
              <a:rPr lang="fr-FR" sz="1800">
                <a:solidFill>
                  <a:srgbClr val="0B1F3A"/>
                </a:solidFill>
                <a:latin typeface="Segoe UI Semibold"/>
              </a:rPr>
              <a:t>État socio-économique</a:t>
            </a:r>
            <a:r>
              <a:rPr lang="fr-FR" sz="1800" b="1">
                <a:solidFill>
                  <a:srgbClr val="2563EB"/>
                </a:solidFill>
              </a:rPr>
              <a:t>    →    </a:t>
            </a:r>
            <a:r>
              <a:rPr lang="fr-FR" sz="1800">
                <a:solidFill>
                  <a:srgbClr val="2563EB"/>
                </a:solidFill>
                <a:latin typeface="Segoe UI Semibold"/>
              </a:rPr>
              <a:t>Orientation politique</a:t>
            </a:r>
            <a:endParaRPr/>
          </a:p>
        </p:txBody>
      </p:sp>
      <p:sp>
        <p:nvSpPr>
          <p:cNvPr id="1554762059" name="Page"/>
          <p:cNvSpPr txBox="1"/>
          <p:nvPr/>
        </p:nvSpPr>
        <p:spPr bwMode="auto">
          <a:xfrm>
            <a:off x="10515600" y="6451600"/>
            <a:ext cx="914400" cy="254000"/>
          </a:xfrm>
          <a:prstGeom prst="rect">
            <a:avLst/>
          </a:prstGeom>
          <a:noFill/>
          <a:ln>
            <a:noFill/>
          </a:ln>
        </p:spPr>
        <p:txBody>
          <a:bodyPr wrap="square" lIns="0" tIns="0" rIns="0" bIns="0" anchor="t">
            <a:normAutofit/>
          </a:bodyPr>
          <a:lstStyle/>
          <a:p>
            <a:pPr algn="r">
              <a:buNone/>
              <a:defRPr/>
            </a:pPr>
            <a:r>
              <a:rPr lang="fr-FR" sz="1400">
                <a:solidFill>
                  <a:srgbClr val="64748B"/>
                </a:solidFill>
              </a:rPr>
              <a:t>08</a:t>
            </a:r>
            <a:endParaRPr/>
          </a:p>
        </p:txBody>
      </p:sp>
      <p:pic>
        <p:nvPicPr>
          <p:cNvPr id="627121006" name=""/>
          <p:cNvPicPr>
            <a:picLocks noChangeAspect="1"/>
          </p:cNvPicPr>
          <p:nvPr/>
        </p:nvPicPr>
        <p:blipFill rotWithShape="1">
          <a:blip r:embed="rId3"/>
          <a:stretch/>
        </p:blipFill>
        <p:spPr bwMode="auto">
          <a:xfrm>
            <a:off x="395287" y="2205102"/>
            <a:ext cx="11401425" cy="4448174"/>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med" p14:dur="500" advClick="1">
        <p:fade thruBlk="0"/>
      </p:transition>
    </mc:Choice>
    <mc:Fallback>
      <p:transition spd="med" advClick="1">
        <p:fade thruBlk="0"/>
      </p:transition>
    </mc:Fallback>
  </mc:AlternateContent>
  <p:timing>
    <p:tnLst>
      <p:par>
        <p:cTn id="1" dur="indefinite" restart="never" nodeType="tmRoot">
          <p:childTnLst>
            <p:par>
              <p:cTn id="2" fill="hold">
                <p:stCondLst>
                  <p:cond delay="0"/>
                </p:stCondLst>
                <p:childTnLst>
                  <p:par>
                    <p:cTn id="3" presetID="10" presetClass="entr" presetSubtype="0" fill="hold" grpId="0" nodeType="afterEffect">
                      <p:stCondLst>
                        <p:cond delay="500"/>
                      </p:stCondLst>
                      <p:childTnLst>
                        <p:set>
                          <p:cBhvr>
                            <p:cTn id="4" dur="1" fill="hold">
                              <p:stCondLst>
                                <p:cond delay="0"/>
                              </p:stCondLst>
                            </p:cTn>
                            <p:tgtEl>
                              <p:spTgt spid="257646450"/>
                            </p:tgtEl>
                            <p:attrNameLst>
                              <p:attrName>style.visibility</p:attrName>
                            </p:attrNameLst>
                          </p:cBhvr>
                          <p:to>
                            <p:strVal val="visible"/>
                          </p:to>
                        </p:set>
                        <p:animEffect transition="in" filter="fade">
                          <p:cBhvr>
                            <p:cTn id="5" dur="400"/>
                            <p:tgtEl>
                              <p:spTgt spid="257646450"/>
                            </p:tgtEl>
                          </p:cBhvr>
                        </p:animEffect>
                        <p:anim calcmode="lin" valueType="num">
                          <p:cBhvr additive="base">
                            <p:cTn id="6" dur="400" fill="hold"/>
                            <p:tgtEl>
                              <p:spTgt spid="257646450"/>
                            </p:tgtEl>
                            <p:attrNameLst>
                              <p:attrName>ppt_y</p:attrName>
                            </p:attrNameLst>
                          </p:cBhvr>
                          <p:tavLst>
                            <p:tav tm="0">
                              <p:val>
                                <p:fltVal val="0.045999999999999999"/>
                              </p:val>
                            </p:tav>
                            <p:tav tm="100000">
                              <p:val>
                                <p:fltVal val="0"/>
                              </p:val>
                            </p:tav>
                          </p:tavLst>
                        </p:anim>
                      </p:childTnLst>
                    </p:cTn>
                  </p:par>
                  <p:par>
                    <p:cTn id="7" presetID="10" presetClass="entr" presetSubtype="0" fill="hold" grpId="0" nodeType="afterEffect">
                      <p:stCondLst>
                        <p:cond delay="150"/>
                      </p:stCondLst>
                      <p:childTnLst>
                        <p:set>
                          <p:cBhvr>
                            <p:cTn id="8" dur="1" fill="hold">
                              <p:stCondLst>
                                <p:cond delay="0"/>
                              </p:stCondLst>
                            </p:cTn>
                            <p:tgtEl>
                              <p:spTgt spid="1085625828"/>
                            </p:tgtEl>
                            <p:attrNameLst>
                              <p:attrName>style.visibility</p:attrName>
                            </p:attrNameLst>
                          </p:cBhvr>
                          <p:to>
                            <p:strVal val="visible"/>
                          </p:to>
                        </p:set>
                        <p:animEffect transition="in" filter="fade">
                          <p:cBhvr>
                            <p:cTn id="9" dur="400"/>
                            <p:tgtEl>
                              <p:spTgt spid="1085625828"/>
                            </p:tgtEl>
                          </p:cBhvr>
                        </p:animEffect>
                        <p:anim calcmode="lin" valueType="num">
                          <p:cBhvr additive="base">
                            <p:cTn id="10" dur="400" fill="hold"/>
                            <p:tgtEl>
                              <p:spTgt spid="1085625828"/>
                            </p:tgtEl>
                            <p:attrNameLst>
                              <p:attrName>ppt_y</p:attrName>
                            </p:attrNameLst>
                          </p:cBhvr>
                          <p:tavLst>
                            <p:tav tm="0">
                              <p:val>
                                <p:fltVal val="0.045999999999999999"/>
                              </p:val>
                            </p:tav>
                            <p:tav tm="100000">
                              <p:val>
                                <p:fltVal val="0"/>
                              </p:val>
                            </p:tav>
                          </p:tavLst>
                        </p:anim>
                      </p:childTnLst>
                    </p:cTn>
                  </p:par>
                  <p:par>
                    <p:cTn id="11" presetID="10" presetClass="entr" presetSubtype="0" fill="hold" grpId="0" nodeType="afterEffect">
                      <p:stCondLst>
                        <p:cond delay="150"/>
                      </p:stCondLst>
                      <p:childTnLst>
                        <p:set>
                          <p:cBhvr>
                            <p:cTn id="12" dur="1" fill="hold">
                              <p:stCondLst>
                                <p:cond delay="0"/>
                              </p:stCondLst>
                            </p:cTn>
                            <p:tgtEl>
                              <p:spTgt spid="1228388499"/>
                            </p:tgtEl>
                            <p:attrNameLst>
                              <p:attrName>style.visibility</p:attrName>
                            </p:attrNameLst>
                          </p:cBhvr>
                          <p:to>
                            <p:strVal val="visible"/>
                          </p:to>
                        </p:set>
                        <p:animEffect transition="in" filter="fade">
                          <p:cBhvr>
                            <p:cTn id="13" dur="400"/>
                            <p:tgtEl>
                              <p:spTgt spid="1228388499"/>
                            </p:tgtEl>
                          </p:cBhvr>
                        </p:animEffect>
                        <p:anim calcmode="lin" valueType="num">
                          <p:cBhvr additive="base">
                            <p:cTn id="14" dur="400" fill="hold"/>
                            <p:tgtEl>
                              <p:spTgt spid="1228388499"/>
                            </p:tgtEl>
                            <p:attrNameLst>
                              <p:attrName>ppt_y</p:attrName>
                            </p:attrNameLst>
                          </p:cBhvr>
                          <p:tavLst>
                            <p:tav tm="0">
                              <p:val>
                                <p:fltVal val="0.045999999999999999"/>
                              </p:val>
                            </p:tav>
                            <p:tav tm="100000">
                              <p:val>
                                <p:fltVal val="0"/>
                              </p:val>
                            </p:tav>
                          </p:tavLst>
                        </p:anim>
                      </p:childTnLst>
                    </p:cTn>
                  </p:par>
                  <p:par>
                    <p:cTn id="15" presetID="10" presetClass="entr" presetSubtype="0" fill="hold" grpId="0" nodeType="afterEffect">
                      <p:stCondLst>
                        <p:cond delay="150"/>
                      </p:stCondLst>
                      <p:childTnLst>
                        <p:set>
                          <p:cBhvr>
                            <p:cTn id="16" dur="1" fill="hold">
                              <p:stCondLst>
                                <p:cond delay="0"/>
                              </p:stCondLst>
                            </p:cTn>
                            <p:tgtEl>
                              <p:spTgt spid="440375220"/>
                            </p:tgtEl>
                            <p:attrNameLst>
                              <p:attrName>style.visibility</p:attrName>
                            </p:attrNameLst>
                          </p:cBhvr>
                          <p:to>
                            <p:strVal val="visible"/>
                          </p:to>
                        </p:set>
                        <p:animEffect transition="in" filter="fade">
                          <p:cBhvr>
                            <p:cTn id="17" dur="400"/>
                            <p:tgtEl>
                              <p:spTgt spid="440375220"/>
                            </p:tgtEl>
                          </p:cBhvr>
                        </p:animEffect>
                        <p:anim calcmode="lin" valueType="num">
                          <p:cBhvr additive="base">
                            <p:cTn id="18" dur="400" fill="hold"/>
                            <p:tgtEl>
                              <p:spTgt spid="440375220"/>
                            </p:tgtEl>
                            <p:attrNameLst>
                              <p:attrName>ppt_y</p:attrName>
                            </p:attrNameLst>
                          </p:cBhvr>
                          <p:tavLst>
                            <p:tav tm="0">
                              <p:val>
                                <p:fltVal val="0.045999999999999999"/>
                              </p:val>
                            </p:tav>
                            <p:tav tm="100000">
                              <p:val>
                                <p:fltVal val="0"/>
                              </p:val>
                            </p:tav>
                          </p:tavLst>
                        </p:anim>
                      </p:childTnLst>
                    </p:cTn>
                  </p:par>
                  <p:par>
                    <p:cTn id="67" presetID="10" presetClass="entr" presetSubtype="0" fill="hold" grpId="0" nodeType="afterEffect">
                      <p:stCondLst>
                        <p:cond delay="150"/>
                      </p:stCondLst>
                      <p:childTnLst>
                        <p:set>
                          <p:cBhvr>
                            <p:cTn id="68" dur="1" fill="hold">
                              <p:stCondLst>
                                <p:cond delay="0"/>
                              </p:stCondLst>
                            </p:cTn>
                            <p:tgtEl>
                              <p:spTgt spid="1554762059"/>
                            </p:tgtEl>
                            <p:attrNameLst>
                              <p:attrName>style.visibility</p:attrName>
                            </p:attrNameLst>
                          </p:cBhvr>
                          <p:to>
                            <p:strVal val="visible"/>
                          </p:to>
                        </p:set>
                        <p:animEffect transition="in" filter="fade">
                          <p:cBhvr>
                            <p:cTn id="69" dur="400"/>
                            <p:tgtEl>
                              <p:spTgt spid="1554762059"/>
                            </p:tgtEl>
                          </p:cBhvr>
                        </p:animEffect>
                        <p:anim calcmode="lin" valueType="num">
                          <p:cBhvr additive="base">
                            <p:cTn id="70" dur="400" fill="hold"/>
                            <p:tgtEl>
                              <p:spTgt spid="1554762059"/>
                            </p:tgtEl>
                            <p:attrNameLst>
                              <p:attrName>ppt_y</p:attrName>
                            </p:attrNameLst>
                          </p:cBhvr>
                          <p:tavLst>
                            <p:tav tm="0">
                              <p:val>
                                <p:fltVal val="0.045999999999999999"/>
                              </p:val>
                            </p:tav>
                            <p:tav tm="100000">
                              <p:val>
                                <p:fltVal val="0"/>
                              </p:val>
                            </p:tav>
                          </p:tavLst>
                        </p:anim>
                      </p:childTnLst>
                    </p:cTn>
                  </p:par>
                </p:childTnLst>
              </p:cTn>
            </p:par>
          </p:childTnLst>
        </p:cTn>
      </p:par>
    </p:tnLst>
    <p:bldLst>
      <p:bldP spid="257646450" grpId="0" animBg="1"/>
      <p:bldP spid="1085625828" grpId="0" animBg="1"/>
      <p:bldP spid="1228388499" grpId="0" animBg="1"/>
      <p:bldP spid="440375220" grpId="0" animBg="1"/>
      <p:bldP spid="1554762059" grpId="0" animBg="1"/>
    </p:bldLst>
  </p:timing>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877905828" name="Eyebrow"/>
          <p:cNvSpPr txBox="1"/>
          <p:nvPr/>
        </p:nvSpPr>
        <p:spPr bwMode="auto">
          <a:xfrm>
            <a:off x="914400" y="584200"/>
            <a:ext cx="9144000" cy="254000"/>
          </a:xfrm>
          <a:prstGeom prst="rect">
            <a:avLst/>
          </a:prstGeom>
          <a:noFill/>
          <a:ln>
            <a:noFill/>
          </a:ln>
        </p:spPr>
        <p:txBody>
          <a:bodyPr wrap="square" lIns="0" tIns="0" rIns="0" bIns="0" anchor="t">
            <a:normAutofit/>
          </a:bodyPr>
          <a:lstStyle/>
          <a:p>
            <a:pPr>
              <a:buNone/>
              <a:defRPr/>
            </a:pPr>
            <a:r>
              <a:rPr lang="fr-FR" sz="1400" b="1" spc="240">
                <a:solidFill>
                  <a:srgbClr val="64748B"/>
                </a:solidFill>
              </a:rPr>
              <a:t>02 · CHOIX TECHNIQUES</a:t>
            </a:r>
            <a:endParaRPr/>
          </a:p>
        </p:txBody>
      </p:sp>
      <p:sp>
        <p:nvSpPr>
          <p:cNvPr id="999155620" name="Titre"/>
          <p:cNvSpPr txBox="1"/>
          <p:nvPr/>
        </p:nvSpPr>
        <p:spPr bwMode="auto">
          <a:xfrm>
            <a:off x="914400" y="863599"/>
            <a:ext cx="10363200" cy="508000"/>
          </a:xfrm>
          <a:prstGeom prst="rect">
            <a:avLst/>
          </a:prstGeom>
          <a:noFill/>
          <a:ln>
            <a:noFill/>
          </a:ln>
        </p:spPr>
        <p:txBody>
          <a:bodyPr wrap="square" lIns="0" tIns="0" rIns="0" bIns="0" anchor="t">
            <a:normAutofit/>
          </a:bodyPr>
          <a:lstStyle/>
          <a:p>
            <a:pPr>
              <a:buNone/>
              <a:defRPr/>
            </a:pPr>
            <a:r>
              <a:rPr lang="fr-FR" sz="3000">
                <a:solidFill>
                  <a:srgbClr val="0B1F3A"/>
                </a:solidFill>
                <a:latin typeface="Segoe UI Semibold"/>
              </a:rPr>
              <a:t>Stack technique</a:t>
            </a:r>
            <a:endParaRPr/>
          </a:p>
        </p:txBody>
      </p:sp>
      <p:sp>
        <p:nvSpPr>
          <p:cNvPr id="170136685" name="Filet"/>
          <p:cNvSpPr/>
          <p:nvPr/>
        </p:nvSpPr>
        <p:spPr bwMode="auto">
          <a:xfrm>
            <a:off x="914400" y="1473200"/>
            <a:ext cx="685800" cy="50800"/>
          </a:xfrm>
          <a:prstGeom prst="rect">
            <a:avLst/>
          </a:prstGeom>
          <a:solidFill>
            <a:srgbClr val="2563EB"/>
          </a:solidFill>
          <a:ln>
            <a:noFill/>
          </a:ln>
        </p:spPr>
        <p:txBody>
          <a:bodyPr wrap="square" lIns="0" tIns="0" rIns="0" bIns="0" anchor="t">
            <a:normAutofit/>
          </a:bodyPr>
          <a:lstStyle/>
          <a:p>
            <a:pPr>
              <a:defRPr/>
            </a:pPr>
            <a:endParaRPr/>
          </a:p>
        </p:txBody>
      </p:sp>
      <p:sp>
        <p:nvSpPr>
          <p:cNvPr id="1823016647" name="Tech0"/>
          <p:cNvSpPr/>
          <p:nvPr/>
        </p:nvSpPr>
        <p:spPr bwMode="auto">
          <a:xfrm>
            <a:off x="914400" y="2159000"/>
            <a:ext cx="2400300" cy="1778000"/>
          </a:xfrm>
          <a:prstGeom prst="roundRect">
            <a:avLst>
              <a:gd name="adj" fmla="val 8000"/>
            </a:avLst>
          </a:prstGeom>
          <a:solidFill>
            <a:srgbClr val="FFFFFF"/>
          </a:solidFill>
          <a:ln w="9525">
            <a:solidFill>
              <a:srgbClr val="E2E8F0"/>
            </a:solidFill>
          </a:ln>
        </p:spPr>
        <p:txBody>
          <a:bodyPr wrap="square" lIns="177800" tIns="177800" rIns="177800" bIns="177800" anchor="b">
            <a:normAutofit/>
          </a:bodyPr>
          <a:lstStyle/>
          <a:p>
            <a:pPr algn="ctr">
              <a:buNone/>
              <a:defRPr/>
            </a:pPr>
            <a:r>
              <a:rPr lang="fr-FR" sz="1600">
                <a:solidFill>
                  <a:srgbClr val="0B1F3A"/>
                </a:solidFill>
                <a:latin typeface="Segoe UI Semibold"/>
              </a:rPr>
              <a:t>Python</a:t>
            </a:r>
            <a:endParaRPr/>
          </a:p>
          <a:p>
            <a:pPr algn="ctr">
              <a:spcBef>
                <a:spcPts val="300"/>
              </a:spcBef>
              <a:buNone/>
              <a:defRPr/>
            </a:pPr>
            <a:r>
              <a:rPr lang="fr-FR" sz="1400">
                <a:solidFill>
                  <a:srgbClr val="64748B"/>
                </a:solidFill>
              </a:rPr>
              <a:t>Langage principal</a:t>
            </a:r>
            <a:endParaRPr/>
          </a:p>
        </p:txBody>
      </p:sp>
      <p:sp>
        <p:nvSpPr>
          <p:cNvPr id="1622578474" name="Tech1"/>
          <p:cNvSpPr/>
          <p:nvPr/>
        </p:nvSpPr>
        <p:spPr bwMode="auto">
          <a:xfrm>
            <a:off x="3568700" y="2159000"/>
            <a:ext cx="2400300" cy="1778000"/>
          </a:xfrm>
          <a:prstGeom prst="roundRect">
            <a:avLst>
              <a:gd name="adj" fmla="val 8000"/>
            </a:avLst>
          </a:prstGeom>
          <a:solidFill>
            <a:srgbClr val="FFFFFF"/>
          </a:solidFill>
          <a:ln w="9525">
            <a:solidFill>
              <a:srgbClr val="E2E8F0"/>
            </a:solidFill>
          </a:ln>
        </p:spPr>
        <p:txBody>
          <a:bodyPr wrap="square" lIns="177800" tIns="177800" rIns="177800" bIns="177800" anchor="b">
            <a:normAutofit/>
          </a:bodyPr>
          <a:lstStyle/>
          <a:p>
            <a:pPr algn="ctr">
              <a:buNone/>
              <a:defRPr/>
            </a:pPr>
            <a:r>
              <a:rPr lang="fr-FR" sz="1600">
                <a:solidFill>
                  <a:srgbClr val="0B1F3A"/>
                </a:solidFill>
                <a:latin typeface="Segoe UI Semibold"/>
              </a:rPr>
              <a:t>pandas</a:t>
            </a:r>
            <a:endParaRPr/>
          </a:p>
          <a:p>
            <a:pPr algn="ctr">
              <a:spcBef>
                <a:spcPts val="300"/>
              </a:spcBef>
              <a:buNone/>
              <a:defRPr/>
            </a:pPr>
            <a:r>
              <a:rPr lang="fr-FR" sz="1400">
                <a:solidFill>
                  <a:srgbClr val="64748B"/>
                </a:solidFill>
              </a:rPr>
              <a:t>Manipulation de données</a:t>
            </a:r>
            <a:endParaRPr/>
          </a:p>
        </p:txBody>
      </p:sp>
      <p:sp>
        <p:nvSpPr>
          <p:cNvPr id="739643198" name="Tech2"/>
          <p:cNvSpPr/>
          <p:nvPr/>
        </p:nvSpPr>
        <p:spPr bwMode="auto">
          <a:xfrm>
            <a:off x="6223000" y="2159000"/>
            <a:ext cx="2400300" cy="1778000"/>
          </a:xfrm>
          <a:prstGeom prst="roundRect">
            <a:avLst>
              <a:gd name="adj" fmla="val 8000"/>
            </a:avLst>
          </a:prstGeom>
          <a:solidFill>
            <a:srgbClr val="FFFFFF"/>
          </a:solidFill>
          <a:ln w="9525">
            <a:solidFill>
              <a:srgbClr val="E2E8F0"/>
            </a:solidFill>
          </a:ln>
        </p:spPr>
        <p:txBody>
          <a:bodyPr wrap="square" lIns="177800" tIns="177800" rIns="177800" bIns="177800" anchor="b">
            <a:normAutofit/>
          </a:bodyPr>
          <a:lstStyle/>
          <a:p>
            <a:pPr algn="ctr">
              <a:buNone/>
              <a:defRPr/>
            </a:pPr>
            <a:r>
              <a:rPr lang="fr-FR" sz="1600">
                <a:solidFill>
                  <a:srgbClr val="0B1F3A"/>
                </a:solidFill>
                <a:latin typeface="Segoe UI Semibold"/>
              </a:rPr>
              <a:t>scikit-learn</a:t>
            </a:r>
            <a:endParaRPr/>
          </a:p>
          <a:p>
            <a:pPr algn="ctr">
              <a:spcBef>
                <a:spcPts val="300"/>
              </a:spcBef>
              <a:buNone/>
              <a:defRPr/>
            </a:pPr>
            <a:r>
              <a:rPr lang="fr-FR" sz="1400">
                <a:solidFill>
                  <a:srgbClr val="64748B"/>
                </a:solidFill>
              </a:rPr>
              <a:t>Modèles ML</a:t>
            </a:r>
            <a:endParaRPr/>
          </a:p>
        </p:txBody>
      </p:sp>
      <p:sp>
        <p:nvSpPr>
          <p:cNvPr id="290760070" name="Tech3"/>
          <p:cNvSpPr/>
          <p:nvPr/>
        </p:nvSpPr>
        <p:spPr bwMode="auto">
          <a:xfrm>
            <a:off x="8877300" y="2159000"/>
            <a:ext cx="2400300" cy="1778000"/>
          </a:xfrm>
          <a:prstGeom prst="roundRect">
            <a:avLst>
              <a:gd name="adj" fmla="val 8000"/>
            </a:avLst>
          </a:prstGeom>
          <a:solidFill>
            <a:srgbClr val="FFFFFF"/>
          </a:solidFill>
          <a:ln w="9525">
            <a:solidFill>
              <a:srgbClr val="E2E8F0"/>
            </a:solidFill>
          </a:ln>
        </p:spPr>
        <p:txBody>
          <a:bodyPr wrap="square" lIns="177800" tIns="177800" rIns="177800" bIns="177800" anchor="b">
            <a:normAutofit/>
          </a:bodyPr>
          <a:lstStyle/>
          <a:p>
            <a:pPr algn="ctr">
              <a:buNone/>
              <a:defRPr/>
            </a:pPr>
            <a:r>
              <a:rPr lang="fr-FR" sz="1600">
                <a:solidFill>
                  <a:srgbClr val="0B1F3A"/>
                </a:solidFill>
                <a:latin typeface="Segoe UI Semibold"/>
              </a:rPr>
              <a:t>XGBoost</a:t>
            </a:r>
            <a:endParaRPr/>
          </a:p>
          <a:p>
            <a:pPr algn="ctr">
              <a:spcBef>
                <a:spcPts val="300"/>
              </a:spcBef>
              <a:buNone/>
              <a:defRPr/>
            </a:pPr>
            <a:r>
              <a:rPr lang="fr-FR" sz="1400">
                <a:solidFill>
                  <a:srgbClr val="64748B"/>
                </a:solidFill>
              </a:rPr>
              <a:t>Gradient boosting</a:t>
            </a:r>
            <a:endParaRPr/>
          </a:p>
        </p:txBody>
      </p:sp>
      <p:sp>
        <p:nvSpPr>
          <p:cNvPr id="1917924029" name="Tech4"/>
          <p:cNvSpPr/>
          <p:nvPr/>
        </p:nvSpPr>
        <p:spPr bwMode="auto">
          <a:xfrm>
            <a:off x="914400" y="4191000"/>
            <a:ext cx="2400300" cy="1778000"/>
          </a:xfrm>
          <a:prstGeom prst="roundRect">
            <a:avLst>
              <a:gd name="adj" fmla="val 8000"/>
            </a:avLst>
          </a:prstGeom>
          <a:solidFill>
            <a:srgbClr val="FFFFFF"/>
          </a:solidFill>
          <a:ln w="9525">
            <a:solidFill>
              <a:srgbClr val="E2E8F0"/>
            </a:solidFill>
          </a:ln>
        </p:spPr>
        <p:txBody>
          <a:bodyPr wrap="square" lIns="177800" tIns="177800" rIns="177800" bIns="177800" anchor="b">
            <a:normAutofit/>
          </a:bodyPr>
          <a:lstStyle/>
          <a:p>
            <a:pPr algn="ctr">
              <a:buNone/>
              <a:defRPr/>
            </a:pPr>
            <a:r>
              <a:rPr lang="fr-FR" sz="1600">
                <a:solidFill>
                  <a:srgbClr val="0B1F3A"/>
                </a:solidFill>
                <a:latin typeface="Segoe UI Semibold"/>
              </a:rPr>
              <a:t>Jupyter</a:t>
            </a:r>
            <a:endParaRPr/>
          </a:p>
          <a:p>
            <a:pPr algn="ctr">
              <a:spcBef>
                <a:spcPts val="300"/>
              </a:spcBef>
              <a:buNone/>
              <a:defRPr/>
            </a:pPr>
            <a:r>
              <a:rPr lang="fr-FR" sz="1400">
                <a:solidFill>
                  <a:srgbClr val="64748B"/>
                </a:solidFill>
              </a:rPr>
              <a:t>Exploration</a:t>
            </a:r>
            <a:endParaRPr/>
          </a:p>
        </p:txBody>
      </p:sp>
      <p:sp>
        <p:nvSpPr>
          <p:cNvPr id="1416715384" name="Tech5"/>
          <p:cNvSpPr/>
          <p:nvPr/>
        </p:nvSpPr>
        <p:spPr bwMode="auto">
          <a:xfrm>
            <a:off x="3568700" y="4191000"/>
            <a:ext cx="2400300" cy="1778000"/>
          </a:xfrm>
          <a:prstGeom prst="roundRect">
            <a:avLst>
              <a:gd name="adj" fmla="val 8000"/>
            </a:avLst>
          </a:prstGeom>
          <a:solidFill>
            <a:srgbClr val="FFFFFF"/>
          </a:solidFill>
          <a:ln w="9525">
            <a:solidFill>
              <a:srgbClr val="E2E8F0"/>
            </a:solidFill>
          </a:ln>
        </p:spPr>
        <p:txBody>
          <a:bodyPr wrap="square" lIns="177800" tIns="177800" rIns="177800" bIns="177800" anchor="b">
            <a:normAutofit/>
          </a:bodyPr>
          <a:lstStyle/>
          <a:p>
            <a:pPr algn="ctr">
              <a:buNone/>
              <a:defRPr/>
            </a:pPr>
            <a:r>
              <a:rPr lang="fr-FR" sz="1600">
                <a:solidFill>
                  <a:srgbClr val="0B1F3A"/>
                </a:solidFill>
                <a:latin typeface="Segoe UI Semibold"/>
              </a:rPr>
              <a:t>Delta Lake</a:t>
            </a:r>
            <a:endParaRPr/>
          </a:p>
          <a:p>
            <a:pPr algn="ctr">
              <a:spcBef>
                <a:spcPts val="300"/>
              </a:spcBef>
              <a:buNone/>
              <a:defRPr/>
            </a:pPr>
            <a:r>
              <a:rPr lang="fr-FR" sz="1400">
                <a:solidFill>
                  <a:srgbClr val="64748B"/>
                </a:solidFill>
              </a:rPr>
              <a:t>Stockage lakehouse</a:t>
            </a:r>
            <a:endParaRPr/>
          </a:p>
        </p:txBody>
      </p:sp>
      <p:sp>
        <p:nvSpPr>
          <p:cNvPr id="713557258" name="Tech6"/>
          <p:cNvSpPr/>
          <p:nvPr/>
        </p:nvSpPr>
        <p:spPr bwMode="auto">
          <a:xfrm>
            <a:off x="6223000" y="4191000"/>
            <a:ext cx="2400300" cy="1778000"/>
          </a:xfrm>
          <a:prstGeom prst="roundRect">
            <a:avLst>
              <a:gd name="adj" fmla="val 8000"/>
            </a:avLst>
          </a:prstGeom>
          <a:solidFill>
            <a:srgbClr val="FFFFFF"/>
          </a:solidFill>
          <a:ln w="9525">
            <a:solidFill>
              <a:srgbClr val="E2E8F0"/>
            </a:solidFill>
          </a:ln>
        </p:spPr>
        <p:txBody>
          <a:bodyPr wrap="square" lIns="177800" tIns="177800" rIns="177800" bIns="177800" anchor="b">
            <a:normAutofit/>
          </a:bodyPr>
          <a:lstStyle/>
          <a:p>
            <a:pPr algn="ctr">
              <a:buNone/>
              <a:defRPr/>
            </a:pPr>
            <a:r>
              <a:rPr lang="fr-FR" sz="1600">
                <a:solidFill>
                  <a:srgbClr val="0B1F3A"/>
                </a:solidFill>
                <a:latin typeface="Segoe UI Semibold"/>
              </a:rPr>
              <a:t>React / Recharts</a:t>
            </a:r>
            <a:endParaRPr/>
          </a:p>
          <a:p>
            <a:pPr algn="ctr">
              <a:spcBef>
                <a:spcPts val="300"/>
              </a:spcBef>
              <a:buNone/>
              <a:defRPr/>
            </a:pPr>
            <a:r>
              <a:rPr lang="fr-FR" sz="1400">
                <a:solidFill>
                  <a:srgbClr val="64748B"/>
                </a:solidFill>
              </a:rPr>
              <a:t>Dashboard</a:t>
            </a:r>
            <a:endParaRPr/>
          </a:p>
        </p:txBody>
      </p:sp>
      <p:sp>
        <p:nvSpPr>
          <p:cNvPr id="77055361" name="Tech7"/>
          <p:cNvSpPr/>
          <p:nvPr/>
        </p:nvSpPr>
        <p:spPr bwMode="auto">
          <a:xfrm>
            <a:off x="8877300" y="4191000"/>
            <a:ext cx="2400300" cy="1778000"/>
          </a:xfrm>
          <a:prstGeom prst="roundRect">
            <a:avLst>
              <a:gd name="adj" fmla="val 8000"/>
            </a:avLst>
          </a:prstGeom>
          <a:solidFill>
            <a:srgbClr val="FFFFFF"/>
          </a:solidFill>
          <a:ln w="9525">
            <a:solidFill>
              <a:srgbClr val="E2E8F0"/>
            </a:solidFill>
          </a:ln>
        </p:spPr>
        <p:txBody>
          <a:bodyPr wrap="square" lIns="177800" tIns="177800" rIns="177800" bIns="177800" anchor="b">
            <a:normAutofit/>
          </a:bodyPr>
          <a:lstStyle/>
          <a:p>
            <a:pPr algn="ctr">
              <a:buNone/>
              <a:defRPr/>
            </a:pPr>
            <a:r>
              <a:rPr lang="fr-FR" sz="1600">
                <a:solidFill>
                  <a:srgbClr val="0B1F3A"/>
                </a:solidFill>
                <a:latin typeface="Segoe UI Semibold"/>
              </a:rPr>
              <a:t>Trello</a:t>
            </a:r>
            <a:endParaRPr/>
          </a:p>
          <a:p>
            <a:pPr algn="ctr">
              <a:spcBef>
                <a:spcPts val="300"/>
              </a:spcBef>
              <a:buNone/>
              <a:defRPr/>
            </a:pPr>
            <a:r>
              <a:rPr lang="fr-FR" sz="1400">
                <a:solidFill>
                  <a:srgbClr val="64748B"/>
                </a:solidFill>
              </a:rPr>
              <a:t>Gestion de projet</a:t>
            </a:r>
            <a:endParaRPr/>
          </a:p>
        </p:txBody>
      </p:sp>
      <p:sp>
        <p:nvSpPr>
          <p:cNvPr id="1378453121" name="Page"/>
          <p:cNvSpPr txBox="1"/>
          <p:nvPr/>
        </p:nvSpPr>
        <p:spPr bwMode="auto">
          <a:xfrm>
            <a:off x="10515600" y="6451600"/>
            <a:ext cx="914400" cy="254000"/>
          </a:xfrm>
          <a:prstGeom prst="rect">
            <a:avLst/>
          </a:prstGeom>
          <a:noFill/>
          <a:ln>
            <a:noFill/>
          </a:ln>
        </p:spPr>
        <p:txBody>
          <a:bodyPr wrap="square" lIns="0" tIns="0" rIns="0" bIns="0" anchor="t">
            <a:normAutofit/>
          </a:bodyPr>
          <a:lstStyle/>
          <a:p>
            <a:pPr algn="r">
              <a:buNone/>
              <a:defRPr/>
            </a:pPr>
            <a:r>
              <a:rPr lang="fr-FR" sz="1400">
                <a:solidFill>
                  <a:srgbClr val="64748B"/>
                </a:solidFill>
              </a:rPr>
              <a:t>09</a:t>
            </a:r>
            <a:endParaRPr/>
          </a:p>
        </p:txBody>
      </p:sp>
      <p:pic>
        <p:nvPicPr>
          <p:cNvPr id="80666282" name="Graphic 58" descr="Python"/>
          <p:cNvPicPr>
            <a:picLocks noChangeAspect="1"/>
          </p:cNvPicPr>
          <p:nvPr/>
        </p:nvPicPr>
        <p:blipFill rotWithShape="1">
          <a:blip r:embed="rId3">
            <a:extLst>
              <a:ext uri="{96DAC541-7B7A-43D3-8B79-37D633B846F1}">
                <asvg:svgBlip xmlns:asvg="http://schemas.microsoft.com/office/drawing/2016/SVG/main" r:embed="rId4"/>
              </a:ext>
            </a:extLst>
          </a:blip>
          <a:stretch/>
        </p:blipFill>
        <p:spPr bwMode="auto">
          <a:xfrm>
            <a:off x="1860550" y="2413000"/>
            <a:ext cx="508000" cy="508000"/>
          </a:xfrm>
          <a:prstGeom prst="rect">
            <a:avLst/>
          </a:prstGeom>
        </p:spPr>
      </p:pic>
      <p:pic>
        <p:nvPicPr>
          <p:cNvPr id="86742599" name="Graphic 59" descr="pandas"/>
          <p:cNvPicPr>
            <a:picLocks noChangeAspect="1"/>
          </p:cNvPicPr>
          <p:nvPr/>
        </p:nvPicPr>
        <p:blipFill rotWithShape="1">
          <a:blip r:embed="rId5">
            <a:extLst>
              <a:ext uri="{96DAC541-7B7A-43D3-8B79-37D633B846F1}">
                <asvg:svgBlip xmlns:asvg="http://schemas.microsoft.com/office/drawing/2016/SVG/main" r:embed="rId6"/>
              </a:ext>
            </a:extLst>
          </a:blip>
          <a:stretch/>
        </p:blipFill>
        <p:spPr bwMode="auto">
          <a:xfrm>
            <a:off x="4514850" y="2413000"/>
            <a:ext cx="508000" cy="508000"/>
          </a:xfrm>
          <a:prstGeom prst="rect">
            <a:avLst/>
          </a:prstGeom>
        </p:spPr>
      </p:pic>
      <p:pic>
        <p:nvPicPr>
          <p:cNvPr id="434609994" name="Graphic 60" descr="scikit-learn"/>
          <p:cNvPicPr>
            <a:picLocks noChangeAspect="1"/>
          </p:cNvPicPr>
          <p:nvPr/>
        </p:nvPicPr>
        <p:blipFill rotWithShape="1">
          <a:blip r:embed="rId7">
            <a:extLst>
              <a:ext uri="{96DAC541-7B7A-43D3-8B79-37D633B846F1}">
                <asvg:svgBlip xmlns:asvg="http://schemas.microsoft.com/office/drawing/2016/SVG/main" r:embed="rId8"/>
              </a:ext>
            </a:extLst>
          </a:blip>
          <a:stretch/>
        </p:blipFill>
        <p:spPr bwMode="auto">
          <a:xfrm>
            <a:off x="7169150" y="2413000"/>
            <a:ext cx="508000" cy="508000"/>
          </a:xfrm>
          <a:prstGeom prst="rect">
            <a:avLst/>
          </a:prstGeom>
        </p:spPr>
      </p:pic>
      <p:pic>
        <p:nvPicPr>
          <p:cNvPr id="994455774" name="Graphic 61" descr="XGBoost"/>
          <p:cNvPicPr>
            <a:picLocks noChangeAspect="1"/>
          </p:cNvPicPr>
          <p:nvPr/>
        </p:nvPicPr>
        <p:blipFill rotWithShape="1">
          <a:blip r:embed="rId9">
            <a:extLst>
              <a:ext uri="{96DAC541-7B7A-43D3-8B79-37D633B846F1}">
                <asvg:svgBlip xmlns:asvg="http://schemas.microsoft.com/office/drawing/2016/SVG/main" r:embed="rId10"/>
              </a:ext>
            </a:extLst>
          </a:blip>
          <a:stretch/>
        </p:blipFill>
        <p:spPr bwMode="auto">
          <a:xfrm>
            <a:off x="9823450" y="2413000"/>
            <a:ext cx="508000" cy="508000"/>
          </a:xfrm>
          <a:prstGeom prst="rect">
            <a:avLst/>
          </a:prstGeom>
        </p:spPr>
      </p:pic>
      <p:pic>
        <p:nvPicPr>
          <p:cNvPr id="1503057421" name="Graphic 62" descr="Jupyter"/>
          <p:cNvPicPr>
            <a:picLocks noChangeAspect="1"/>
          </p:cNvPicPr>
          <p:nvPr/>
        </p:nvPicPr>
        <p:blipFill rotWithShape="1">
          <a:blip r:embed="rId11">
            <a:extLst>
              <a:ext uri="{96DAC541-7B7A-43D3-8B79-37D633B846F1}">
                <asvg:svgBlip xmlns:asvg="http://schemas.microsoft.com/office/drawing/2016/SVG/main" r:embed="rId12"/>
              </a:ext>
            </a:extLst>
          </a:blip>
          <a:stretch/>
        </p:blipFill>
        <p:spPr bwMode="auto">
          <a:xfrm>
            <a:off x="1860550" y="4445000"/>
            <a:ext cx="508000" cy="508000"/>
          </a:xfrm>
          <a:prstGeom prst="rect">
            <a:avLst/>
          </a:prstGeom>
        </p:spPr>
      </p:pic>
      <p:pic>
        <p:nvPicPr>
          <p:cNvPr id="1781516092" name="Graphic 63" descr="Delta Lake"/>
          <p:cNvPicPr>
            <a:picLocks noChangeAspect="1"/>
          </p:cNvPicPr>
          <p:nvPr/>
        </p:nvPicPr>
        <p:blipFill rotWithShape="1">
          <a:blip r:embed="rId13"/>
          <a:stretch/>
        </p:blipFill>
        <p:spPr bwMode="auto">
          <a:xfrm>
            <a:off x="4514850" y="4445000"/>
            <a:ext cx="508000" cy="508000"/>
          </a:xfrm>
          <a:prstGeom prst="rect">
            <a:avLst/>
          </a:prstGeom>
        </p:spPr>
      </p:pic>
      <p:pic>
        <p:nvPicPr>
          <p:cNvPr id="1893405261" name="Graphic 64" descr="React Recharts"/>
          <p:cNvPicPr>
            <a:picLocks noChangeAspect="1"/>
          </p:cNvPicPr>
          <p:nvPr/>
        </p:nvPicPr>
        <p:blipFill rotWithShape="1">
          <a:blip r:embed="rId14"/>
          <a:stretch/>
        </p:blipFill>
        <p:spPr bwMode="auto">
          <a:xfrm>
            <a:off x="7169150" y="4445000"/>
            <a:ext cx="508000" cy="508000"/>
          </a:xfrm>
          <a:prstGeom prst="rect">
            <a:avLst/>
          </a:prstGeom>
        </p:spPr>
      </p:pic>
      <p:pic>
        <p:nvPicPr>
          <p:cNvPr id="2014273854" name="Graphic 65" descr="Trello"/>
          <p:cNvPicPr>
            <a:picLocks noChangeAspect="1"/>
          </p:cNvPicPr>
          <p:nvPr/>
        </p:nvPicPr>
        <p:blipFill rotWithShape="1">
          <a:blip r:embed="rId15">
            <a:extLst>
              <a:ext uri="{96DAC541-7B7A-43D3-8B79-37D633B846F1}">
                <asvg:svgBlip xmlns:asvg="http://schemas.microsoft.com/office/drawing/2016/SVG/main" r:embed="rId16"/>
              </a:ext>
            </a:extLst>
          </a:blip>
          <a:stretch/>
        </p:blipFill>
        <p:spPr bwMode="auto">
          <a:xfrm>
            <a:off x="9823450" y="4445000"/>
            <a:ext cx="508000" cy="508000"/>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med" p14:dur="500" advClick="1">
        <p:fade thruBlk="0"/>
      </p:transition>
    </mc:Choice>
    <mc:Fallback>
      <p:transition spd="med" advClick="1">
        <p:fade thruBlk="0"/>
      </p:transition>
    </mc:Fallback>
  </mc:AlternateContent>
  <p:timing>
    <p:tnLst>
      <p:par>
        <p:cTn id="1" dur="indefinite" restart="never" nodeType="tmRoot">
          <p:childTnLst>
            <p:par>
              <p:cTn id="2" fill="hold">
                <p:stCondLst>
                  <p:cond delay="0"/>
                </p:stCondLst>
                <p:childTnLst>
                  <p:par>
                    <p:cTn id="3" presetID="10" presetClass="entr" presetSubtype="0" fill="hold" grpId="0" nodeType="afterEffect">
                      <p:stCondLst>
                        <p:cond delay="500"/>
                      </p:stCondLst>
                      <p:childTnLst>
                        <p:set>
                          <p:cBhvr>
                            <p:cTn id="4" dur="1" fill="hold">
                              <p:stCondLst>
                                <p:cond delay="0"/>
                              </p:stCondLst>
                            </p:cTn>
                            <p:tgtEl>
                              <p:spTgt spid="877905828"/>
                            </p:tgtEl>
                            <p:attrNameLst>
                              <p:attrName>style.visibility</p:attrName>
                            </p:attrNameLst>
                          </p:cBhvr>
                          <p:to>
                            <p:strVal val="visible"/>
                          </p:to>
                        </p:set>
                        <p:animEffect transition="in" filter="fade">
                          <p:cBhvr>
                            <p:cTn id="5" dur="400"/>
                            <p:tgtEl>
                              <p:spTgt spid="877905828"/>
                            </p:tgtEl>
                          </p:cBhvr>
                        </p:animEffect>
                        <p:anim calcmode="lin" valueType="num">
                          <p:cBhvr additive="base">
                            <p:cTn id="6" dur="400" fill="hold"/>
                            <p:tgtEl>
                              <p:spTgt spid="877905828"/>
                            </p:tgtEl>
                            <p:attrNameLst>
                              <p:attrName>ppt_y</p:attrName>
                            </p:attrNameLst>
                          </p:cBhvr>
                          <p:tavLst>
                            <p:tav tm="0">
                              <p:val>
                                <p:fltVal val="0.045999999999999999"/>
                              </p:val>
                            </p:tav>
                            <p:tav tm="100000">
                              <p:val>
                                <p:fltVal val="0"/>
                              </p:val>
                            </p:tav>
                          </p:tavLst>
                        </p:anim>
                      </p:childTnLst>
                    </p:cTn>
                  </p:par>
                  <p:par>
                    <p:cTn id="7" presetID="10" presetClass="entr" presetSubtype="0" fill="hold" grpId="0" nodeType="afterEffect">
                      <p:stCondLst>
                        <p:cond delay="150"/>
                      </p:stCondLst>
                      <p:childTnLst>
                        <p:set>
                          <p:cBhvr>
                            <p:cTn id="8" dur="1" fill="hold">
                              <p:stCondLst>
                                <p:cond delay="0"/>
                              </p:stCondLst>
                            </p:cTn>
                            <p:tgtEl>
                              <p:spTgt spid="999155620"/>
                            </p:tgtEl>
                            <p:attrNameLst>
                              <p:attrName>style.visibility</p:attrName>
                            </p:attrNameLst>
                          </p:cBhvr>
                          <p:to>
                            <p:strVal val="visible"/>
                          </p:to>
                        </p:set>
                        <p:animEffect transition="in" filter="fade">
                          <p:cBhvr>
                            <p:cTn id="9" dur="400"/>
                            <p:tgtEl>
                              <p:spTgt spid="999155620"/>
                            </p:tgtEl>
                          </p:cBhvr>
                        </p:animEffect>
                        <p:anim calcmode="lin" valueType="num">
                          <p:cBhvr additive="base">
                            <p:cTn id="10" dur="400" fill="hold"/>
                            <p:tgtEl>
                              <p:spTgt spid="999155620"/>
                            </p:tgtEl>
                            <p:attrNameLst>
                              <p:attrName>ppt_y</p:attrName>
                            </p:attrNameLst>
                          </p:cBhvr>
                          <p:tavLst>
                            <p:tav tm="0">
                              <p:val>
                                <p:fltVal val="0.045999999999999999"/>
                              </p:val>
                            </p:tav>
                            <p:tav tm="100000">
                              <p:val>
                                <p:fltVal val="0"/>
                              </p:val>
                            </p:tav>
                          </p:tavLst>
                        </p:anim>
                      </p:childTnLst>
                    </p:cTn>
                  </p:par>
                  <p:par>
                    <p:cTn id="11" presetID="10" presetClass="entr" presetSubtype="0" fill="hold" grpId="0" nodeType="afterEffect">
                      <p:stCondLst>
                        <p:cond delay="150"/>
                      </p:stCondLst>
                      <p:childTnLst>
                        <p:set>
                          <p:cBhvr>
                            <p:cTn id="12" dur="1" fill="hold">
                              <p:stCondLst>
                                <p:cond delay="0"/>
                              </p:stCondLst>
                            </p:cTn>
                            <p:tgtEl>
                              <p:spTgt spid="170136685"/>
                            </p:tgtEl>
                            <p:attrNameLst>
                              <p:attrName>style.visibility</p:attrName>
                            </p:attrNameLst>
                          </p:cBhvr>
                          <p:to>
                            <p:strVal val="visible"/>
                          </p:to>
                        </p:set>
                        <p:animEffect transition="in" filter="fade">
                          <p:cBhvr>
                            <p:cTn id="13" dur="400"/>
                            <p:tgtEl>
                              <p:spTgt spid="170136685"/>
                            </p:tgtEl>
                          </p:cBhvr>
                        </p:animEffect>
                        <p:anim calcmode="lin" valueType="num">
                          <p:cBhvr additive="base">
                            <p:cTn id="14" dur="400" fill="hold"/>
                            <p:tgtEl>
                              <p:spTgt spid="170136685"/>
                            </p:tgtEl>
                            <p:attrNameLst>
                              <p:attrName>ppt_y</p:attrName>
                            </p:attrNameLst>
                          </p:cBhvr>
                          <p:tavLst>
                            <p:tav tm="0">
                              <p:val>
                                <p:fltVal val="0.045999999999999999"/>
                              </p:val>
                            </p:tav>
                            <p:tav tm="100000">
                              <p:val>
                                <p:fltVal val="0"/>
                              </p:val>
                            </p:tav>
                          </p:tavLst>
                        </p:anim>
                      </p:childTnLst>
                    </p:cTn>
                  </p:par>
                  <p:par>
                    <p:cTn id="15" presetID="10" presetClass="entr" presetSubtype="0" fill="hold" grpId="0" nodeType="afterEffect">
                      <p:stCondLst>
                        <p:cond delay="150"/>
                      </p:stCondLst>
                      <p:childTnLst>
                        <p:set>
                          <p:cBhvr>
                            <p:cTn id="16" dur="1" fill="hold">
                              <p:stCondLst>
                                <p:cond delay="0"/>
                              </p:stCondLst>
                            </p:cTn>
                            <p:tgtEl>
                              <p:spTgt spid="1823016647"/>
                            </p:tgtEl>
                            <p:attrNameLst>
                              <p:attrName>style.visibility</p:attrName>
                            </p:attrNameLst>
                          </p:cBhvr>
                          <p:to>
                            <p:strVal val="visible"/>
                          </p:to>
                        </p:set>
                        <p:animEffect transition="in" filter="fade">
                          <p:cBhvr>
                            <p:cTn id="17" dur="400"/>
                            <p:tgtEl>
                              <p:spTgt spid="1823016647"/>
                            </p:tgtEl>
                          </p:cBhvr>
                        </p:animEffect>
                        <p:anim calcmode="lin" valueType="num">
                          <p:cBhvr additive="base">
                            <p:cTn id="18" dur="400" fill="hold"/>
                            <p:tgtEl>
                              <p:spTgt spid="1823016647"/>
                            </p:tgtEl>
                            <p:attrNameLst>
                              <p:attrName>ppt_y</p:attrName>
                            </p:attrNameLst>
                          </p:cBhvr>
                          <p:tavLst>
                            <p:tav tm="0">
                              <p:val>
                                <p:fltVal val="0.045999999999999999"/>
                              </p:val>
                            </p:tav>
                            <p:tav tm="100000">
                              <p:val>
                                <p:fltVal val="0"/>
                              </p:val>
                            </p:tav>
                          </p:tavLst>
                        </p:anim>
                      </p:childTnLst>
                    </p:cTn>
                  </p:par>
                  <p:par>
                    <p:cTn id="19" presetID="10" presetClass="entr" presetSubtype="0" fill="hold" grpId="0" nodeType="afterEffect">
                      <p:stCondLst>
                        <p:cond delay="150"/>
                      </p:stCondLst>
                      <p:childTnLst>
                        <p:set>
                          <p:cBhvr>
                            <p:cTn id="20" dur="1" fill="hold">
                              <p:stCondLst>
                                <p:cond delay="0"/>
                              </p:stCondLst>
                            </p:cTn>
                            <p:tgtEl>
                              <p:spTgt spid="1622578474"/>
                            </p:tgtEl>
                            <p:attrNameLst>
                              <p:attrName>style.visibility</p:attrName>
                            </p:attrNameLst>
                          </p:cBhvr>
                          <p:to>
                            <p:strVal val="visible"/>
                          </p:to>
                        </p:set>
                        <p:animEffect transition="in" filter="fade">
                          <p:cBhvr>
                            <p:cTn id="21" dur="400"/>
                            <p:tgtEl>
                              <p:spTgt spid="1622578474"/>
                            </p:tgtEl>
                          </p:cBhvr>
                        </p:animEffect>
                        <p:anim calcmode="lin" valueType="num">
                          <p:cBhvr additive="base">
                            <p:cTn id="22" dur="400" fill="hold"/>
                            <p:tgtEl>
                              <p:spTgt spid="1622578474"/>
                            </p:tgtEl>
                            <p:attrNameLst>
                              <p:attrName>ppt_y</p:attrName>
                            </p:attrNameLst>
                          </p:cBhvr>
                          <p:tavLst>
                            <p:tav tm="0">
                              <p:val>
                                <p:fltVal val="0.045999999999999999"/>
                              </p:val>
                            </p:tav>
                            <p:tav tm="100000">
                              <p:val>
                                <p:fltVal val="0"/>
                              </p:val>
                            </p:tav>
                          </p:tavLst>
                        </p:anim>
                      </p:childTnLst>
                    </p:cTn>
                  </p:par>
                  <p:par>
                    <p:cTn id="23" presetID="10" presetClass="entr" presetSubtype="0" fill="hold" grpId="0" nodeType="afterEffect">
                      <p:stCondLst>
                        <p:cond delay="150"/>
                      </p:stCondLst>
                      <p:childTnLst>
                        <p:set>
                          <p:cBhvr>
                            <p:cTn id="24" dur="1" fill="hold">
                              <p:stCondLst>
                                <p:cond delay="0"/>
                              </p:stCondLst>
                            </p:cTn>
                            <p:tgtEl>
                              <p:spTgt spid="739643198"/>
                            </p:tgtEl>
                            <p:attrNameLst>
                              <p:attrName>style.visibility</p:attrName>
                            </p:attrNameLst>
                          </p:cBhvr>
                          <p:to>
                            <p:strVal val="visible"/>
                          </p:to>
                        </p:set>
                        <p:animEffect transition="in" filter="fade">
                          <p:cBhvr>
                            <p:cTn id="25" dur="400"/>
                            <p:tgtEl>
                              <p:spTgt spid="739643198"/>
                            </p:tgtEl>
                          </p:cBhvr>
                        </p:animEffect>
                        <p:anim calcmode="lin" valueType="num">
                          <p:cBhvr additive="base">
                            <p:cTn id="26" dur="400" fill="hold"/>
                            <p:tgtEl>
                              <p:spTgt spid="739643198"/>
                            </p:tgtEl>
                            <p:attrNameLst>
                              <p:attrName>ppt_y</p:attrName>
                            </p:attrNameLst>
                          </p:cBhvr>
                          <p:tavLst>
                            <p:tav tm="0">
                              <p:val>
                                <p:fltVal val="0.045999999999999999"/>
                              </p:val>
                            </p:tav>
                            <p:tav tm="100000">
                              <p:val>
                                <p:fltVal val="0"/>
                              </p:val>
                            </p:tav>
                          </p:tavLst>
                        </p:anim>
                      </p:childTnLst>
                    </p:cTn>
                  </p:par>
                  <p:par>
                    <p:cTn id="27" presetID="10" presetClass="entr" presetSubtype="0" fill="hold" grpId="0" nodeType="afterEffect">
                      <p:stCondLst>
                        <p:cond delay="150"/>
                      </p:stCondLst>
                      <p:childTnLst>
                        <p:set>
                          <p:cBhvr>
                            <p:cTn id="28" dur="1" fill="hold">
                              <p:stCondLst>
                                <p:cond delay="0"/>
                              </p:stCondLst>
                            </p:cTn>
                            <p:tgtEl>
                              <p:spTgt spid="290760070"/>
                            </p:tgtEl>
                            <p:attrNameLst>
                              <p:attrName>style.visibility</p:attrName>
                            </p:attrNameLst>
                          </p:cBhvr>
                          <p:to>
                            <p:strVal val="visible"/>
                          </p:to>
                        </p:set>
                        <p:animEffect transition="in" filter="fade">
                          <p:cBhvr>
                            <p:cTn id="29" dur="400"/>
                            <p:tgtEl>
                              <p:spTgt spid="290760070"/>
                            </p:tgtEl>
                          </p:cBhvr>
                        </p:animEffect>
                        <p:anim calcmode="lin" valueType="num">
                          <p:cBhvr additive="base">
                            <p:cTn id="30" dur="400" fill="hold"/>
                            <p:tgtEl>
                              <p:spTgt spid="290760070"/>
                            </p:tgtEl>
                            <p:attrNameLst>
                              <p:attrName>ppt_y</p:attrName>
                            </p:attrNameLst>
                          </p:cBhvr>
                          <p:tavLst>
                            <p:tav tm="0">
                              <p:val>
                                <p:fltVal val="0.045999999999999999"/>
                              </p:val>
                            </p:tav>
                            <p:tav tm="100000">
                              <p:val>
                                <p:fltVal val="0"/>
                              </p:val>
                            </p:tav>
                          </p:tavLst>
                        </p:anim>
                      </p:childTnLst>
                    </p:cTn>
                  </p:par>
                  <p:par>
                    <p:cTn id="31" presetID="10" presetClass="entr" presetSubtype="0" fill="hold" grpId="0" nodeType="afterEffect">
                      <p:stCondLst>
                        <p:cond delay="150"/>
                      </p:stCondLst>
                      <p:childTnLst>
                        <p:set>
                          <p:cBhvr>
                            <p:cTn id="32" dur="1" fill="hold">
                              <p:stCondLst>
                                <p:cond delay="0"/>
                              </p:stCondLst>
                            </p:cTn>
                            <p:tgtEl>
                              <p:spTgt spid="1917924029"/>
                            </p:tgtEl>
                            <p:attrNameLst>
                              <p:attrName>style.visibility</p:attrName>
                            </p:attrNameLst>
                          </p:cBhvr>
                          <p:to>
                            <p:strVal val="visible"/>
                          </p:to>
                        </p:set>
                        <p:animEffect transition="in" filter="fade">
                          <p:cBhvr>
                            <p:cTn id="33" dur="400"/>
                            <p:tgtEl>
                              <p:spTgt spid="1917924029"/>
                            </p:tgtEl>
                          </p:cBhvr>
                        </p:animEffect>
                        <p:anim calcmode="lin" valueType="num">
                          <p:cBhvr additive="base">
                            <p:cTn id="34" dur="400" fill="hold"/>
                            <p:tgtEl>
                              <p:spTgt spid="1917924029"/>
                            </p:tgtEl>
                            <p:attrNameLst>
                              <p:attrName>ppt_y</p:attrName>
                            </p:attrNameLst>
                          </p:cBhvr>
                          <p:tavLst>
                            <p:tav tm="0">
                              <p:val>
                                <p:fltVal val="0.045999999999999999"/>
                              </p:val>
                            </p:tav>
                            <p:tav tm="100000">
                              <p:val>
                                <p:fltVal val="0"/>
                              </p:val>
                            </p:tav>
                          </p:tavLst>
                        </p:anim>
                      </p:childTnLst>
                    </p:cTn>
                  </p:par>
                  <p:par>
                    <p:cTn id="35" presetID="10" presetClass="entr" presetSubtype="0" fill="hold" grpId="0" nodeType="afterEffect">
                      <p:stCondLst>
                        <p:cond delay="150"/>
                      </p:stCondLst>
                      <p:childTnLst>
                        <p:set>
                          <p:cBhvr>
                            <p:cTn id="36" dur="1" fill="hold">
                              <p:stCondLst>
                                <p:cond delay="0"/>
                              </p:stCondLst>
                            </p:cTn>
                            <p:tgtEl>
                              <p:spTgt spid="1416715384"/>
                            </p:tgtEl>
                            <p:attrNameLst>
                              <p:attrName>style.visibility</p:attrName>
                            </p:attrNameLst>
                          </p:cBhvr>
                          <p:to>
                            <p:strVal val="visible"/>
                          </p:to>
                        </p:set>
                        <p:animEffect transition="in" filter="fade">
                          <p:cBhvr>
                            <p:cTn id="37" dur="400"/>
                            <p:tgtEl>
                              <p:spTgt spid="1416715384"/>
                            </p:tgtEl>
                          </p:cBhvr>
                        </p:animEffect>
                        <p:anim calcmode="lin" valueType="num">
                          <p:cBhvr additive="base">
                            <p:cTn id="38" dur="400" fill="hold"/>
                            <p:tgtEl>
                              <p:spTgt spid="1416715384"/>
                            </p:tgtEl>
                            <p:attrNameLst>
                              <p:attrName>ppt_y</p:attrName>
                            </p:attrNameLst>
                          </p:cBhvr>
                          <p:tavLst>
                            <p:tav tm="0">
                              <p:val>
                                <p:fltVal val="0.045999999999999999"/>
                              </p:val>
                            </p:tav>
                            <p:tav tm="100000">
                              <p:val>
                                <p:fltVal val="0"/>
                              </p:val>
                            </p:tav>
                          </p:tavLst>
                        </p:anim>
                      </p:childTnLst>
                    </p:cTn>
                  </p:par>
                  <p:par>
                    <p:cTn id="39" presetID="10" presetClass="entr" presetSubtype="0" fill="hold" grpId="0" nodeType="afterEffect">
                      <p:stCondLst>
                        <p:cond delay="150"/>
                      </p:stCondLst>
                      <p:childTnLst>
                        <p:set>
                          <p:cBhvr>
                            <p:cTn id="40" dur="1" fill="hold">
                              <p:stCondLst>
                                <p:cond delay="0"/>
                              </p:stCondLst>
                            </p:cTn>
                            <p:tgtEl>
                              <p:spTgt spid="713557258"/>
                            </p:tgtEl>
                            <p:attrNameLst>
                              <p:attrName>style.visibility</p:attrName>
                            </p:attrNameLst>
                          </p:cBhvr>
                          <p:to>
                            <p:strVal val="visible"/>
                          </p:to>
                        </p:set>
                        <p:animEffect transition="in" filter="fade">
                          <p:cBhvr>
                            <p:cTn id="41" dur="400"/>
                            <p:tgtEl>
                              <p:spTgt spid="713557258"/>
                            </p:tgtEl>
                          </p:cBhvr>
                        </p:animEffect>
                        <p:anim calcmode="lin" valueType="num">
                          <p:cBhvr additive="base">
                            <p:cTn id="42" dur="400" fill="hold"/>
                            <p:tgtEl>
                              <p:spTgt spid="713557258"/>
                            </p:tgtEl>
                            <p:attrNameLst>
                              <p:attrName>ppt_y</p:attrName>
                            </p:attrNameLst>
                          </p:cBhvr>
                          <p:tavLst>
                            <p:tav tm="0">
                              <p:val>
                                <p:fltVal val="0.045999999999999999"/>
                              </p:val>
                            </p:tav>
                            <p:tav tm="100000">
                              <p:val>
                                <p:fltVal val="0"/>
                              </p:val>
                            </p:tav>
                          </p:tavLst>
                        </p:anim>
                      </p:childTnLst>
                    </p:cTn>
                  </p:par>
                  <p:par>
                    <p:cTn id="43" presetID="10" presetClass="entr" presetSubtype="0" fill="hold" grpId="0" nodeType="afterEffect">
                      <p:stCondLst>
                        <p:cond delay="150"/>
                      </p:stCondLst>
                      <p:childTnLst>
                        <p:set>
                          <p:cBhvr>
                            <p:cTn id="44" dur="1" fill="hold">
                              <p:stCondLst>
                                <p:cond delay="0"/>
                              </p:stCondLst>
                            </p:cTn>
                            <p:tgtEl>
                              <p:spTgt spid="77055361"/>
                            </p:tgtEl>
                            <p:attrNameLst>
                              <p:attrName>style.visibility</p:attrName>
                            </p:attrNameLst>
                          </p:cBhvr>
                          <p:to>
                            <p:strVal val="visible"/>
                          </p:to>
                        </p:set>
                        <p:animEffect transition="in" filter="fade">
                          <p:cBhvr>
                            <p:cTn id="45" dur="400"/>
                            <p:tgtEl>
                              <p:spTgt spid="77055361"/>
                            </p:tgtEl>
                          </p:cBhvr>
                        </p:animEffect>
                        <p:anim calcmode="lin" valueType="num">
                          <p:cBhvr additive="base">
                            <p:cTn id="46" dur="400" fill="hold"/>
                            <p:tgtEl>
                              <p:spTgt spid="77055361"/>
                            </p:tgtEl>
                            <p:attrNameLst>
                              <p:attrName>ppt_y</p:attrName>
                            </p:attrNameLst>
                          </p:cBhvr>
                          <p:tavLst>
                            <p:tav tm="0">
                              <p:val>
                                <p:fltVal val="0.045999999999999999"/>
                              </p:val>
                            </p:tav>
                            <p:tav tm="100000">
                              <p:val>
                                <p:fltVal val="0"/>
                              </p:val>
                            </p:tav>
                          </p:tavLst>
                        </p:anim>
                      </p:childTnLst>
                    </p:cTn>
                  </p:par>
                  <p:par>
                    <p:cTn id="47" presetID="10" presetClass="entr" presetSubtype="0" fill="hold" grpId="0" nodeType="afterEffect">
                      <p:stCondLst>
                        <p:cond delay="150"/>
                      </p:stCondLst>
                      <p:childTnLst>
                        <p:set>
                          <p:cBhvr>
                            <p:cTn id="48" dur="1" fill="hold">
                              <p:stCondLst>
                                <p:cond delay="0"/>
                              </p:stCondLst>
                            </p:cTn>
                            <p:tgtEl>
                              <p:spTgt spid="1378453121"/>
                            </p:tgtEl>
                            <p:attrNameLst>
                              <p:attrName>style.visibility</p:attrName>
                            </p:attrNameLst>
                          </p:cBhvr>
                          <p:to>
                            <p:strVal val="visible"/>
                          </p:to>
                        </p:set>
                        <p:animEffect transition="in" filter="fade">
                          <p:cBhvr>
                            <p:cTn id="49" dur="400"/>
                            <p:tgtEl>
                              <p:spTgt spid="1378453121"/>
                            </p:tgtEl>
                          </p:cBhvr>
                        </p:animEffect>
                        <p:anim calcmode="lin" valueType="num">
                          <p:cBhvr additive="base">
                            <p:cTn id="50" dur="400" fill="hold"/>
                            <p:tgtEl>
                              <p:spTgt spid="1378453121"/>
                            </p:tgtEl>
                            <p:attrNameLst>
                              <p:attrName>ppt_y</p:attrName>
                            </p:attrNameLst>
                          </p:cBhvr>
                          <p:tavLst>
                            <p:tav tm="0">
                              <p:val>
                                <p:fltVal val="0.045999999999999999"/>
                              </p:val>
                            </p:tav>
                            <p:tav tm="100000">
                              <p:val>
                                <p:fltVal val="0"/>
                              </p:val>
                            </p:tav>
                          </p:tavLst>
                        </p:anim>
                      </p:childTnLst>
                    </p:cTn>
                  </p:par>
                </p:childTnLst>
              </p:cTn>
            </p:par>
          </p:childTnLst>
        </p:cTn>
      </p:par>
    </p:tnLst>
    <p:bldLst>
      <p:bldP spid="877905828" grpId="0" animBg="1"/>
      <p:bldP spid="999155620" grpId="0" animBg="1"/>
      <p:bldP spid="170136685" grpId="0" animBg="1"/>
      <p:bldP spid="1823016647" grpId="0" animBg="1"/>
      <p:bldP spid="1622578474" grpId="0" animBg="1"/>
      <p:bldP spid="739643198" grpId="0" animBg="1"/>
      <p:bldP spid="290760070" grpId="0" animBg="1"/>
      <p:bldP spid="1917924029" grpId="0" animBg="1"/>
      <p:bldP spid="1416715384" grpId="0" animBg="1"/>
      <p:bldP spid="713557258" grpId="0" animBg="1"/>
      <p:bldP spid="77055361" grpId="0" animBg="1"/>
      <p:bldP spid="1378453121" grpId="0" animBg="1"/>
    </p:bldLst>
  </p:timing>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941009580" name="Eyebrow"/>
          <p:cNvSpPr txBox="1"/>
          <p:nvPr/>
        </p:nvSpPr>
        <p:spPr bwMode="auto">
          <a:xfrm>
            <a:off x="914400" y="584200"/>
            <a:ext cx="9144000" cy="254000"/>
          </a:xfrm>
          <a:prstGeom prst="rect">
            <a:avLst/>
          </a:prstGeom>
          <a:noFill/>
          <a:ln>
            <a:noFill/>
          </a:ln>
        </p:spPr>
        <p:txBody>
          <a:bodyPr wrap="square" lIns="0" tIns="0" rIns="0" bIns="0" anchor="t">
            <a:normAutofit/>
          </a:bodyPr>
          <a:lstStyle/>
          <a:p>
            <a:pPr>
              <a:buNone/>
              <a:defRPr/>
            </a:pPr>
            <a:r>
              <a:rPr lang="fr-FR" sz="1400" b="1" spc="240">
                <a:solidFill>
                  <a:srgbClr val="64748B"/>
                </a:solidFill>
              </a:rPr>
              <a:t>03 · ANALYSE CONCEPTUELLE</a:t>
            </a:r>
            <a:endParaRPr/>
          </a:p>
        </p:txBody>
      </p:sp>
      <p:sp>
        <p:nvSpPr>
          <p:cNvPr id="903666245" name="Titre"/>
          <p:cNvSpPr txBox="1"/>
          <p:nvPr/>
        </p:nvSpPr>
        <p:spPr bwMode="auto">
          <a:xfrm>
            <a:off x="914400" y="863599"/>
            <a:ext cx="10363200" cy="508000"/>
          </a:xfrm>
          <a:prstGeom prst="rect">
            <a:avLst/>
          </a:prstGeom>
          <a:noFill/>
          <a:ln>
            <a:noFill/>
          </a:ln>
        </p:spPr>
        <p:txBody>
          <a:bodyPr wrap="square" lIns="0" tIns="0" rIns="0" bIns="0" anchor="t">
            <a:normAutofit/>
          </a:bodyPr>
          <a:lstStyle/>
          <a:p>
            <a:pPr>
              <a:buNone/>
              <a:defRPr/>
            </a:pPr>
            <a:r>
              <a:rPr lang="fr-FR" sz="3000">
                <a:solidFill>
                  <a:srgbClr val="0B1F3A"/>
                </a:solidFill>
                <a:latin typeface="Segoe UI Semibold"/>
              </a:rPr>
              <a:t>Modèle conceptuel de données (MCD)</a:t>
            </a:r>
            <a:endParaRPr/>
          </a:p>
        </p:txBody>
      </p:sp>
      <p:sp>
        <p:nvSpPr>
          <p:cNvPr id="1574521185" name="Filet"/>
          <p:cNvSpPr/>
          <p:nvPr/>
        </p:nvSpPr>
        <p:spPr bwMode="auto">
          <a:xfrm>
            <a:off x="914400" y="1473200"/>
            <a:ext cx="685800" cy="50800"/>
          </a:xfrm>
          <a:prstGeom prst="rect">
            <a:avLst/>
          </a:prstGeom>
          <a:solidFill>
            <a:srgbClr val="2563EB"/>
          </a:solidFill>
          <a:ln>
            <a:noFill/>
          </a:ln>
        </p:spPr>
        <p:txBody>
          <a:bodyPr wrap="square" lIns="0" tIns="0" rIns="0" bIns="0" anchor="t">
            <a:normAutofit/>
          </a:bodyPr>
          <a:lstStyle/>
          <a:p>
            <a:pPr>
              <a:defRPr/>
            </a:pPr>
            <a:endParaRPr/>
          </a:p>
        </p:txBody>
      </p:sp>
      <p:sp>
        <p:nvSpPr>
          <p:cNvPr id="1523835365" name="EntLabel"/>
          <p:cNvSpPr txBox="1"/>
          <p:nvPr/>
        </p:nvSpPr>
        <p:spPr bwMode="auto">
          <a:xfrm>
            <a:off x="914400" y="1879599"/>
            <a:ext cx="4089400" cy="254000"/>
          </a:xfrm>
          <a:prstGeom prst="rect">
            <a:avLst/>
          </a:prstGeom>
          <a:noFill/>
          <a:ln>
            <a:noFill/>
          </a:ln>
        </p:spPr>
        <p:txBody>
          <a:bodyPr wrap="square" lIns="0" tIns="0" rIns="0" bIns="0" anchor="t">
            <a:normAutofit/>
          </a:bodyPr>
          <a:lstStyle/>
          <a:p>
            <a:pPr>
              <a:buNone/>
              <a:defRPr/>
            </a:pPr>
            <a:r>
              <a:rPr lang="fr-FR" sz="1400" b="1" spc="200">
                <a:solidFill>
                  <a:srgbClr val="64748B"/>
                </a:solidFill>
              </a:rPr>
              <a:t>7 ENTITÉS PRINCIPALES</a:t>
            </a:r>
            <a:endParaRPr/>
          </a:p>
        </p:txBody>
      </p:sp>
      <p:sp>
        <p:nvSpPr>
          <p:cNvPr id="480693149" name="Entities"/>
          <p:cNvSpPr txBox="1"/>
          <p:nvPr/>
        </p:nvSpPr>
        <p:spPr bwMode="auto">
          <a:xfrm>
            <a:off x="914400" y="2235199"/>
            <a:ext cx="4089400" cy="2844800"/>
          </a:xfrm>
          <a:prstGeom prst="rect">
            <a:avLst/>
          </a:prstGeom>
          <a:noFill/>
          <a:ln>
            <a:noFill/>
          </a:ln>
        </p:spPr>
        <p:txBody>
          <a:bodyPr wrap="square" lIns="0" tIns="0" rIns="0" bIns="0" anchor="t">
            <a:normAutofit/>
          </a:bodyPr>
          <a:lstStyle/>
          <a:p>
            <a:pPr marL="285750" indent="-285750">
              <a:lnSpc>
                <a:spcPts val="1850"/>
              </a:lnSpc>
              <a:spcBef>
                <a:spcPts val="350"/>
              </a:spcBef>
              <a:buClr>
                <a:srgbClr val="2563EB"/>
              </a:buClr>
              <a:buFont typeface="Arial"/>
              <a:buChar char="•"/>
              <a:defRPr/>
            </a:pPr>
            <a:r>
              <a:rPr lang="fr-FR" sz="1600">
                <a:solidFill>
                  <a:srgbClr val="0B1F3A"/>
                </a:solidFill>
              </a:rPr>
              <a:t>REGION</a:t>
            </a:r>
            <a:endParaRPr/>
          </a:p>
          <a:p>
            <a:pPr marL="285750" indent="-285750">
              <a:lnSpc>
                <a:spcPts val="1850"/>
              </a:lnSpc>
              <a:spcBef>
                <a:spcPts val="350"/>
              </a:spcBef>
              <a:buClr>
                <a:srgbClr val="2563EB"/>
              </a:buClr>
              <a:buFont typeface="Arial"/>
              <a:buChar char="•"/>
              <a:defRPr/>
            </a:pPr>
            <a:r>
              <a:rPr lang="fr-FR" sz="1600">
                <a:solidFill>
                  <a:srgbClr val="0B1F3A"/>
                </a:solidFill>
              </a:rPr>
              <a:t>DEPARTEMENT</a:t>
            </a:r>
            <a:endParaRPr/>
          </a:p>
          <a:p>
            <a:pPr marL="285750" indent="-285750">
              <a:lnSpc>
                <a:spcPts val="1850"/>
              </a:lnSpc>
              <a:spcBef>
                <a:spcPts val="350"/>
              </a:spcBef>
              <a:buClr>
                <a:srgbClr val="2563EB"/>
              </a:buClr>
              <a:buFont typeface="Arial"/>
              <a:buChar char="•"/>
              <a:defRPr/>
            </a:pPr>
            <a:r>
              <a:rPr lang="fr-FR" sz="1600">
                <a:solidFill>
                  <a:srgbClr val="0B1F3A"/>
                </a:solidFill>
              </a:rPr>
              <a:t>CANTON</a:t>
            </a:r>
            <a:endParaRPr/>
          </a:p>
          <a:p>
            <a:pPr marL="285750" indent="-285750">
              <a:lnSpc>
                <a:spcPts val="1850"/>
              </a:lnSpc>
              <a:spcBef>
                <a:spcPts val="350"/>
              </a:spcBef>
              <a:buClr>
                <a:srgbClr val="2563EB"/>
              </a:buClr>
              <a:buFont typeface="Arial"/>
              <a:buChar char="•"/>
              <a:defRPr/>
            </a:pPr>
            <a:r>
              <a:rPr lang="fr-FR" sz="1600">
                <a:solidFill>
                  <a:srgbClr val="0B1F3A"/>
                </a:solidFill>
              </a:rPr>
              <a:t>ELECTION</a:t>
            </a:r>
            <a:endParaRPr/>
          </a:p>
          <a:p>
            <a:pPr marL="285750" indent="-285750">
              <a:lnSpc>
                <a:spcPts val="1850"/>
              </a:lnSpc>
              <a:spcBef>
                <a:spcPts val="350"/>
              </a:spcBef>
              <a:buClr>
                <a:srgbClr val="2563EB"/>
              </a:buClr>
              <a:buFont typeface="Arial"/>
              <a:buChar char="•"/>
              <a:defRPr/>
            </a:pPr>
            <a:r>
              <a:rPr lang="fr-FR" sz="1600">
                <a:solidFill>
                  <a:srgbClr val="0B1F3A"/>
                </a:solidFill>
              </a:rPr>
              <a:t>INDICATEUR_SOCIOECO</a:t>
            </a:r>
            <a:endParaRPr/>
          </a:p>
          <a:p>
            <a:pPr marL="285750" indent="-285750">
              <a:lnSpc>
                <a:spcPts val="1850"/>
              </a:lnSpc>
              <a:spcBef>
                <a:spcPts val="350"/>
              </a:spcBef>
              <a:buClr>
                <a:srgbClr val="2563EB"/>
              </a:buClr>
              <a:buFont typeface="Arial"/>
              <a:buChar char="•"/>
              <a:defRPr/>
            </a:pPr>
            <a:r>
              <a:rPr lang="fr-FR" sz="1600">
                <a:solidFill>
                  <a:srgbClr val="0B1F3A"/>
                </a:solidFill>
              </a:rPr>
              <a:t>SECURITE</a:t>
            </a:r>
            <a:endParaRPr/>
          </a:p>
          <a:p>
            <a:pPr marL="285750" indent="-285750">
              <a:lnSpc>
                <a:spcPts val="1850"/>
              </a:lnSpc>
              <a:spcBef>
                <a:spcPts val="350"/>
              </a:spcBef>
              <a:buClr>
                <a:srgbClr val="2563EB"/>
              </a:buClr>
              <a:buFont typeface="Arial"/>
              <a:buChar char="•"/>
              <a:defRPr/>
            </a:pPr>
            <a:r>
              <a:rPr lang="fr-FR" sz="1600">
                <a:solidFill>
                  <a:srgbClr val="0B1F3A"/>
                </a:solidFill>
              </a:rPr>
              <a:t>VARIATION_DELTA</a:t>
            </a:r>
            <a:endParaRPr/>
          </a:p>
        </p:txBody>
      </p:sp>
      <p:sp>
        <p:nvSpPr>
          <p:cNvPr id="1146188621" name="RelNote"/>
          <p:cNvSpPr txBox="1"/>
          <p:nvPr/>
        </p:nvSpPr>
        <p:spPr bwMode="auto">
          <a:xfrm>
            <a:off x="914400" y="5181599"/>
            <a:ext cx="4089400" cy="762000"/>
          </a:xfrm>
          <a:prstGeom prst="rect">
            <a:avLst/>
          </a:prstGeom>
          <a:noFill/>
          <a:ln>
            <a:noFill/>
          </a:ln>
        </p:spPr>
        <p:txBody>
          <a:bodyPr wrap="square" lIns="0" tIns="0" rIns="0" bIns="0" anchor="t">
            <a:normAutofit/>
          </a:bodyPr>
          <a:lstStyle/>
          <a:p>
            <a:pPr>
              <a:lnSpc>
                <a:spcPts val="1900"/>
              </a:lnSpc>
              <a:buNone/>
              <a:defRPr/>
            </a:pPr>
            <a:r>
              <a:rPr lang="fr-FR" sz="1400">
                <a:solidFill>
                  <a:srgbClr val="64748B"/>
                </a:solidFill>
              </a:rPr>
              <a:t>Entités reliées par des cardinalités 1-N et N-N (territoire, scrutins, indicateurs).</a:t>
            </a:r>
            <a:endParaRPr/>
          </a:p>
        </p:txBody>
      </p:sp>
      <p:sp>
        <p:nvSpPr>
          <p:cNvPr id="1488162044" name="Page"/>
          <p:cNvSpPr txBox="1"/>
          <p:nvPr/>
        </p:nvSpPr>
        <p:spPr bwMode="auto">
          <a:xfrm>
            <a:off x="10515600" y="6451600"/>
            <a:ext cx="914400" cy="254000"/>
          </a:xfrm>
          <a:prstGeom prst="rect">
            <a:avLst/>
          </a:prstGeom>
          <a:noFill/>
          <a:ln>
            <a:noFill/>
          </a:ln>
        </p:spPr>
        <p:txBody>
          <a:bodyPr wrap="square" lIns="0" tIns="0" rIns="0" bIns="0" anchor="t">
            <a:normAutofit/>
          </a:bodyPr>
          <a:lstStyle/>
          <a:p>
            <a:pPr algn="r">
              <a:buNone/>
              <a:defRPr/>
            </a:pPr>
            <a:r>
              <a:rPr lang="fr-FR" sz="1400">
                <a:solidFill>
                  <a:srgbClr val="64748B"/>
                </a:solidFill>
              </a:rPr>
              <a:t>10</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med" p14:dur="500" advClick="1">
        <p:fade thruBlk="0"/>
      </p:transition>
    </mc:Choice>
    <mc:Fallback>
      <p:transition spd="med" advClick="1">
        <p:fade thruBlk="0"/>
      </p:transition>
    </mc:Fallback>
  </mc:AlternateContent>
  <p:timing>
    <p:tnLst>
      <p:par>
        <p:cTn id="1" dur="indefinite" restart="never" nodeType="tmRoot">
          <p:childTnLst>
            <p:par>
              <p:cTn id="2" fill="hold">
                <p:stCondLst>
                  <p:cond delay="0"/>
                </p:stCondLst>
                <p:childTnLst>
                  <p:par>
                    <p:cTn id="3" presetID="10" presetClass="entr" presetSubtype="0" fill="hold" grpId="0" nodeType="afterEffect">
                      <p:stCondLst>
                        <p:cond delay="500"/>
                      </p:stCondLst>
                      <p:childTnLst>
                        <p:set>
                          <p:cBhvr>
                            <p:cTn id="4" dur="1" fill="hold">
                              <p:stCondLst>
                                <p:cond delay="0"/>
                              </p:stCondLst>
                            </p:cTn>
                            <p:tgtEl>
                              <p:spTgt spid="941009580"/>
                            </p:tgtEl>
                            <p:attrNameLst>
                              <p:attrName>style.visibility</p:attrName>
                            </p:attrNameLst>
                          </p:cBhvr>
                          <p:to>
                            <p:strVal val="visible"/>
                          </p:to>
                        </p:set>
                        <p:animEffect transition="in" filter="fade">
                          <p:cBhvr>
                            <p:cTn id="5" dur="400"/>
                            <p:tgtEl>
                              <p:spTgt spid="941009580"/>
                            </p:tgtEl>
                          </p:cBhvr>
                        </p:animEffect>
                        <p:anim calcmode="lin" valueType="num">
                          <p:cBhvr additive="base">
                            <p:cTn id="6" dur="400" fill="hold"/>
                            <p:tgtEl>
                              <p:spTgt spid="941009580"/>
                            </p:tgtEl>
                            <p:attrNameLst>
                              <p:attrName>ppt_y</p:attrName>
                            </p:attrNameLst>
                          </p:cBhvr>
                          <p:tavLst>
                            <p:tav tm="0">
                              <p:val>
                                <p:fltVal val="0.045999999999999999"/>
                              </p:val>
                            </p:tav>
                            <p:tav tm="100000">
                              <p:val>
                                <p:fltVal val="0"/>
                              </p:val>
                            </p:tav>
                          </p:tavLst>
                        </p:anim>
                      </p:childTnLst>
                    </p:cTn>
                  </p:par>
                  <p:par>
                    <p:cTn id="7" presetID="10" presetClass="entr" presetSubtype="0" fill="hold" grpId="0" nodeType="afterEffect">
                      <p:stCondLst>
                        <p:cond delay="150"/>
                      </p:stCondLst>
                      <p:childTnLst>
                        <p:set>
                          <p:cBhvr>
                            <p:cTn id="8" dur="1" fill="hold">
                              <p:stCondLst>
                                <p:cond delay="0"/>
                              </p:stCondLst>
                            </p:cTn>
                            <p:tgtEl>
                              <p:spTgt spid="903666245"/>
                            </p:tgtEl>
                            <p:attrNameLst>
                              <p:attrName>style.visibility</p:attrName>
                            </p:attrNameLst>
                          </p:cBhvr>
                          <p:to>
                            <p:strVal val="visible"/>
                          </p:to>
                        </p:set>
                        <p:animEffect transition="in" filter="fade">
                          <p:cBhvr>
                            <p:cTn id="9" dur="400"/>
                            <p:tgtEl>
                              <p:spTgt spid="903666245"/>
                            </p:tgtEl>
                          </p:cBhvr>
                        </p:animEffect>
                        <p:anim calcmode="lin" valueType="num">
                          <p:cBhvr additive="base">
                            <p:cTn id="10" dur="400" fill="hold"/>
                            <p:tgtEl>
                              <p:spTgt spid="903666245"/>
                            </p:tgtEl>
                            <p:attrNameLst>
                              <p:attrName>ppt_y</p:attrName>
                            </p:attrNameLst>
                          </p:cBhvr>
                          <p:tavLst>
                            <p:tav tm="0">
                              <p:val>
                                <p:fltVal val="0.045999999999999999"/>
                              </p:val>
                            </p:tav>
                            <p:tav tm="100000">
                              <p:val>
                                <p:fltVal val="0"/>
                              </p:val>
                            </p:tav>
                          </p:tavLst>
                        </p:anim>
                      </p:childTnLst>
                    </p:cTn>
                  </p:par>
                  <p:par>
                    <p:cTn id="11" presetID="10" presetClass="entr" presetSubtype="0" fill="hold" grpId="0" nodeType="afterEffect">
                      <p:stCondLst>
                        <p:cond delay="150"/>
                      </p:stCondLst>
                      <p:childTnLst>
                        <p:set>
                          <p:cBhvr>
                            <p:cTn id="12" dur="1" fill="hold">
                              <p:stCondLst>
                                <p:cond delay="0"/>
                              </p:stCondLst>
                            </p:cTn>
                            <p:tgtEl>
                              <p:spTgt spid="1574521185"/>
                            </p:tgtEl>
                            <p:attrNameLst>
                              <p:attrName>style.visibility</p:attrName>
                            </p:attrNameLst>
                          </p:cBhvr>
                          <p:to>
                            <p:strVal val="visible"/>
                          </p:to>
                        </p:set>
                        <p:animEffect transition="in" filter="fade">
                          <p:cBhvr>
                            <p:cTn id="13" dur="400"/>
                            <p:tgtEl>
                              <p:spTgt spid="1574521185"/>
                            </p:tgtEl>
                          </p:cBhvr>
                        </p:animEffect>
                        <p:anim calcmode="lin" valueType="num">
                          <p:cBhvr additive="base">
                            <p:cTn id="14" dur="400" fill="hold"/>
                            <p:tgtEl>
                              <p:spTgt spid="1574521185"/>
                            </p:tgtEl>
                            <p:attrNameLst>
                              <p:attrName>ppt_y</p:attrName>
                            </p:attrNameLst>
                          </p:cBhvr>
                          <p:tavLst>
                            <p:tav tm="0">
                              <p:val>
                                <p:fltVal val="0.045999999999999999"/>
                              </p:val>
                            </p:tav>
                            <p:tav tm="100000">
                              <p:val>
                                <p:fltVal val="0"/>
                              </p:val>
                            </p:tav>
                          </p:tavLst>
                        </p:anim>
                      </p:childTnLst>
                    </p:cTn>
                  </p:par>
                  <p:par>
                    <p:cTn id="19" presetID="10" presetClass="entr" presetSubtype="0" fill="hold" grpId="0" nodeType="afterEffect">
                      <p:stCondLst>
                        <p:cond delay="150"/>
                      </p:stCondLst>
                      <p:childTnLst>
                        <p:set>
                          <p:cBhvr>
                            <p:cTn id="20" dur="1" fill="hold">
                              <p:stCondLst>
                                <p:cond delay="0"/>
                              </p:stCondLst>
                            </p:cTn>
                            <p:tgtEl>
                              <p:spTgt spid="1523835365"/>
                            </p:tgtEl>
                            <p:attrNameLst>
                              <p:attrName>style.visibility</p:attrName>
                            </p:attrNameLst>
                          </p:cBhvr>
                          <p:to>
                            <p:strVal val="visible"/>
                          </p:to>
                        </p:set>
                        <p:animEffect transition="in" filter="fade">
                          <p:cBhvr>
                            <p:cTn id="21" dur="400"/>
                            <p:tgtEl>
                              <p:spTgt spid="1523835365"/>
                            </p:tgtEl>
                          </p:cBhvr>
                        </p:animEffect>
                        <p:anim calcmode="lin" valueType="num">
                          <p:cBhvr additive="base">
                            <p:cTn id="22" dur="400" fill="hold"/>
                            <p:tgtEl>
                              <p:spTgt spid="1523835365"/>
                            </p:tgtEl>
                            <p:attrNameLst>
                              <p:attrName>ppt_y</p:attrName>
                            </p:attrNameLst>
                          </p:cBhvr>
                          <p:tavLst>
                            <p:tav tm="0">
                              <p:val>
                                <p:fltVal val="0.045999999999999999"/>
                              </p:val>
                            </p:tav>
                            <p:tav tm="100000">
                              <p:val>
                                <p:fltVal val="0"/>
                              </p:val>
                            </p:tav>
                          </p:tavLst>
                        </p:anim>
                      </p:childTnLst>
                    </p:cTn>
                  </p:par>
                  <p:par>
                    <p:cTn id="23" presetID="10" presetClass="entr" presetSubtype="0" fill="hold" grpId="0" nodeType="afterEffect">
                      <p:stCondLst>
                        <p:cond delay="150"/>
                      </p:stCondLst>
                      <p:childTnLst>
                        <p:set>
                          <p:cBhvr>
                            <p:cTn id="24" dur="1" fill="hold">
                              <p:stCondLst>
                                <p:cond delay="0"/>
                              </p:stCondLst>
                            </p:cTn>
                            <p:tgtEl>
                              <p:spTgt spid="480693149"/>
                            </p:tgtEl>
                            <p:attrNameLst>
                              <p:attrName>style.visibility</p:attrName>
                            </p:attrNameLst>
                          </p:cBhvr>
                          <p:to>
                            <p:strVal val="visible"/>
                          </p:to>
                        </p:set>
                        <p:animEffect transition="in" filter="fade">
                          <p:cBhvr>
                            <p:cTn id="25" dur="400"/>
                            <p:tgtEl>
                              <p:spTgt spid="480693149"/>
                            </p:tgtEl>
                          </p:cBhvr>
                        </p:animEffect>
                        <p:anim calcmode="lin" valueType="num">
                          <p:cBhvr additive="base">
                            <p:cTn id="26" dur="400" fill="hold"/>
                            <p:tgtEl>
                              <p:spTgt spid="480693149"/>
                            </p:tgtEl>
                            <p:attrNameLst>
                              <p:attrName>ppt_y</p:attrName>
                            </p:attrNameLst>
                          </p:cBhvr>
                          <p:tavLst>
                            <p:tav tm="0">
                              <p:val>
                                <p:fltVal val="0.045999999999999999"/>
                              </p:val>
                            </p:tav>
                            <p:tav tm="100000">
                              <p:val>
                                <p:fltVal val="0"/>
                              </p:val>
                            </p:tav>
                          </p:tavLst>
                        </p:anim>
                      </p:childTnLst>
                    </p:cTn>
                  </p:par>
                  <p:par>
                    <p:cTn id="27" presetID="10" presetClass="entr" presetSubtype="0" fill="hold" grpId="0" nodeType="afterEffect">
                      <p:stCondLst>
                        <p:cond delay="150"/>
                      </p:stCondLst>
                      <p:childTnLst>
                        <p:set>
                          <p:cBhvr>
                            <p:cTn id="28" dur="1" fill="hold">
                              <p:stCondLst>
                                <p:cond delay="0"/>
                              </p:stCondLst>
                            </p:cTn>
                            <p:tgtEl>
                              <p:spTgt spid="1146188621"/>
                            </p:tgtEl>
                            <p:attrNameLst>
                              <p:attrName>style.visibility</p:attrName>
                            </p:attrNameLst>
                          </p:cBhvr>
                          <p:to>
                            <p:strVal val="visible"/>
                          </p:to>
                        </p:set>
                        <p:animEffect transition="in" filter="fade">
                          <p:cBhvr>
                            <p:cTn id="29" dur="400"/>
                            <p:tgtEl>
                              <p:spTgt spid="1146188621"/>
                            </p:tgtEl>
                          </p:cBhvr>
                        </p:animEffect>
                        <p:anim calcmode="lin" valueType="num">
                          <p:cBhvr additive="base">
                            <p:cTn id="30" dur="400" fill="hold"/>
                            <p:tgtEl>
                              <p:spTgt spid="1146188621"/>
                            </p:tgtEl>
                            <p:attrNameLst>
                              <p:attrName>ppt_y</p:attrName>
                            </p:attrNameLst>
                          </p:cBhvr>
                          <p:tavLst>
                            <p:tav tm="0">
                              <p:val>
                                <p:fltVal val="0.045999999999999999"/>
                              </p:val>
                            </p:tav>
                            <p:tav tm="100000">
                              <p:val>
                                <p:fltVal val="0"/>
                              </p:val>
                            </p:tav>
                          </p:tavLst>
                        </p:anim>
                      </p:childTnLst>
                    </p:cTn>
                  </p:par>
                  <p:par>
                    <p:cTn id="31" presetID="10" presetClass="entr" presetSubtype="0" fill="hold" grpId="0" nodeType="afterEffect">
                      <p:stCondLst>
                        <p:cond delay="150"/>
                      </p:stCondLst>
                      <p:childTnLst>
                        <p:set>
                          <p:cBhvr>
                            <p:cTn id="32" dur="1" fill="hold">
                              <p:stCondLst>
                                <p:cond delay="0"/>
                              </p:stCondLst>
                            </p:cTn>
                            <p:tgtEl>
                              <p:spTgt spid="1488162044"/>
                            </p:tgtEl>
                            <p:attrNameLst>
                              <p:attrName>style.visibility</p:attrName>
                            </p:attrNameLst>
                          </p:cBhvr>
                          <p:to>
                            <p:strVal val="visible"/>
                          </p:to>
                        </p:set>
                        <p:animEffect transition="in" filter="fade">
                          <p:cBhvr>
                            <p:cTn id="33" dur="400"/>
                            <p:tgtEl>
                              <p:spTgt spid="1488162044"/>
                            </p:tgtEl>
                          </p:cBhvr>
                        </p:animEffect>
                        <p:anim calcmode="lin" valueType="num">
                          <p:cBhvr additive="base">
                            <p:cTn id="34" dur="400" fill="hold"/>
                            <p:tgtEl>
                              <p:spTgt spid="1488162044"/>
                            </p:tgtEl>
                            <p:attrNameLst>
                              <p:attrName>ppt_y</p:attrName>
                            </p:attrNameLst>
                          </p:cBhvr>
                          <p:tavLst>
                            <p:tav tm="0">
                              <p:val>
                                <p:fltVal val="0.045999999999999999"/>
                              </p:val>
                            </p:tav>
                            <p:tav tm="100000">
                              <p:val>
                                <p:fltVal val="0"/>
                              </p:val>
                            </p:tav>
                          </p:tavLst>
                        </p:anim>
                      </p:childTnLst>
                    </p:cTn>
                  </p:par>
                </p:childTnLst>
              </p:cTn>
            </p:par>
          </p:childTnLst>
        </p:cTn>
      </p:par>
    </p:tnLst>
    <p:bldLst>
      <p:bldP spid="941009580" grpId="0" animBg="1"/>
      <p:bldP spid="903666245" grpId="0" animBg="1"/>
      <p:bldP spid="1574521185" grpId="0" animBg="1"/>
      <p:bldP spid="1523835365" grpId="0" animBg="1"/>
      <p:bldP spid="480693149" grpId="0" animBg="1"/>
      <p:bldP spid="1146188621" grpId="0" animBg="1"/>
      <p:bldP spid="1488162044" grpId="0" animBg="1"/>
    </p:bldLst>
  </p:timing>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2137792960" name="Eyebrow"/>
          <p:cNvSpPr txBox="1"/>
          <p:nvPr/>
        </p:nvSpPr>
        <p:spPr bwMode="auto">
          <a:xfrm>
            <a:off x="914400" y="584199"/>
            <a:ext cx="9144000" cy="253999"/>
          </a:xfrm>
          <a:prstGeom prst="rect">
            <a:avLst/>
          </a:prstGeom>
          <a:noFill/>
          <a:ln>
            <a:noFill/>
          </a:ln>
        </p:spPr>
        <p:txBody>
          <a:bodyPr wrap="square" lIns="0" tIns="0" rIns="0" bIns="0" anchor="t">
            <a:normAutofit/>
          </a:bodyPr>
          <a:lstStyle/>
          <a:p>
            <a:pPr>
              <a:buNone/>
              <a:defRPr/>
            </a:pPr>
            <a:r>
              <a:rPr lang="fr-FR" sz="1400" b="1" spc="239">
                <a:solidFill>
                  <a:srgbClr val="64748B"/>
                </a:solidFill>
              </a:rPr>
              <a:t>03 · ANALYSE CONCEPTUELLE</a:t>
            </a:r>
            <a:endParaRPr/>
          </a:p>
        </p:txBody>
      </p:sp>
      <p:sp>
        <p:nvSpPr>
          <p:cNvPr id="1510818874" name="Titre"/>
          <p:cNvSpPr txBox="1"/>
          <p:nvPr/>
        </p:nvSpPr>
        <p:spPr bwMode="auto">
          <a:xfrm>
            <a:off x="914400" y="863599"/>
            <a:ext cx="10363199" cy="507999"/>
          </a:xfrm>
          <a:prstGeom prst="rect">
            <a:avLst/>
          </a:prstGeom>
          <a:noFill/>
          <a:ln>
            <a:noFill/>
          </a:ln>
        </p:spPr>
        <p:txBody>
          <a:bodyPr wrap="square" lIns="0" tIns="0" rIns="0" bIns="0" anchor="t">
            <a:normAutofit/>
          </a:bodyPr>
          <a:lstStyle/>
          <a:p>
            <a:pPr>
              <a:buNone/>
              <a:defRPr/>
            </a:pPr>
            <a:r>
              <a:rPr lang="fr-FR" sz="3000">
                <a:solidFill>
                  <a:srgbClr val="0B1F3A"/>
                </a:solidFill>
                <a:latin typeface="Segoe UI Semibold"/>
              </a:rPr>
              <a:t>Modèle conceptuel de données (MCD)</a:t>
            </a:r>
            <a:endParaRPr/>
          </a:p>
        </p:txBody>
      </p:sp>
      <p:sp>
        <p:nvSpPr>
          <p:cNvPr id="35251609" name="Filet"/>
          <p:cNvSpPr/>
          <p:nvPr/>
        </p:nvSpPr>
        <p:spPr bwMode="auto">
          <a:xfrm>
            <a:off x="914400" y="1473199"/>
            <a:ext cx="685800" cy="50799"/>
          </a:xfrm>
          <a:prstGeom prst="rect">
            <a:avLst/>
          </a:prstGeom>
          <a:solidFill>
            <a:srgbClr val="2563EB"/>
          </a:solidFill>
          <a:ln>
            <a:noFill/>
          </a:ln>
        </p:spPr>
        <p:txBody>
          <a:bodyPr wrap="square" lIns="0" tIns="0" rIns="0" bIns="0" anchor="t">
            <a:normAutofit/>
          </a:bodyPr>
          <a:lstStyle/>
          <a:p>
            <a:pPr>
              <a:defRPr/>
            </a:pPr>
            <a:endParaRPr/>
          </a:p>
        </p:txBody>
      </p:sp>
      <p:sp>
        <p:nvSpPr>
          <p:cNvPr id="2069088844" name="Page"/>
          <p:cNvSpPr txBox="1"/>
          <p:nvPr/>
        </p:nvSpPr>
        <p:spPr bwMode="auto">
          <a:xfrm>
            <a:off x="10515600" y="6451599"/>
            <a:ext cx="914400" cy="253999"/>
          </a:xfrm>
          <a:prstGeom prst="rect">
            <a:avLst/>
          </a:prstGeom>
          <a:noFill/>
          <a:ln>
            <a:noFill/>
          </a:ln>
        </p:spPr>
        <p:txBody>
          <a:bodyPr wrap="square" lIns="0" tIns="0" rIns="0" bIns="0" anchor="t">
            <a:normAutofit/>
          </a:bodyPr>
          <a:lstStyle/>
          <a:p>
            <a:pPr algn="r">
              <a:buNone/>
              <a:defRPr/>
            </a:pPr>
            <a:r>
              <a:rPr lang="fr-FR" sz="1400">
                <a:solidFill>
                  <a:srgbClr val="64748B"/>
                </a:solidFill>
              </a:rPr>
              <a:t>10</a:t>
            </a:r>
            <a:endParaRPr/>
          </a:p>
        </p:txBody>
      </p:sp>
      <p:pic>
        <p:nvPicPr>
          <p:cNvPr id="850419059" name=""/>
          <p:cNvPicPr>
            <a:picLocks noChangeAspect="1"/>
          </p:cNvPicPr>
          <p:nvPr/>
        </p:nvPicPr>
        <p:blipFill rotWithShape="1">
          <a:blip r:embed="rId3"/>
          <a:stretch/>
        </p:blipFill>
        <p:spPr bwMode="auto">
          <a:xfrm flipH="0" flipV="0">
            <a:off x="170958" y="89581"/>
            <a:ext cx="12067491" cy="6648847"/>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med" p14:dur="500" advClick="1">
        <p:fade thruBlk="0"/>
      </p:transition>
    </mc:Choice>
    <mc:Fallback>
      <p:transition spd="med" advClick="1">
        <p:fade thruBlk="0"/>
      </p:transition>
    </mc:Fallback>
  </mc:AlternateContent>
  <p:timing>
    <p:tnLst>
      <p:par>
        <p:cTn id="1" dur="indefinite" restart="never" nodeType="tmRoot">
          <p:childTnLst>
            <p:par>
              <p:cTn id="2" fill="hold">
                <p:stCondLst>
                  <p:cond delay="0"/>
                </p:stCondLst>
                <p:childTnLst>
                  <p:par>
                    <p:cTn id="3" presetID="10" presetClass="entr" presetSubtype="0" fill="hold" grpId="0" nodeType="afterEffect">
                      <p:stCondLst>
                        <p:cond delay="500"/>
                      </p:stCondLst>
                      <p:childTnLst>
                        <p:set>
                          <p:cBhvr>
                            <p:cTn id="4" dur="1" fill="hold">
                              <p:stCondLst>
                                <p:cond delay="0"/>
                              </p:stCondLst>
                            </p:cTn>
                            <p:tgtEl>
                              <p:spTgt spid="2137792960"/>
                            </p:tgtEl>
                            <p:attrNameLst>
                              <p:attrName>style.visibility</p:attrName>
                            </p:attrNameLst>
                          </p:cBhvr>
                          <p:to>
                            <p:strVal val="visible"/>
                          </p:to>
                        </p:set>
                        <p:animEffect transition="in" filter="fade">
                          <p:cBhvr>
                            <p:cTn id="5" dur="400"/>
                            <p:tgtEl>
                              <p:spTgt spid="2137792960"/>
                            </p:tgtEl>
                          </p:cBhvr>
                        </p:animEffect>
                        <p:anim calcmode="lin" valueType="num">
                          <p:cBhvr additive="base">
                            <p:cTn id="6" dur="400" fill="hold"/>
                            <p:tgtEl>
                              <p:spTgt spid="2137792960"/>
                            </p:tgtEl>
                            <p:attrNameLst>
                              <p:attrName>ppt_y</p:attrName>
                            </p:attrNameLst>
                          </p:cBhvr>
                          <p:tavLst>
                            <p:tav tm="0">
                              <p:val>
                                <p:fltVal val="0.045999999999999999"/>
                              </p:val>
                            </p:tav>
                            <p:tav tm="100000">
                              <p:val>
                                <p:fltVal val="0"/>
                              </p:val>
                            </p:tav>
                          </p:tavLst>
                        </p:anim>
                      </p:childTnLst>
                    </p:cTn>
                  </p:par>
                  <p:par>
                    <p:cTn id="7" presetID="10" presetClass="entr" presetSubtype="0" fill="hold" grpId="0" nodeType="afterEffect">
                      <p:stCondLst>
                        <p:cond delay="150"/>
                      </p:stCondLst>
                      <p:childTnLst>
                        <p:set>
                          <p:cBhvr>
                            <p:cTn id="8" dur="1" fill="hold">
                              <p:stCondLst>
                                <p:cond delay="0"/>
                              </p:stCondLst>
                            </p:cTn>
                            <p:tgtEl>
                              <p:spTgt spid="1510818874"/>
                            </p:tgtEl>
                            <p:attrNameLst>
                              <p:attrName>style.visibility</p:attrName>
                            </p:attrNameLst>
                          </p:cBhvr>
                          <p:to>
                            <p:strVal val="visible"/>
                          </p:to>
                        </p:set>
                        <p:animEffect transition="in" filter="fade">
                          <p:cBhvr>
                            <p:cTn id="9" dur="400"/>
                            <p:tgtEl>
                              <p:spTgt spid="1510818874"/>
                            </p:tgtEl>
                          </p:cBhvr>
                        </p:animEffect>
                        <p:anim calcmode="lin" valueType="num">
                          <p:cBhvr additive="base">
                            <p:cTn id="10" dur="400" fill="hold"/>
                            <p:tgtEl>
                              <p:spTgt spid="1510818874"/>
                            </p:tgtEl>
                            <p:attrNameLst>
                              <p:attrName>ppt_y</p:attrName>
                            </p:attrNameLst>
                          </p:cBhvr>
                          <p:tavLst>
                            <p:tav tm="0">
                              <p:val>
                                <p:fltVal val="0.045999999999999999"/>
                              </p:val>
                            </p:tav>
                            <p:tav tm="100000">
                              <p:val>
                                <p:fltVal val="0"/>
                              </p:val>
                            </p:tav>
                          </p:tavLst>
                        </p:anim>
                      </p:childTnLst>
                    </p:cTn>
                  </p:par>
                  <p:par>
                    <p:cTn id="11" presetID="10" presetClass="entr" presetSubtype="0" fill="hold" grpId="0" nodeType="afterEffect">
                      <p:stCondLst>
                        <p:cond delay="150"/>
                      </p:stCondLst>
                      <p:childTnLst>
                        <p:set>
                          <p:cBhvr>
                            <p:cTn id="12" dur="1" fill="hold">
                              <p:stCondLst>
                                <p:cond delay="0"/>
                              </p:stCondLst>
                            </p:cTn>
                            <p:tgtEl>
                              <p:spTgt spid="35251609"/>
                            </p:tgtEl>
                            <p:attrNameLst>
                              <p:attrName>style.visibility</p:attrName>
                            </p:attrNameLst>
                          </p:cBhvr>
                          <p:to>
                            <p:strVal val="visible"/>
                          </p:to>
                        </p:set>
                        <p:animEffect transition="in" filter="fade">
                          <p:cBhvr>
                            <p:cTn id="13" dur="400"/>
                            <p:tgtEl>
                              <p:spTgt spid="35251609"/>
                            </p:tgtEl>
                          </p:cBhvr>
                        </p:animEffect>
                        <p:anim calcmode="lin" valueType="num">
                          <p:cBhvr additive="base">
                            <p:cTn id="14" dur="400" fill="hold"/>
                            <p:tgtEl>
                              <p:spTgt spid="35251609"/>
                            </p:tgtEl>
                            <p:attrNameLst>
                              <p:attrName>ppt_y</p:attrName>
                            </p:attrNameLst>
                          </p:cBhvr>
                          <p:tavLst>
                            <p:tav tm="0">
                              <p:val>
                                <p:fltVal val="0.045999999999999999"/>
                              </p:val>
                            </p:tav>
                            <p:tav tm="100000">
                              <p:val>
                                <p:fltVal val="0"/>
                              </p:val>
                            </p:tav>
                          </p:tavLst>
                        </p:anim>
                      </p:childTnLst>
                    </p:cTn>
                  </p:par>
                  <p:par>
                    <p:cTn id="31" presetID="10" presetClass="entr" presetSubtype="0" fill="hold" grpId="0" nodeType="afterEffect">
                      <p:stCondLst>
                        <p:cond delay="150"/>
                      </p:stCondLst>
                      <p:childTnLst>
                        <p:set>
                          <p:cBhvr>
                            <p:cTn id="32" dur="1" fill="hold">
                              <p:stCondLst>
                                <p:cond delay="0"/>
                              </p:stCondLst>
                            </p:cTn>
                            <p:tgtEl>
                              <p:spTgt spid="2069088844"/>
                            </p:tgtEl>
                            <p:attrNameLst>
                              <p:attrName>style.visibility</p:attrName>
                            </p:attrNameLst>
                          </p:cBhvr>
                          <p:to>
                            <p:strVal val="visible"/>
                          </p:to>
                        </p:set>
                        <p:animEffect transition="in" filter="fade">
                          <p:cBhvr>
                            <p:cTn id="33" dur="400"/>
                            <p:tgtEl>
                              <p:spTgt spid="2069088844"/>
                            </p:tgtEl>
                          </p:cBhvr>
                        </p:animEffect>
                        <p:anim calcmode="lin" valueType="num">
                          <p:cBhvr additive="base">
                            <p:cTn id="34" dur="400" fill="hold"/>
                            <p:tgtEl>
                              <p:spTgt spid="2069088844"/>
                            </p:tgtEl>
                            <p:attrNameLst>
                              <p:attrName>ppt_y</p:attrName>
                            </p:attrNameLst>
                          </p:cBhvr>
                          <p:tavLst>
                            <p:tav tm="0">
                              <p:val>
                                <p:fltVal val="0.045999999999999999"/>
                              </p:val>
                            </p:tav>
                            <p:tav tm="100000">
                              <p:val>
                                <p:fltVal val="0"/>
                              </p:val>
                            </p:tav>
                          </p:tavLst>
                        </p:anim>
                      </p:childTnLst>
                    </p:cTn>
                  </p:par>
                </p:childTnLst>
              </p:cTn>
            </p:par>
          </p:childTnLst>
        </p:cTn>
      </p:par>
    </p:tnLst>
    <p:bldLst>
      <p:bldP spid="2137792960" grpId="0" animBg="1"/>
      <p:bldP spid="1510818874" grpId="0" animBg="1"/>
      <p:bldP spid="35251609" grpId="0" animBg="1"/>
      <p:bldP spid="2069088844" grpId="0" animBg="1"/>
    </p:bldLst>
  </p:timing>
</p:sld>
</file>

<file path=ppt/slides/slide1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399593423" name="Eyebrow"/>
          <p:cNvSpPr txBox="1"/>
          <p:nvPr/>
        </p:nvSpPr>
        <p:spPr bwMode="auto">
          <a:xfrm>
            <a:off x="914400" y="584200"/>
            <a:ext cx="9144000" cy="254000"/>
          </a:xfrm>
          <a:prstGeom prst="rect">
            <a:avLst/>
          </a:prstGeom>
          <a:noFill/>
          <a:ln>
            <a:noFill/>
          </a:ln>
        </p:spPr>
        <p:txBody>
          <a:bodyPr wrap="square" lIns="0" tIns="0" rIns="0" bIns="0" anchor="t">
            <a:normAutofit/>
          </a:bodyPr>
          <a:lstStyle/>
          <a:p>
            <a:pPr>
              <a:buNone/>
              <a:defRPr/>
            </a:pPr>
            <a:r>
              <a:rPr lang="fr-FR" sz="1400" b="1" spc="240">
                <a:solidFill>
                  <a:srgbClr val="64748B"/>
                </a:solidFill>
              </a:rPr>
              <a:t>04 · RÉALISATION</a:t>
            </a:r>
            <a:endParaRPr/>
          </a:p>
        </p:txBody>
      </p:sp>
      <p:sp>
        <p:nvSpPr>
          <p:cNvPr id="975899518" name="Titre"/>
          <p:cNvSpPr txBox="1"/>
          <p:nvPr/>
        </p:nvSpPr>
        <p:spPr bwMode="auto">
          <a:xfrm>
            <a:off x="914400" y="863599"/>
            <a:ext cx="10363200" cy="508000"/>
          </a:xfrm>
          <a:prstGeom prst="rect">
            <a:avLst/>
          </a:prstGeom>
          <a:noFill/>
          <a:ln>
            <a:noFill/>
          </a:ln>
        </p:spPr>
        <p:txBody>
          <a:bodyPr wrap="square" lIns="0" tIns="0" rIns="0" bIns="0" anchor="t">
            <a:normAutofit/>
          </a:bodyPr>
          <a:lstStyle/>
          <a:p>
            <a:pPr>
              <a:buNone/>
              <a:defRPr/>
            </a:pPr>
            <a:r>
              <a:rPr lang="fr-FR" sz="3000">
                <a:solidFill>
                  <a:srgbClr val="0B1F3A"/>
                </a:solidFill>
                <a:latin typeface="Segoe UI Semibold"/>
              </a:rPr>
              <a:t>Architecture ETL : du brut au dashboard</a:t>
            </a:r>
            <a:endParaRPr/>
          </a:p>
        </p:txBody>
      </p:sp>
      <p:sp>
        <p:nvSpPr>
          <p:cNvPr id="2023892468" name="Filet"/>
          <p:cNvSpPr/>
          <p:nvPr/>
        </p:nvSpPr>
        <p:spPr bwMode="auto">
          <a:xfrm>
            <a:off x="914400" y="1473200"/>
            <a:ext cx="685800" cy="50800"/>
          </a:xfrm>
          <a:prstGeom prst="rect">
            <a:avLst/>
          </a:prstGeom>
          <a:solidFill>
            <a:srgbClr val="2563EB"/>
          </a:solidFill>
          <a:ln>
            <a:noFill/>
          </a:ln>
        </p:spPr>
        <p:txBody>
          <a:bodyPr wrap="square" lIns="0" tIns="0" rIns="0" bIns="0" anchor="t">
            <a:normAutofit/>
          </a:bodyPr>
          <a:lstStyle/>
          <a:p>
            <a:pPr>
              <a:defRPr/>
            </a:pPr>
            <a:endParaRPr/>
          </a:p>
        </p:txBody>
      </p:sp>
      <p:sp>
        <p:nvSpPr>
          <p:cNvPr id="316888281" name="Divider"/>
          <p:cNvSpPr/>
          <p:nvPr/>
        </p:nvSpPr>
        <p:spPr bwMode="auto">
          <a:xfrm>
            <a:off x="914400" y="4546600"/>
            <a:ext cx="10363200" cy="19050"/>
          </a:xfrm>
          <a:prstGeom prst="rect">
            <a:avLst/>
          </a:prstGeom>
          <a:solidFill>
            <a:srgbClr val="E2E8F0"/>
          </a:solidFill>
          <a:ln>
            <a:noFill/>
          </a:ln>
        </p:spPr>
        <p:txBody>
          <a:bodyPr wrap="square" lIns="0" tIns="0" rIns="0" bIns="0" anchor="t">
            <a:normAutofit/>
          </a:bodyPr>
          <a:lstStyle/>
          <a:p>
            <a:pPr>
              <a:defRPr/>
            </a:pPr>
            <a:endParaRPr/>
          </a:p>
        </p:txBody>
      </p:sp>
      <p:sp>
        <p:nvSpPr>
          <p:cNvPr id="1689458399" name="Phase0"/>
          <p:cNvSpPr txBox="1"/>
          <p:nvPr/>
        </p:nvSpPr>
        <p:spPr bwMode="auto">
          <a:xfrm>
            <a:off x="914400" y="4724399"/>
            <a:ext cx="2489200" cy="609600"/>
          </a:xfrm>
          <a:prstGeom prst="rect">
            <a:avLst/>
          </a:prstGeom>
          <a:noFill/>
          <a:ln>
            <a:noFill/>
          </a:ln>
        </p:spPr>
        <p:txBody>
          <a:bodyPr wrap="square" lIns="50800" tIns="50800" rIns="50800" bIns="50800" anchor="ctr">
            <a:normAutofit/>
          </a:bodyPr>
          <a:lstStyle/>
          <a:p>
            <a:pPr>
              <a:buNone/>
              <a:defRPr/>
            </a:pPr>
            <a:r>
              <a:rPr lang="fr-FR" sz="2000" b="1">
                <a:solidFill>
                  <a:srgbClr val="2563EB"/>
                </a:solidFill>
                <a:latin typeface="Segoe UI Semibold"/>
              </a:rPr>
              <a:t>1</a:t>
            </a:r>
            <a:r>
              <a:rPr lang="fr-FR" sz="1500">
                <a:solidFill>
                  <a:srgbClr val="0B1F3A"/>
                </a:solidFill>
                <a:latin typeface="Segoe UI Semibold"/>
              </a:rPr>
              <a:t>  Extraction</a:t>
            </a:r>
            <a:endParaRPr/>
          </a:p>
        </p:txBody>
      </p:sp>
      <p:sp>
        <p:nvSpPr>
          <p:cNvPr id="914272289" name="Phase1"/>
          <p:cNvSpPr txBox="1"/>
          <p:nvPr/>
        </p:nvSpPr>
        <p:spPr bwMode="auto">
          <a:xfrm>
            <a:off x="3505199" y="4724399"/>
            <a:ext cx="2489200" cy="609600"/>
          </a:xfrm>
          <a:prstGeom prst="rect">
            <a:avLst/>
          </a:prstGeom>
          <a:noFill/>
          <a:ln>
            <a:noFill/>
          </a:ln>
        </p:spPr>
        <p:txBody>
          <a:bodyPr wrap="square" lIns="50800" tIns="50800" rIns="50800" bIns="50800" anchor="ctr">
            <a:normAutofit/>
          </a:bodyPr>
          <a:lstStyle/>
          <a:p>
            <a:pPr>
              <a:buNone/>
              <a:defRPr/>
            </a:pPr>
            <a:r>
              <a:rPr lang="fr-FR" sz="2000" b="1">
                <a:solidFill>
                  <a:srgbClr val="2563EB"/>
                </a:solidFill>
                <a:latin typeface="Segoe UI Semibold"/>
              </a:rPr>
              <a:t>2</a:t>
            </a:r>
            <a:r>
              <a:rPr lang="fr-FR" sz="1500">
                <a:solidFill>
                  <a:srgbClr val="0B1F3A"/>
                </a:solidFill>
                <a:latin typeface="Segoe UI Semibold"/>
              </a:rPr>
              <a:t>  Fusion</a:t>
            </a:r>
            <a:endParaRPr/>
          </a:p>
        </p:txBody>
      </p:sp>
      <p:sp>
        <p:nvSpPr>
          <p:cNvPr id="1329820900" name="Phase2"/>
          <p:cNvSpPr txBox="1"/>
          <p:nvPr/>
        </p:nvSpPr>
        <p:spPr bwMode="auto">
          <a:xfrm>
            <a:off x="6096000" y="4724399"/>
            <a:ext cx="2489200" cy="609600"/>
          </a:xfrm>
          <a:prstGeom prst="rect">
            <a:avLst/>
          </a:prstGeom>
          <a:noFill/>
          <a:ln>
            <a:noFill/>
          </a:ln>
        </p:spPr>
        <p:txBody>
          <a:bodyPr wrap="square" lIns="50800" tIns="50800" rIns="50800" bIns="50800" anchor="ctr">
            <a:normAutofit/>
          </a:bodyPr>
          <a:lstStyle/>
          <a:p>
            <a:pPr>
              <a:buNone/>
              <a:defRPr/>
            </a:pPr>
            <a:r>
              <a:rPr lang="fr-FR" sz="2000" b="1">
                <a:solidFill>
                  <a:srgbClr val="2563EB"/>
                </a:solidFill>
                <a:latin typeface="Segoe UI Semibold"/>
              </a:rPr>
              <a:t>3</a:t>
            </a:r>
            <a:r>
              <a:rPr lang="fr-FR" sz="1500">
                <a:solidFill>
                  <a:srgbClr val="0B1F3A"/>
                </a:solidFill>
                <a:latin typeface="Segoe UI Semibold"/>
              </a:rPr>
              <a:t>  Normalisation politique</a:t>
            </a:r>
            <a:endParaRPr/>
          </a:p>
        </p:txBody>
      </p:sp>
      <p:sp>
        <p:nvSpPr>
          <p:cNvPr id="919147036" name="Phase3"/>
          <p:cNvSpPr txBox="1"/>
          <p:nvPr/>
        </p:nvSpPr>
        <p:spPr bwMode="auto">
          <a:xfrm>
            <a:off x="8686800" y="4724399"/>
            <a:ext cx="2489200" cy="609600"/>
          </a:xfrm>
          <a:prstGeom prst="rect">
            <a:avLst/>
          </a:prstGeom>
          <a:noFill/>
          <a:ln>
            <a:noFill/>
          </a:ln>
        </p:spPr>
        <p:txBody>
          <a:bodyPr wrap="square" lIns="50800" tIns="50800" rIns="50800" bIns="50800" anchor="ctr">
            <a:normAutofit/>
          </a:bodyPr>
          <a:lstStyle/>
          <a:p>
            <a:pPr>
              <a:buNone/>
              <a:defRPr/>
            </a:pPr>
            <a:r>
              <a:rPr lang="fr-FR" sz="2000" b="1">
                <a:solidFill>
                  <a:srgbClr val="2563EB"/>
                </a:solidFill>
                <a:latin typeface="Segoe UI Semibold"/>
              </a:rPr>
              <a:t>4</a:t>
            </a:r>
            <a:r>
              <a:rPr lang="fr-FR" sz="1500">
                <a:solidFill>
                  <a:srgbClr val="0B1F3A"/>
                </a:solidFill>
                <a:latin typeface="Segoe UI Semibold"/>
              </a:rPr>
              <a:t>  Nettoyage</a:t>
            </a:r>
            <a:endParaRPr/>
          </a:p>
        </p:txBody>
      </p:sp>
      <p:sp>
        <p:nvSpPr>
          <p:cNvPr id="341454748" name="Phase4"/>
          <p:cNvSpPr txBox="1"/>
          <p:nvPr/>
        </p:nvSpPr>
        <p:spPr bwMode="auto">
          <a:xfrm>
            <a:off x="914400" y="5588000"/>
            <a:ext cx="2489200" cy="609600"/>
          </a:xfrm>
          <a:prstGeom prst="rect">
            <a:avLst/>
          </a:prstGeom>
          <a:noFill/>
          <a:ln>
            <a:noFill/>
          </a:ln>
        </p:spPr>
        <p:txBody>
          <a:bodyPr wrap="square" lIns="50800" tIns="50800" rIns="50800" bIns="50800" anchor="ctr">
            <a:normAutofit/>
          </a:bodyPr>
          <a:lstStyle/>
          <a:p>
            <a:pPr>
              <a:buNone/>
              <a:defRPr/>
            </a:pPr>
            <a:r>
              <a:rPr lang="fr-FR" sz="2000" b="1">
                <a:solidFill>
                  <a:srgbClr val="2563EB"/>
                </a:solidFill>
                <a:latin typeface="Segoe UI Semibold"/>
              </a:rPr>
              <a:t>5</a:t>
            </a:r>
            <a:r>
              <a:rPr lang="fr-FR" sz="1500">
                <a:solidFill>
                  <a:srgbClr val="0B1F3A"/>
                </a:solidFill>
                <a:latin typeface="Segoe UI Semibold"/>
              </a:rPr>
              <a:t>  Augmentation</a:t>
            </a:r>
            <a:endParaRPr/>
          </a:p>
        </p:txBody>
      </p:sp>
      <p:sp>
        <p:nvSpPr>
          <p:cNvPr id="916803143" name="Phase5"/>
          <p:cNvSpPr txBox="1"/>
          <p:nvPr/>
        </p:nvSpPr>
        <p:spPr bwMode="auto">
          <a:xfrm>
            <a:off x="3505199" y="5588000"/>
            <a:ext cx="2489200" cy="609600"/>
          </a:xfrm>
          <a:prstGeom prst="rect">
            <a:avLst/>
          </a:prstGeom>
          <a:noFill/>
          <a:ln>
            <a:noFill/>
          </a:ln>
        </p:spPr>
        <p:txBody>
          <a:bodyPr wrap="square" lIns="50800" tIns="50800" rIns="50800" bIns="50800" anchor="ctr">
            <a:normAutofit/>
          </a:bodyPr>
          <a:lstStyle/>
          <a:p>
            <a:pPr>
              <a:buNone/>
              <a:defRPr/>
            </a:pPr>
            <a:r>
              <a:rPr lang="fr-FR" sz="2000" b="1">
                <a:solidFill>
                  <a:srgbClr val="2563EB"/>
                </a:solidFill>
                <a:latin typeface="Segoe UI Semibold"/>
              </a:rPr>
              <a:t>6</a:t>
            </a:r>
            <a:r>
              <a:rPr lang="fr-FR" sz="1500">
                <a:solidFill>
                  <a:srgbClr val="0B1F3A"/>
                </a:solidFill>
                <a:latin typeface="Segoe UI Semibold"/>
              </a:rPr>
              <a:t>  Feature engineering</a:t>
            </a:r>
            <a:endParaRPr/>
          </a:p>
        </p:txBody>
      </p:sp>
      <p:sp>
        <p:nvSpPr>
          <p:cNvPr id="2105243970" name="Phase6"/>
          <p:cNvSpPr txBox="1"/>
          <p:nvPr/>
        </p:nvSpPr>
        <p:spPr bwMode="auto">
          <a:xfrm>
            <a:off x="6096000" y="5588000"/>
            <a:ext cx="2489200" cy="609600"/>
          </a:xfrm>
          <a:prstGeom prst="rect">
            <a:avLst/>
          </a:prstGeom>
          <a:noFill/>
          <a:ln>
            <a:noFill/>
          </a:ln>
        </p:spPr>
        <p:txBody>
          <a:bodyPr wrap="square" lIns="50800" tIns="50800" rIns="50800" bIns="50800" anchor="ctr">
            <a:normAutofit/>
          </a:bodyPr>
          <a:lstStyle/>
          <a:p>
            <a:pPr>
              <a:buNone/>
              <a:defRPr/>
            </a:pPr>
            <a:r>
              <a:rPr lang="fr-FR" sz="2000" b="1">
                <a:solidFill>
                  <a:srgbClr val="2563EB"/>
                </a:solidFill>
                <a:latin typeface="Segoe UI Semibold"/>
              </a:rPr>
              <a:t>7</a:t>
            </a:r>
            <a:r>
              <a:rPr lang="fr-FR" sz="1500">
                <a:solidFill>
                  <a:srgbClr val="0B1F3A"/>
                </a:solidFill>
                <a:latin typeface="Segoe UI Semibold"/>
              </a:rPr>
              <a:t>  Normalisation MinMax</a:t>
            </a:r>
            <a:endParaRPr/>
          </a:p>
        </p:txBody>
      </p:sp>
      <p:sp>
        <p:nvSpPr>
          <p:cNvPr id="927672147" name="Phase7"/>
          <p:cNvSpPr txBox="1"/>
          <p:nvPr/>
        </p:nvSpPr>
        <p:spPr bwMode="auto">
          <a:xfrm>
            <a:off x="8686800" y="5588000"/>
            <a:ext cx="2489200" cy="609600"/>
          </a:xfrm>
          <a:prstGeom prst="rect">
            <a:avLst/>
          </a:prstGeom>
          <a:noFill/>
          <a:ln>
            <a:noFill/>
          </a:ln>
        </p:spPr>
        <p:txBody>
          <a:bodyPr wrap="square" lIns="50800" tIns="50800" rIns="50800" bIns="50800" anchor="ctr">
            <a:normAutofit/>
          </a:bodyPr>
          <a:lstStyle/>
          <a:p>
            <a:pPr>
              <a:buNone/>
              <a:defRPr/>
            </a:pPr>
            <a:r>
              <a:rPr lang="fr-FR" sz="2000" b="1">
                <a:solidFill>
                  <a:srgbClr val="2563EB"/>
                </a:solidFill>
                <a:latin typeface="Segoe UI Semibold"/>
              </a:rPr>
              <a:t>8</a:t>
            </a:r>
            <a:r>
              <a:rPr lang="fr-FR" sz="1500">
                <a:solidFill>
                  <a:srgbClr val="0B1F3A"/>
                </a:solidFill>
                <a:latin typeface="Segoe UI Semibold"/>
              </a:rPr>
              <a:t>  Chargement</a:t>
            </a:r>
            <a:endParaRPr/>
          </a:p>
        </p:txBody>
      </p:sp>
      <p:sp>
        <p:nvSpPr>
          <p:cNvPr id="274970592" name="Page"/>
          <p:cNvSpPr txBox="1"/>
          <p:nvPr/>
        </p:nvSpPr>
        <p:spPr bwMode="auto">
          <a:xfrm>
            <a:off x="10515600" y="6451600"/>
            <a:ext cx="914400" cy="254000"/>
          </a:xfrm>
          <a:prstGeom prst="rect">
            <a:avLst/>
          </a:prstGeom>
          <a:noFill/>
          <a:ln>
            <a:noFill/>
          </a:ln>
        </p:spPr>
        <p:txBody>
          <a:bodyPr wrap="square" lIns="0" tIns="0" rIns="0" bIns="0" anchor="t">
            <a:normAutofit/>
          </a:bodyPr>
          <a:lstStyle/>
          <a:p>
            <a:pPr algn="r">
              <a:buNone/>
              <a:defRPr/>
            </a:pPr>
            <a:r>
              <a:rPr lang="fr-FR" sz="1400">
                <a:solidFill>
                  <a:srgbClr val="64748B"/>
                </a:solidFill>
              </a:rPr>
              <a:t>11</a:t>
            </a:r>
            <a:endParaRPr/>
          </a:p>
        </p:txBody>
      </p:sp>
      <p:pic>
        <p:nvPicPr>
          <p:cNvPr id="1605046628" name=""/>
          <p:cNvPicPr>
            <a:picLocks noChangeAspect="1"/>
          </p:cNvPicPr>
          <p:nvPr/>
        </p:nvPicPr>
        <p:blipFill rotWithShape="1">
          <a:blip r:embed="rId3"/>
          <a:stretch/>
        </p:blipFill>
        <p:spPr bwMode="auto">
          <a:xfrm>
            <a:off x="0" y="1955285"/>
            <a:ext cx="12191999" cy="2242839"/>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med" p14:dur="500" advClick="1">
        <p:fade thruBlk="0"/>
      </p:transition>
    </mc:Choice>
    <mc:Fallback>
      <p:transition spd="med" advClick="1">
        <p:fade thruBlk="0"/>
      </p:transition>
    </mc:Fallback>
  </mc:AlternateContent>
  <p:timing>
    <p:tnLst>
      <p:par>
        <p:cTn id="1" dur="indefinite" restart="never" nodeType="tmRoot">
          <p:childTnLst>
            <p:par>
              <p:cTn id="2" fill="hold">
                <p:stCondLst>
                  <p:cond delay="0"/>
                </p:stCondLst>
                <p:childTnLst>
                  <p:par>
                    <p:cTn id="3" presetID="10" presetClass="entr" presetSubtype="0" fill="hold" grpId="0" nodeType="afterEffect">
                      <p:stCondLst>
                        <p:cond delay="500"/>
                      </p:stCondLst>
                      <p:childTnLst>
                        <p:set>
                          <p:cBhvr>
                            <p:cTn id="4" dur="1" fill="hold">
                              <p:stCondLst>
                                <p:cond delay="0"/>
                              </p:stCondLst>
                            </p:cTn>
                            <p:tgtEl>
                              <p:spTgt spid="1399593423"/>
                            </p:tgtEl>
                            <p:attrNameLst>
                              <p:attrName>style.visibility</p:attrName>
                            </p:attrNameLst>
                          </p:cBhvr>
                          <p:to>
                            <p:strVal val="visible"/>
                          </p:to>
                        </p:set>
                        <p:animEffect transition="in" filter="fade">
                          <p:cBhvr>
                            <p:cTn id="5" dur="400"/>
                            <p:tgtEl>
                              <p:spTgt spid="1399593423"/>
                            </p:tgtEl>
                          </p:cBhvr>
                        </p:animEffect>
                        <p:anim calcmode="lin" valueType="num">
                          <p:cBhvr additive="base">
                            <p:cTn id="6" dur="400" fill="hold"/>
                            <p:tgtEl>
                              <p:spTgt spid="1399593423"/>
                            </p:tgtEl>
                            <p:attrNameLst>
                              <p:attrName>ppt_y</p:attrName>
                            </p:attrNameLst>
                          </p:cBhvr>
                          <p:tavLst>
                            <p:tav tm="0">
                              <p:val>
                                <p:fltVal val="0.045999999999999999"/>
                              </p:val>
                            </p:tav>
                            <p:tav tm="100000">
                              <p:val>
                                <p:fltVal val="0"/>
                              </p:val>
                            </p:tav>
                          </p:tavLst>
                        </p:anim>
                      </p:childTnLst>
                    </p:cTn>
                  </p:par>
                  <p:par>
                    <p:cTn id="7" presetID="10" presetClass="entr" presetSubtype="0" fill="hold" grpId="0" nodeType="afterEffect">
                      <p:stCondLst>
                        <p:cond delay="150"/>
                      </p:stCondLst>
                      <p:childTnLst>
                        <p:set>
                          <p:cBhvr>
                            <p:cTn id="8" dur="1" fill="hold">
                              <p:stCondLst>
                                <p:cond delay="0"/>
                              </p:stCondLst>
                            </p:cTn>
                            <p:tgtEl>
                              <p:spTgt spid="975899518"/>
                            </p:tgtEl>
                            <p:attrNameLst>
                              <p:attrName>style.visibility</p:attrName>
                            </p:attrNameLst>
                          </p:cBhvr>
                          <p:to>
                            <p:strVal val="visible"/>
                          </p:to>
                        </p:set>
                        <p:animEffect transition="in" filter="fade">
                          <p:cBhvr>
                            <p:cTn id="9" dur="400"/>
                            <p:tgtEl>
                              <p:spTgt spid="975899518"/>
                            </p:tgtEl>
                          </p:cBhvr>
                        </p:animEffect>
                        <p:anim calcmode="lin" valueType="num">
                          <p:cBhvr additive="base">
                            <p:cTn id="10" dur="400" fill="hold"/>
                            <p:tgtEl>
                              <p:spTgt spid="975899518"/>
                            </p:tgtEl>
                            <p:attrNameLst>
                              <p:attrName>ppt_y</p:attrName>
                            </p:attrNameLst>
                          </p:cBhvr>
                          <p:tavLst>
                            <p:tav tm="0">
                              <p:val>
                                <p:fltVal val="0.045999999999999999"/>
                              </p:val>
                            </p:tav>
                            <p:tav tm="100000">
                              <p:val>
                                <p:fltVal val="0"/>
                              </p:val>
                            </p:tav>
                          </p:tavLst>
                        </p:anim>
                      </p:childTnLst>
                    </p:cTn>
                  </p:par>
                  <p:par>
                    <p:cTn id="11" presetID="10" presetClass="entr" presetSubtype="0" fill="hold" grpId="0" nodeType="afterEffect">
                      <p:stCondLst>
                        <p:cond delay="150"/>
                      </p:stCondLst>
                      <p:childTnLst>
                        <p:set>
                          <p:cBhvr>
                            <p:cTn id="12" dur="1" fill="hold">
                              <p:stCondLst>
                                <p:cond delay="0"/>
                              </p:stCondLst>
                            </p:cTn>
                            <p:tgtEl>
                              <p:spTgt spid="2023892468"/>
                            </p:tgtEl>
                            <p:attrNameLst>
                              <p:attrName>style.visibility</p:attrName>
                            </p:attrNameLst>
                          </p:cBhvr>
                          <p:to>
                            <p:strVal val="visible"/>
                          </p:to>
                        </p:set>
                        <p:animEffect transition="in" filter="fade">
                          <p:cBhvr>
                            <p:cTn id="13" dur="400"/>
                            <p:tgtEl>
                              <p:spTgt spid="2023892468"/>
                            </p:tgtEl>
                          </p:cBhvr>
                        </p:animEffect>
                        <p:anim calcmode="lin" valueType="num">
                          <p:cBhvr additive="base">
                            <p:cTn id="14" dur="400" fill="hold"/>
                            <p:tgtEl>
                              <p:spTgt spid="2023892468"/>
                            </p:tgtEl>
                            <p:attrNameLst>
                              <p:attrName>ppt_y</p:attrName>
                            </p:attrNameLst>
                          </p:cBhvr>
                          <p:tavLst>
                            <p:tav tm="0">
                              <p:val>
                                <p:fltVal val="0.045999999999999999"/>
                              </p:val>
                            </p:tav>
                            <p:tav tm="100000">
                              <p:val>
                                <p:fltVal val="0"/>
                              </p:val>
                            </p:tav>
                          </p:tavLst>
                        </p:anim>
                      </p:childTnLst>
                    </p:cTn>
                  </p:par>
                  <p:par>
                    <p:cTn id="19" presetID="10" presetClass="entr" presetSubtype="0" fill="hold" grpId="0" nodeType="afterEffect">
                      <p:stCondLst>
                        <p:cond delay="150"/>
                      </p:stCondLst>
                      <p:childTnLst>
                        <p:set>
                          <p:cBhvr>
                            <p:cTn id="20" dur="1" fill="hold">
                              <p:stCondLst>
                                <p:cond delay="0"/>
                              </p:stCondLst>
                            </p:cTn>
                            <p:tgtEl>
                              <p:spTgt spid="316888281"/>
                            </p:tgtEl>
                            <p:attrNameLst>
                              <p:attrName>style.visibility</p:attrName>
                            </p:attrNameLst>
                          </p:cBhvr>
                          <p:to>
                            <p:strVal val="visible"/>
                          </p:to>
                        </p:set>
                        <p:animEffect transition="in" filter="fade">
                          <p:cBhvr>
                            <p:cTn id="21" dur="400"/>
                            <p:tgtEl>
                              <p:spTgt spid="316888281"/>
                            </p:tgtEl>
                          </p:cBhvr>
                        </p:animEffect>
                        <p:anim calcmode="lin" valueType="num">
                          <p:cBhvr additive="base">
                            <p:cTn id="22" dur="400" fill="hold"/>
                            <p:tgtEl>
                              <p:spTgt spid="316888281"/>
                            </p:tgtEl>
                            <p:attrNameLst>
                              <p:attrName>ppt_y</p:attrName>
                            </p:attrNameLst>
                          </p:cBhvr>
                          <p:tavLst>
                            <p:tav tm="0">
                              <p:val>
                                <p:fltVal val="0.045999999999999999"/>
                              </p:val>
                            </p:tav>
                            <p:tav tm="100000">
                              <p:val>
                                <p:fltVal val="0"/>
                              </p:val>
                            </p:tav>
                          </p:tavLst>
                        </p:anim>
                      </p:childTnLst>
                    </p:cTn>
                  </p:par>
                  <p:par>
                    <p:cTn id="23" presetID="10" presetClass="entr" presetSubtype="0" fill="hold" grpId="0" nodeType="afterEffect">
                      <p:stCondLst>
                        <p:cond delay="150"/>
                      </p:stCondLst>
                      <p:childTnLst>
                        <p:set>
                          <p:cBhvr>
                            <p:cTn id="24" dur="1" fill="hold">
                              <p:stCondLst>
                                <p:cond delay="0"/>
                              </p:stCondLst>
                            </p:cTn>
                            <p:tgtEl>
                              <p:spTgt spid="1689458399"/>
                            </p:tgtEl>
                            <p:attrNameLst>
                              <p:attrName>style.visibility</p:attrName>
                            </p:attrNameLst>
                          </p:cBhvr>
                          <p:to>
                            <p:strVal val="visible"/>
                          </p:to>
                        </p:set>
                        <p:animEffect transition="in" filter="fade">
                          <p:cBhvr>
                            <p:cTn id="25" dur="400"/>
                            <p:tgtEl>
                              <p:spTgt spid="1689458399"/>
                            </p:tgtEl>
                          </p:cBhvr>
                        </p:animEffect>
                        <p:anim calcmode="lin" valueType="num">
                          <p:cBhvr additive="base">
                            <p:cTn id="26" dur="400" fill="hold"/>
                            <p:tgtEl>
                              <p:spTgt spid="1689458399"/>
                            </p:tgtEl>
                            <p:attrNameLst>
                              <p:attrName>ppt_y</p:attrName>
                            </p:attrNameLst>
                          </p:cBhvr>
                          <p:tavLst>
                            <p:tav tm="0">
                              <p:val>
                                <p:fltVal val="0.045999999999999999"/>
                              </p:val>
                            </p:tav>
                            <p:tav tm="100000">
                              <p:val>
                                <p:fltVal val="0"/>
                              </p:val>
                            </p:tav>
                          </p:tavLst>
                        </p:anim>
                      </p:childTnLst>
                    </p:cTn>
                  </p:par>
                  <p:par>
                    <p:cTn id="27" presetID="10" presetClass="entr" presetSubtype="0" fill="hold" grpId="0" nodeType="afterEffect">
                      <p:stCondLst>
                        <p:cond delay="150"/>
                      </p:stCondLst>
                      <p:childTnLst>
                        <p:set>
                          <p:cBhvr>
                            <p:cTn id="28" dur="1" fill="hold">
                              <p:stCondLst>
                                <p:cond delay="0"/>
                              </p:stCondLst>
                            </p:cTn>
                            <p:tgtEl>
                              <p:spTgt spid="914272289"/>
                            </p:tgtEl>
                            <p:attrNameLst>
                              <p:attrName>style.visibility</p:attrName>
                            </p:attrNameLst>
                          </p:cBhvr>
                          <p:to>
                            <p:strVal val="visible"/>
                          </p:to>
                        </p:set>
                        <p:animEffect transition="in" filter="fade">
                          <p:cBhvr>
                            <p:cTn id="29" dur="400"/>
                            <p:tgtEl>
                              <p:spTgt spid="914272289"/>
                            </p:tgtEl>
                          </p:cBhvr>
                        </p:animEffect>
                        <p:anim calcmode="lin" valueType="num">
                          <p:cBhvr additive="base">
                            <p:cTn id="30" dur="400" fill="hold"/>
                            <p:tgtEl>
                              <p:spTgt spid="914272289"/>
                            </p:tgtEl>
                            <p:attrNameLst>
                              <p:attrName>ppt_y</p:attrName>
                            </p:attrNameLst>
                          </p:cBhvr>
                          <p:tavLst>
                            <p:tav tm="0">
                              <p:val>
                                <p:fltVal val="0.045999999999999999"/>
                              </p:val>
                            </p:tav>
                            <p:tav tm="100000">
                              <p:val>
                                <p:fltVal val="0"/>
                              </p:val>
                            </p:tav>
                          </p:tavLst>
                        </p:anim>
                      </p:childTnLst>
                    </p:cTn>
                  </p:par>
                  <p:par>
                    <p:cTn id="31" presetID="10" presetClass="entr" presetSubtype="0" fill="hold" grpId="0" nodeType="afterEffect">
                      <p:stCondLst>
                        <p:cond delay="150"/>
                      </p:stCondLst>
                      <p:childTnLst>
                        <p:set>
                          <p:cBhvr>
                            <p:cTn id="32" dur="1" fill="hold">
                              <p:stCondLst>
                                <p:cond delay="0"/>
                              </p:stCondLst>
                            </p:cTn>
                            <p:tgtEl>
                              <p:spTgt spid="1329820900"/>
                            </p:tgtEl>
                            <p:attrNameLst>
                              <p:attrName>style.visibility</p:attrName>
                            </p:attrNameLst>
                          </p:cBhvr>
                          <p:to>
                            <p:strVal val="visible"/>
                          </p:to>
                        </p:set>
                        <p:animEffect transition="in" filter="fade">
                          <p:cBhvr>
                            <p:cTn id="33" dur="400"/>
                            <p:tgtEl>
                              <p:spTgt spid="1329820900"/>
                            </p:tgtEl>
                          </p:cBhvr>
                        </p:animEffect>
                        <p:anim calcmode="lin" valueType="num">
                          <p:cBhvr additive="base">
                            <p:cTn id="34" dur="400" fill="hold"/>
                            <p:tgtEl>
                              <p:spTgt spid="1329820900"/>
                            </p:tgtEl>
                            <p:attrNameLst>
                              <p:attrName>ppt_y</p:attrName>
                            </p:attrNameLst>
                          </p:cBhvr>
                          <p:tavLst>
                            <p:tav tm="0">
                              <p:val>
                                <p:fltVal val="0.045999999999999999"/>
                              </p:val>
                            </p:tav>
                            <p:tav tm="100000">
                              <p:val>
                                <p:fltVal val="0"/>
                              </p:val>
                            </p:tav>
                          </p:tavLst>
                        </p:anim>
                      </p:childTnLst>
                    </p:cTn>
                  </p:par>
                  <p:par>
                    <p:cTn id="35" presetID="10" presetClass="entr" presetSubtype="0" fill="hold" grpId="0" nodeType="afterEffect">
                      <p:stCondLst>
                        <p:cond delay="150"/>
                      </p:stCondLst>
                      <p:childTnLst>
                        <p:set>
                          <p:cBhvr>
                            <p:cTn id="36" dur="1" fill="hold">
                              <p:stCondLst>
                                <p:cond delay="0"/>
                              </p:stCondLst>
                            </p:cTn>
                            <p:tgtEl>
                              <p:spTgt spid="919147036"/>
                            </p:tgtEl>
                            <p:attrNameLst>
                              <p:attrName>style.visibility</p:attrName>
                            </p:attrNameLst>
                          </p:cBhvr>
                          <p:to>
                            <p:strVal val="visible"/>
                          </p:to>
                        </p:set>
                        <p:animEffect transition="in" filter="fade">
                          <p:cBhvr>
                            <p:cTn id="37" dur="400"/>
                            <p:tgtEl>
                              <p:spTgt spid="919147036"/>
                            </p:tgtEl>
                          </p:cBhvr>
                        </p:animEffect>
                        <p:anim calcmode="lin" valueType="num">
                          <p:cBhvr additive="base">
                            <p:cTn id="38" dur="400" fill="hold"/>
                            <p:tgtEl>
                              <p:spTgt spid="919147036"/>
                            </p:tgtEl>
                            <p:attrNameLst>
                              <p:attrName>ppt_y</p:attrName>
                            </p:attrNameLst>
                          </p:cBhvr>
                          <p:tavLst>
                            <p:tav tm="0">
                              <p:val>
                                <p:fltVal val="0.045999999999999999"/>
                              </p:val>
                            </p:tav>
                            <p:tav tm="100000">
                              <p:val>
                                <p:fltVal val="0"/>
                              </p:val>
                            </p:tav>
                          </p:tavLst>
                        </p:anim>
                      </p:childTnLst>
                    </p:cTn>
                  </p:par>
                  <p:par>
                    <p:cTn id="39" presetID="10" presetClass="entr" presetSubtype="0" fill="hold" grpId="0" nodeType="afterEffect">
                      <p:stCondLst>
                        <p:cond delay="150"/>
                      </p:stCondLst>
                      <p:childTnLst>
                        <p:set>
                          <p:cBhvr>
                            <p:cTn id="40" dur="1" fill="hold">
                              <p:stCondLst>
                                <p:cond delay="0"/>
                              </p:stCondLst>
                            </p:cTn>
                            <p:tgtEl>
                              <p:spTgt spid="341454748"/>
                            </p:tgtEl>
                            <p:attrNameLst>
                              <p:attrName>style.visibility</p:attrName>
                            </p:attrNameLst>
                          </p:cBhvr>
                          <p:to>
                            <p:strVal val="visible"/>
                          </p:to>
                        </p:set>
                        <p:animEffect transition="in" filter="fade">
                          <p:cBhvr>
                            <p:cTn id="41" dur="400"/>
                            <p:tgtEl>
                              <p:spTgt spid="341454748"/>
                            </p:tgtEl>
                          </p:cBhvr>
                        </p:animEffect>
                        <p:anim calcmode="lin" valueType="num">
                          <p:cBhvr additive="base">
                            <p:cTn id="42" dur="400" fill="hold"/>
                            <p:tgtEl>
                              <p:spTgt spid="341454748"/>
                            </p:tgtEl>
                            <p:attrNameLst>
                              <p:attrName>ppt_y</p:attrName>
                            </p:attrNameLst>
                          </p:cBhvr>
                          <p:tavLst>
                            <p:tav tm="0">
                              <p:val>
                                <p:fltVal val="0.045999999999999999"/>
                              </p:val>
                            </p:tav>
                            <p:tav tm="100000">
                              <p:val>
                                <p:fltVal val="0"/>
                              </p:val>
                            </p:tav>
                          </p:tavLst>
                        </p:anim>
                      </p:childTnLst>
                    </p:cTn>
                  </p:par>
                  <p:par>
                    <p:cTn id="43" presetID="10" presetClass="entr" presetSubtype="0" fill="hold" grpId="0" nodeType="afterEffect">
                      <p:stCondLst>
                        <p:cond delay="150"/>
                      </p:stCondLst>
                      <p:childTnLst>
                        <p:set>
                          <p:cBhvr>
                            <p:cTn id="44" dur="1" fill="hold">
                              <p:stCondLst>
                                <p:cond delay="0"/>
                              </p:stCondLst>
                            </p:cTn>
                            <p:tgtEl>
                              <p:spTgt spid="916803143"/>
                            </p:tgtEl>
                            <p:attrNameLst>
                              <p:attrName>style.visibility</p:attrName>
                            </p:attrNameLst>
                          </p:cBhvr>
                          <p:to>
                            <p:strVal val="visible"/>
                          </p:to>
                        </p:set>
                        <p:animEffect transition="in" filter="fade">
                          <p:cBhvr>
                            <p:cTn id="45" dur="400"/>
                            <p:tgtEl>
                              <p:spTgt spid="916803143"/>
                            </p:tgtEl>
                          </p:cBhvr>
                        </p:animEffect>
                        <p:anim calcmode="lin" valueType="num">
                          <p:cBhvr additive="base">
                            <p:cTn id="46" dur="400" fill="hold"/>
                            <p:tgtEl>
                              <p:spTgt spid="916803143"/>
                            </p:tgtEl>
                            <p:attrNameLst>
                              <p:attrName>ppt_y</p:attrName>
                            </p:attrNameLst>
                          </p:cBhvr>
                          <p:tavLst>
                            <p:tav tm="0">
                              <p:val>
                                <p:fltVal val="0.045999999999999999"/>
                              </p:val>
                            </p:tav>
                            <p:tav tm="100000">
                              <p:val>
                                <p:fltVal val="0"/>
                              </p:val>
                            </p:tav>
                          </p:tavLst>
                        </p:anim>
                      </p:childTnLst>
                    </p:cTn>
                  </p:par>
                  <p:par>
                    <p:cTn id="47" presetID="10" presetClass="entr" presetSubtype="0" fill="hold" grpId="0" nodeType="afterEffect">
                      <p:stCondLst>
                        <p:cond delay="150"/>
                      </p:stCondLst>
                      <p:childTnLst>
                        <p:set>
                          <p:cBhvr>
                            <p:cTn id="48" dur="1" fill="hold">
                              <p:stCondLst>
                                <p:cond delay="0"/>
                              </p:stCondLst>
                            </p:cTn>
                            <p:tgtEl>
                              <p:spTgt spid="2105243970"/>
                            </p:tgtEl>
                            <p:attrNameLst>
                              <p:attrName>style.visibility</p:attrName>
                            </p:attrNameLst>
                          </p:cBhvr>
                          <p:to>
                            <p:strVal val="visible"/>
                          </p:to>
                        </p:set>
                        <p:animEffect transition="in" filter="fade">
                          <p:cBhvr>
                            <p:cTn id="49" dur="400"/>
                            <p:tgtEl>
                              <p:spTgt spid="2105243970"/>
                            </p:tgtEl>
                          </p:cBhvr>
                        </p:animEffect>
                        <p:anim calcmode="lin" valueType="num">
                          <p:cBhvr additive="base">
                            <p:cTn id="50" dur="400" fill="hold"/>
                            <p:tgtEl>
                              <p:spTgt spid="2105243970"/>
                            </p:tgtEl>
                            <p:attrNameLst>
                              <p:attrName>ppt_y</p:attrName>
                            </p:attrNameLst>
                          </p:cBhvr>
                          <p:tavLst>
                            <p:tav tm="0">
                              <p:val>
                                <p:fltVal val="0.045999999999999999"/>
                              </p:val>
                            </p:tav>
                            <p:tav tm="100000">
                              <p:val>
                                <p:fltVal val="0"/>
                              </p:val>
                            </p:tav>
                          </p:tavLst>
                        </p:anim>
                      </p:childTnLst>
                    </p:cTn>
                  </p:par>
                  <p:par>
                    <p:cTn id="51" presetID="10" presetClass="entr" presetSubtype="0" fill="hold" grpId="0" nodeType="afterEffect">
                      <p:stCondLst>
                        <p:cond delay="150"/>
                      </p:stCondLst>
                      <p:childTnLst>
                        <p:set>
                          <p:cBhvr>
                            <p:cTn id="52" dur="1" fill="hold">
                              <p:stCondLst>
                                <p:cond delay="0"/>
                              </p:stCondLst>
                            </p:cTn>
                            <p:tgtEl>
                              <p:spTgt spid="927672147"/>
                            </p:tgtEl>
                            <p:attrNameLst>
                              <p:attrName>style.visibility</p:attrName>
                            </p:attrNameLst>
                          </p:cBhvr>
                          <p:to>
                            <p:strVal val="visible"/>
                          </p:to>
                        </p:set>
                        <p:animEffect transition="in" filter="fade">
                          <p:cBhvr>
                            <p:cTn id="53" dur="400"/>
                            <p:tgtEl>
                              <p:spTgt spid="927672147"/>
                            </p:tgtEl>
                          </p:cBhvr>
                        </p:animEffect>
                        <p:anim calcmode="lin" valueType="num">
                          <p:cBhvr additive="base">
                            <p:cTn id="54" dur="400" fill="hold"/>
                            <p:tgtEl>
                              <p:spTgt spid="927672147"/>
                            </p:tgtEl>
                            <p:attrNameLst>
                              <p:attrName>ppt_y</p:attrName>
                            </p:attrNameLst>
                          </p:cBhvr>
                          <p:tavLst>
                            <p:tav tm="0">
                              <p:val>
                                <p:fltVal val="0.045999999999999999"/>
                              </p:val>
                            </p:tav>
                            <p:tav tm="100000">
                              <p:val>
                                <p:fltVal val="0"/>
                              </p:val>
                            </p:tav>
                          </p:tavLst>
                        </p:anim>
                      </p:childTnLst>
                    </p:cTn>
                  </p:par>
                  <p:par>
                    <p:cTn id="55" presetID="10" presetClass="entr" presetSubtype="0" fill="hold" grpId="0" nodeType="afterEffect">
                      <p:stCondLst>
                        <p:cond delay="150"/>
                      </p:stCondLst>
                      <p:childTnLst>
                        <p:set>
                          <p:cBhvr>
                            <p:cTn id="56" dur="1" fill="hold">
                              <p:stCondLst>
                                <p:cond delay="0"/>
                              </p:stCondLst>
                            </p:cTn>
                            <p:tgtEl>
                              <p:spTgt spid="274970592"/>
                            </p:tgtEl>
                            <p:attrNameLst>
                              <p:attrName>style.visibility</p:attrName>
                            </p:attrNameLst>
                          </p:cBhvr>
                          <p:to>
                            <p:strVal val="visible"/>
                          </p:to>
                        </p:set>
                        <p:animEffect transition="in" filter="fade">
                          <p:cBhvr>
                            <p:cTn id="57" dur="400"/>
                            <p:tgtEl>
                              <p:spTgt spid="274970592"/>
                            </p:tgtEl>
                          </p:cBhvr>
                        </p:animEffect>
                        <p:anim calcmode="lin" valueType="num">
                          <p:cBhvr additive="base">
                            <p:cTn id="58" dur="400" fill="hold"/>
                            <p:tgtEl>
                              <p:spTgt spid="274970592"/>
                            </p:tgtEl>
                            <p:attrNameLst>
                              <p:attrName>ppt_y</p:attrName>
                            </p:attrNameLst>
                          </p:cBhvr>
                          <p:tavLst>
                            <p:tav tm="0">
                              <p:val>
                                <p:fltVal val="0.045999999999999999"/>
                              </p:val>
                            </p:tav>
                            <p:tav tm="100000">
                              <p:val>
                                <p:fltVal val="0"/>
                              </p:val>
                            </p:tav>
                          </p:tavLst>
                        </p:anim>
                      </p:childTnLst>
                    </p:cTn>
                  </p:par>
                </p:childTnLst>
              </p:cTn>
            </p:par>
          </p:childTnLst>
        </p:cTn>
      </p:par>
    </p:tnLst>
    <p:bldLst>
      <p:bldP spid="1399593423" grpId="0" animBg="1"/>
      <p:bldP spid="975899518" grpId="0" animBg="1"/>
      <p:bldP spid="2023892468" grpId="0" animBg="1"/>
      <p:bldP spid="316888281" grpId="0" animBg="1"/>
      <p:bldP spid="1689458399" grpId="0" animBg="1"/>
      <p:bldP spid="914272289" grpId="0" animBg="1"/>
      <p:bldP spid="1329820900" grpId="0" animBg="1"/>
      <p:bldP spid="919147036" grpId="0" animBg="1"/>
      <p:bldP spid="341454748" grpId="0" animBg="1"/>
      <p:bldP spid="916803143" grpId="0" animBg="1"/>
      <p:bldP spid="2105243970" grpId="0" animBg="1"/>
      <p:bldP spid="927672147" grpId="0" animBg="1"/>
      <p:bldP spid="274970592" grpId="0" animBg="1"/>
    </p:bldLst>
  </p:timing>
</p:sld>
</file>

<file path=ppt/slides/slide1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486272790" name="Eyebrow"/>
          <p:cNvSpPr txBox="1"/>
          <p:nvPr/>
        </p:nvSpPr>
        <p:spPr bwMode="auto">
          <a:xfrm>
            <a:off x="914400" y="584200"/>
            <a:ext cx="9144000" cy="254000"/>
          </a:xfrm>
          <a:prstGeom prst="rect">
            <a:avLst/>
          </a:prstGeom>
          <a:noFill/>
          <a:ln>
            <a:noFill/>
          </a:ln>
        </p:spPr>
        <p:txBody>
          <a:bodyPr wrap="square" lIns="0" tIns="0" rIns="0" bIns="0" anchor="t">
            <a:normAutofit/>
          </a:bodyPr>
          <a:lstStyle/>
          <a:p>
            <a:pPr>
              <a:buNone/>
              <a:defRPr/>
            </a:pPr>
            <a:r>
              <a:rPr lang="fr-FR" sz="1400" b="1" spc="240">
                <a:solidFill>
                  <a:srgbClr val="475569"/>
                </a:solidFill>
              </a:rPr>
              <a:t>04 · RÉALISATION</a:t>
            </a:r>
            <a:endParaRPr/>
          </a:p>
        </p:txBody>
      </p:sp>
      <p:sp>
        <p:nvSpPr>
          <p:cNvPr id="655573878" name="Titre"/>
          <p:cNvSpPr txBox="1"/>
          <p:nvPr/>
        </p:nvSpPr>
        <p:spPr bwMode="auto">
          <a:xfrm>
            <a:off x="914400" y="863599"/>
            <a:ext cx="10363200" cy="508000"/>
          </a:xfrm>
          <a:prstGeom prst="rect">
            <a:avLst/>
          </a:prstGeom>
          <a:noFill/>
          <a:ln>
            <a:noFill/>
          </a:ln>
        </p:spPr>
        <p:txBody>
          <a:bodyPr wrap="square" lIns="0" tIns="0" rIns="0" bIns="0" anchor="t">
            <a:normAutofit/>
          </a:bodyPr>
          <a:lstStyle/>
          <a:p>
            <a:pPr>
              <a:buNone/>
              <a:defRPr/>
            </a:pPr>
            <a:r>
              <a:rPr lang="fr-FR" sz="3000">
                <a:solidFill>
                  <a:srgbClr val="0B1F3A"/>
                </a:solidFill>
                <a:latin typeface="Segoe UI Semibold"/>
              </a:rPr>
              <a:t>Collecte des données</a:t>
            </a:r>
            <a:endParaRPr/>
          </a:p>
        </p:txBody>
      </p:sp>
      <p:sp>
        <p:nvSpPr>
          <p:cNvPr id="1403332927" name="Filet"/>
          <p:cNvSpPr/>
          <p:nvPr/>
        </p:nvSpPr>
        <p:spPr bwMode="auto">
          <a:xfrm>
            <a:off x="914400" y="1473200"/>
            <a:ext cx="685800" cy="50800"/>
          </a:xfrm>
          <a:prstGeom prst="rect">
            <a:avLst/>
          </a:prstGeom>
          <a:solidFill>
            <a:srgbClr val="2563EB"/>
          </a:solidFill>
          <a:ln>
            <a:noFill/>
          </a:ln>
        </p:spPr>
        <p:txBody>
          <a:bodyPr wrap="square" lIns="0" tIns="0" rIns="0" bIns="0" anchor="t">
            <a:normAutofit/>
          </a:bodyPr>
          <a:lstStyle/>
          <a:p>
            <a:pPr>
              <a:defRPr/>
            </a:pPr>
            <a:endParaRPr/>
          </a:p>
        </p:txBody>
      </p:sp>
      <p:sp>
        <p:nvSpPr>
          <p:cNvPr id="509766285" name="Key"/>
          <p:cNvSpPr txBox="1"/>
          <p:nvPr/>
        </p:nvSpPr>
        <p:spPr bwMode="auto">
          <a:xfrm>
            <a:off x="914400" y="1905000"/>
            <a:ext cx="10363200" cy="381000"/>
          </a:xfrm>
          <a:prstGeom prst="rect">
            <a:avLst/>
          </a:prstGeom>
          <a:noFill/>
          <a:ln>
            <a:noFill/>
          </a:ln>
        </p:spPr>
        <p:txBody>
          <a:bodyPr wrap="square" lIns="0" tIns="0" rIns="0" bIns="0" anchor="t">
            <a:normAutofit/>
          </a:bodyPr>
          <a:lstStyle/>
          <a:p>
            <a:pPr>
              <a:buNone/>
              <a:defRPr/>
            </a:pPr>
            <a:r>
              <a:rPr lang="fr-FR" sz="1800">
                <a:solidFill>
                  <a:srgbClr val="0B1F3A"/>
                </a:solidFill>
                <a:latin typeface="Segoe UI Semibold"/>
              </a:rPr>
              <a:t>Quatre sources publiques et ouvertes alimentent le POC.</a:t>
            </a:r>
            <a:endParaRPr/>
          </a:p>
        </p:txBody>
      </p:sp>
      <p:graphicFrame>
        <p:nvGraphicFramePr>
          <p:cNvPr id="669621462" name="TableSources"/>
          <p:cNvGraphicFramePr>
            <a:graphicFrameLocks xmlns:a="http://schemas.openxmlformats.org/drawingml/2006/main" noGrp="1"/>
          </p:cNvGraphicFramePr>
          <p:nvPr/>
        </p:nvGraphicFramePr>
        <p:xfrm rot="0">
          <a:off x="914400" y="2540000"/>
          <a:ext cx="10363200" cy="3200400"/>
        </p:xfrm>
        <a:graphic>
          <a:graphicData uri="http://schemas.openxmlformats.org/drawingml/2006/table">
            <a:tbl>
              <a:tblPr firstRow="1" firstCol="0" lastRow="0" lastCol="0" bandRow="0" bandCol="0"/>
              <a:tblGrid>
                <a:gridCol w="2667000"/>
                <a:gridCol w="4648200"/>
                <a:gridCol w="3048000"/>
              </a:tblGrid>
              <a:tr h="558800">
                <a:tc>
                  <a:txBody>
                    <a:bodyPr/>
                    <a:p>
                      <a:pPr algn="l">
                        <a:defRPr/>
                      </a:pPr>
                      <a:r>
                        <a:rPr lang="fr-FR" sz="1400" b="1">
                          <a:solidFill>
                            <a:srgbClr val="FFFFFF"/>
                          </a:solidFill>
                          <a:latin typeface="Segoe UI Semibold"/>
                        </a:rPr>
                        <a:t>Source</a:t>
                      </a:r>
                      <a:endParaRPr/>
                    </a:p>
                  </a:txBody>
                  <a:tcPr marL="100584" marR="100584" marT="36576" marB="36576" anchor="ctr">
                    <a:lnL w="0" algn="ctr">
                      <a:noFill/>
                    </a:lnL>
                    <a:lnR w="0" algn="ctr">
                      <a:noFill/>
                    </a:lnR>
                    <a:lnT w="0" algn="ctr">
                      <a:noFill/>
                    </a:lnT>
                    <a:lnB w="6350" algn="ctr">
                      <a:solidFill>
                        <a:srgbClr val="E2E8F0"/>
                      </a:solidFill>
                    </a:lnB>
                    <a:solidFill>
                      <a:srgbClr val="0B1F3A"/>
                    </a:solidFill>
                  </a:tcPr>
                </a:tc>
                <a:tc>
                  <a:txBody>
                    <a:bodyPr/>
                    <a:p>
                      <a:pPr algn="l">
                        <a:defRPr/>
                      </a:pPr>
                      <a:r>
                        <a:rPr lang="fr-FR" sz="1400" b="1">
                          <a:solidFill>
                            <a:srgbClr val="FFFFFF"/>
                          </a:solidFill>
                          <a:latin typeface="Segoe UI Semibold"/>
                        </a:rPr>
                        <a:t>Données collectées</a:t>
                      </a:r>
                      <a:endParaRPr/>
                    </a:p>
                  </a:txBody>
                  <a:tcPr marL="100584" marR="100584" marT="36576" marB="36576" anchor="ctr">
                    <a:lnL w="0" algn="ctr">
                      <a:noFill/>
                    </a:lnL>
                    <a:lnR w="0" algn="ctr">
                      <a:noFill/>
                    </a:lnR>
                    <a:lnT w="0" algn="ctr">
                      <a:noFill/>
                    </a:lnT>
                    <a:lnB w="6350" algn="ctr">
                      <a:solidFill>
                        <a:srgbClr val="E2E8F0"/>
                      </a:solidFill>
                    </a:lnB>
                    <a:solidFill>
                      <a:srgbClr val="0B1F3A"/>
                    </a:solidFill>
                  </a:tcPr>
                </a:tc>
                <a:tc>
                  <a:txBody>
                    <a:bodyPr/>
                    <a:p>
                      <a:pPr algn="l">
                        <a:defRPr/>
                      </a:pPr>
                      <a:r>
                        <a:rPr lang="fr-FR" sz="1400" b="1">
                          <a:solidFill>
                            <a:srgbClr val="FFFFFF"/>
                          </a:solidFill>
                          <a:latin typeface="Segoe UI Semibold"/>
                        </a:rPr>
                        <a:t>Fournisseur</a:t>
                      </a:r>
                      <a:endParaRPr/>
                    </a:p>
                  </a:txBody>
                  <a:tcPr marL="100584" marR="100584" marT="36576" marB="36576" anchor="ctr">
                    <a:lnL w="0" algn="ctr">
                      <a:noFill/>
                    </a:lnL>
                    <a:lnR w="0" algn="ctr">
                      <a:noFill/>
                    </a:lnR>
                    <a:lnT w="0" algn="ctr">
                      <a:noFill/>
                    </a:lnT>
                    <a:lnB w="6350" algn="ctr">
                      <a:solidFill>
                        <a:srgbClr val="E2E8F0"/>
                      </a:solidFill>
                    </a:lnB>
                    <a:solidFill>
                      <a:srgbClr val="0B1F3A"/>
                    </a:solidFill>
                  </a:tcPr>
                </a:tc>
              </a:tr>
              <a:tr h="660400">
                <a:tc>
                  <a:txBody>
                    <a:bodyPr/>
                    <a:p>
                      <a:pPr algn="l">
                        <a:defRPr/>
                      </a:pPr>
                      <a:r>
                        <a:rPr lang="fr-FR" sz="1400">
                          <a:solidFill>
                            <a:srgbClr val="0B1F3A"/>
                          </a:solidFill>
                          <a:latin typeface="Segoe UI Semibold"/>
                        </a:rPr>
                        <a:t>Élections</a:t>
                      </a:r>
                      <a:endParaRPr/>
                    </a:p>
                  </a:txBody>
                  <a:tcPr marL="100584" marR="100584" marT="36576" marB="36576" anchor="ctr">
                    <a:lnL w="0" algn="ctr">
                      <a:noFill/>
                    </a:lnL>
                    <a:lnR w="0" algn="ctr">
                      <a:noFill/>
                    </a:lnR>
                    <a:lnT w="6350" algn="ctr">
                      <a:solidFill>
                        <a:srgbClr val="E2E8F0"/>
                      </a:solidFill>
                    </a:lnT>
                    <a:lnB w="6350" algn="ctr">
                      <a:solidFill>
                        <a:srgbClr val="E2E8F0"/>
                      </a:solidFill>
                    </a:lnB>
                    <a:noFill/>
                  </a:tcPr>
                </a:tc>
                <a:tc>
                  <a:txBody>
                    <a:bodyPr/>
                    <a:p>
                      <a:pPr algn="l">
                        <a:defRPr/>
                      </a:pPr>
                      <a:r>
                        <a:rPr lang="fr-FR" sz="1400">
                          <a:solidFill>
                            <a:srgbClr val="0B1F3A"/>
                          </a:solidFill>
                        </a:rPr>
                        <a:t>Résultats électoraux par canton</a:t>
                      </a:r>
                      <a:endParaRPr/>
                    </a:p>
                  </a:txBody>
                  <a:tcPr marL="100584" marR="100584" marT="36576" marB="36576" anchor="ctr">
                    <a:lnL w="0" algn="ctr">
                      <a:noFill/>
                    </a:lnL>
                    <a:lnR w="0" algn="ctr">
                      <a:noFill/>
                    </a:lnR>
                    <a:lnT w="6350" algn="ctr">
                      <a:solidFill>
                        <a:srgbClr val="E2E8F0"/>
                      </a:solidFill>
                    </a:lnT>
                    <a:lnB w="6350" algn="ctr">
                      <a:solidFill>
                        <a:srgbClr val="E2E8F0"/>
                      </a:solidFill>
                    </a:lnB>
                    <a:noFill/>
                  </a:tcPr>
                </a:tc>
                <a:tc>
                  <a:txBody>
                    <a:bodyPr/>
                    <a:p>
                      <a:pPr algn="l">
                        <a:defRPr/>
                      </a:pPr>
                      <a:r>
                        <a:rPr lang="fr-FR" sz="1400">
                          <a:solidFill>
                            <a:srgbClr val="334155"/>
                          </a:solidFill>
                        </a:rPr>
                        <a:t>data.gouv.fr</a:t>
                      </a:r>
                      <a:endParaRPr/>
                    </a:p>
                  </a:txBody>
                  <a:tcPr marL="100584" marR="100584" marT="36576" marB="36576" anchor="ctr">
                    <a:lnL w="0" algn="ctr">
                      <a:noFill/>
                    </a:lnL>
                    <a:lnR w="0" algn="ctr">
                      <a:noFill/>
                    </a:lnR>
                    <a:lnT w="6350" algn="ctr">
                      <a:solidFill>
                        <a:srgbClr val="E2E8F0"/>
                      </a:solidFill>
                    </a:lnT>
                    <a:lnB w="6350" algn="ctr">
                      <a:solidFill>
                        <a:srgbClr val="334155"/>
                      </a:solidFill>
                    </a:lnB>
                    <a:noFill/>
                  </a:tcPr>
                </a:tc>
              </a:tr>
              <a:tr h="660400">
                <a:tc>
                  <a:txBody>
                    <a:bodyPr/>
                    <a:p>
                      <a:pPr algn="l">
                        <a:defRPr/>
                      </a:pPr>
                      <a:r>
                        <a:rPr lang="fr-FR" sz="1400">
                          <a:solidFill>
                            <a:srgbClr val="0B1F3A"/>
                          </a:solidFill>
                          <a:latin typeface="Segoe UI Semibold"/>
                        </a:rPr>
                        <a:t>Socio-économie</a:t>
                      </a:r>
                      <a:endParaRPr/>
                    </a:p>
                  </a:txBody>
                  <a:tcPr marL="100584" marR="100584" marT="36576" marB="36576" anchor="ctr">
                    <a:lnL w="0" algn="ctr">
                      <a:noFill/>
                    </a:lnL>
                    <a:lnR w="0" algn="ctr">
                      <a:noFill/>
                    </a:lnR>
                    <a:lnT w="6350" algn="ctr">
                      <a:solidFill>
                        <a:srgbClr val="E2E8F0"/>
                      </a:solidFill>
                    </a:lnT>
                    <a:lnB w="6350" algn="ctr">
                      <a:solidFill>
                        <a:srgbClr val="E2E8F0"/>
                      </a:solidFill>
                    </a:lnB>
                    <a:noFill/>
                  </a:tcPr>
                </a:tc>
                <a:tc>
                  <a:txBody>
                    <a:bodyPr/>
                    <a:p>
                      <a:pPr algn="l">
                        <a:defRPr/>
                      </a:pPr>
                      <a:r>
                        <a:rPr lang="fr-FR" sz="1400">
                          <a:solidFill>
                            <a:srgbClr val="0B1F3A"/>
                          </a:solidFill>
                        </a:rPr>
                        <a:t>Démographie, emploi, logement, revenus</a:t>
                      </a:r>
                      <a:endParaRPr/>
                    </a:p>
                  </a:txBody>
                  <a:tcPr marL="100584" marR="100584" marT="36576" marB="36576" anchor="ctr">
                    <a:lnL w="0" algn="ctr">
                      <a:noFill/>
                    </a:lnL>
                    <a:lnR w="0" algn="ctr">
                      <a:noFill/>
                    </a:lnR>
                    <a:lnT w="6350" algn="ctr">
                      <a:solidFill>
                        <a:srgbClr val="E2E8F0"/>
                      </a:solidFill>
                    </a:lnT>
                    <a:lnB w="6350" algn="ctr">
                      <a:solidFill>
                        <a:srgbClr val="E2E8F0"/>
                      </a:solidFill>
                    </a:lnB>
                    <a:noFill/>
                  </a:tcPr>
                </a:tc>
                <a:tc>
                  <a:txBody>
                    <a:bodyPr/>
                    <a:p>
                      <a:pPr algn="l">
                        <a:defRPr/>
                      </a:pPr>
                      <a:r>
                        <a:rPr lang="fr-FR" sz="1400">
                          <a:solidFill>
                            <a:srgbClr val="334155"/>
                          </a:solidFill>
                        </a:rPr>
                        <a:t>INSEE</a:t>
                      </a:r>
                      <a:endParaRPr/>
                    </a:p>
                  </a:txBody>
                  <a:tcPr marL="100584" marR="100584" marT="36576" marB="36576" anchor="ctr">
                    <a:lnL w="0" algn="ctr">
                      <a:noFill/>
                    </a:lnL>
                    <a:lnR w="0" algn="ctr">
                      <a:noFill/>
                    </a:lnR>
                    <a:lnT w="6350" algn="ctr">
                      <a:solidFill>
                        <a:srgbClr val="334155"/>
                      </a:solidFill>
                    </a:lnT>
                    <a:lnB w="6350" algn="ctr">
                      <a:solidFill>
                        <a:srgbClr val="334155"/>
                      </a:solidFill>
                    </a:lnB>
                    <a:noFill/>
                  </a:tcPr>
                </a:tc>
              </a:tr>
              <a:tr h="660400">
                <a:tc>
                  <a:txBody>
                    <a:bodyPr/>
                    <a:p>
                      <a:pPr algn="l">
                        <a:defRPr/>
                      </a:pPr>
                      <a:r>
                        <a:rPr lang="fr-FR" sz="1400">
                          <a:solidFill>
                            <a:srgbClr val="0B1F3A"/>
                          </a:solidFill>
                          <a:latin typeface="Segoe UI Semibold"/>
                        </a:rPr>
                        <a:t>Délinquance</a:t>
                      </a:r>
                      <a:endParaRPr/>
                    </a:p>
                  </a:txBody>
                  <a:tcPr marL="100584" marR="100584" marT="36576" marB="36576" anchor="ctr">
                    <a:lnL w="0" algn="ctr">
                      <a:noFill/>
                    </a:lnL>
                    <a:lnR w="0" algn="ctr">
                      <a:noFill/>
                    </a:lnR>
                    <a:lnT w="6350" algn="ctr">
                      <a:solidFill>
                        <a:srgbClr val="E2E8F0"/>
                      </a:solidFill>
                    </a:lnT>
                    <a:lnB w="6350" algn="ctr">
                      <a:solidFill>
                        <a:srgbClr val="E2E8F0"/>
                      </a:solidFill>
                    </a:lnB>
                    <a:noFill/>
                  </a:tcPr>
                </a:tc>
                <a:tc>
                  <a:txBody>
                    <a:bodyPr/>
                    <a:p>
                      <a:pPr algn="l">
                        <a:defRPr/>
                      </a:pPr>
                      <a:r>
                        <a:rPr lang="fr-FR" sz="1400">
                          <a:solidFill>
                            <a:srgbClr val="0B1F3A"/>
                          </a:solidFill>
                        </a:rPr>
                        <a:t>Faits constatés par département</a:t>
                      </a:r>
                      <a:endParaRPr/>
                    </a:p>
                  </a:txBody>
                  <a:tcPr marL="100584" marR="100584" marT="36576" marB="36576" anchor="ctr">
                    <a:lnL w="0" algn="ctr">
                      <a:noFill/>
                    </a:lnL>
                    <a:lnR w="0" algn="ctr">
                      <a:noFill/>
                    </a:lnR>
                    <a:lnT w="6350" algn="ctr">
                      <a:solidFill>
                        <a:srgbClr val="E2E8F0"/>
                      </a:solidFill>
                    </a:lnT>
                    <a:lnB w="6350" algn="ctr">
                      <a:solidFill>
                        <a:srgbClr val="E2E8F0"/>
                      </a:solidFill>
                    </a:lnB>
                    <a:noFill/>
                  </a:tcPr>
                </a:tc>
                <a:tc>
                  <a:txBody>
                    <a:bodyPr/>
                    <a:p>
                      <a:pPr algn="l">
                        <a:defRPr/>
                      </a:pPr>
                      <a:r>
                        <a:rPr lang="fr-FR" sz="1400">
                          <a:solidFill>
                            <a:srgbClr val="334155"/>
                          </a:solidFill>
                        </a:rPr>
                        <a:t>Ministère de l'Intérieur</a:t>
                      </a:r>
                      <a:endParaRPr/>
                    </a:p>
                  </a:txBody>
                  <a:tcPr marL="100584" marR="100584" marT="36576" marB="36576" anchor="ctr">
                    <a:lnL w="0" algn="ctr">
                      <a:noFill/>
                    </a:lnL>
                    <a:lnR w="0" algn="ctr">
                      <a:noFill/>
                    </a:lnR>
                    <a:lnT w="6350" algn="ctr">
                      <a:solidFill>
                        <a:srgbClr val="334155"/>
                      </a:solidFill>
                    </a:lnT>
                    <a:lnB w="6350" algn="ctr">
                      <a:solidFill>
                        <a:srgbClr val="334155"/>
                      </a:solidFill>
                    </a:lnB>
                    <a:noFill/>
                  </a:tcPr>
                </a:tc>
              </a:tr>
              <a:tr h="660400">
                <a:tc>
                  <a:txBody>
                    <a:bodyPr/>
                    <a:p>
                      <a:pPr algn="l">
                        <a:defRPr/>
                      </a:pPr>
                      <a:r>
                        <a:rPr lang="fr-FR" sz="1400">
                          <a:solidFill>
                            <a:srgbClr val="0B1F3A"/>
                          </a:solidFill>
                          <a:latin typeface="Segoe UI Semibold"/>
                        </a:rPr>
                        <a:t>Entreprises</a:t>
                      </a:r>
                      <a:endParaRPr/>
                    </a:p>
                  </a:txBody>
                  <a:tcPr marL="100584" marR="100584" marT="36576" marB="36576" anchor="ctr">
                    <a:lnL w="0" algn="ctr">
                      <a:noFill/>
                    </a:lnL>
                    <a:lnR w="0" algn="ctr">
                      <a:noFill/>
                    </a:lnR>
                    <a:lnT w="6350" algn="ctr">
                      <a:solidFill>
                        <a:srgbClr val="E2E8F0"/>
                      </a:solidFill>
                    </a:lnT>
                    <a:lnB w="6350" algn="ctr">
                      <a:solidFill>
                        <a:srgbClr val="E2E8F0"/>
                      </a:solidFill>
                    </a:lnB>
                    <a:noFill/>
                  </a:tcPr>
                </a:tc>
                <a:tc>
                  <a:txBody>
                    <a:bodyPr/>
                    <a:p>
                      <a:pPr algn="l">
                        <a:defRPr/>
                      </a:pPr>
                      <a:r>
                        <a:rPr lang="fr-FR" sz="1400">
                          <a:solidFill>
                            <a:srgbClr val="0B1F3A"/>
                          </a:solidFill>
                        </a:rPr>
                        <a:t>Créations &amp; défaillances</a:t>
                      </a:r>
                      <a:endParaRPr/>
                    </a:p>
                  </a:txBody>
                  <a:tcPr marL="100584" marR="100584" marT="36576" marB="36576" anchor="ctr">
                    <a:lnL w="0" algn="ctr">
                      <a:noFill/>
                    </a:lnL>
                    <a:lnR w="0" algn="ctr">
                      <a:noFill/>
                    </a:lnR>
                    <a:lnT w="6350" algn="ctr">
                      <a:solidFill>
                        <a:srgbClr val="E2E8F0"/>
                      </a:solidFill>
                    </a:lnT>
                    <a:lnB w="6350" algn="ctr">
                      <a:solidFill>
                        <a:srgbClr val="E2E8F0"/>
                      </a:solidFill>
                    </a:lnB>
                    <a:noFill/>
                  </a:tcPr>
                </a:tc>
                <a:tc>
                  <a:txBody>
                    <a:bodyPr/>
                    <a:p>
                      <a:pPr algn="l">
                        <a:defRPr/>
                      </a:pPr>
                      <a:r>
                        <a:rPr lang="fr-FR" sz="1400">
                          <a:solidFill>
                            <a:srgbClr val="334155"/>
                          </a:solidFill>
                        </a:rPr>
                        <a:t>INSEE / data.gouv.fr</a:t>
                      </a:r>
                      <a:endParaRPr/>
                    </a:p>
                  </a:txBody>
                  <a:tcPr marL="100584" marR="100584" marT="36576" marB="36576" anchor="ctr">
                    <a:lnL w="0" algn="ctr">
                      <a:noFill/>
                    </a:lnL>
                    <a:lnR w="0" algn="ctr">
                      <a:noFill/>
                    </a:lnR>
                    <a:lnT w="6350" algn="ctr">
                      <a:solidFill>
                        <a:srgbClr val="334155"/>
                      </a:solidFill>
                    </a:lnT>
                    <a:lnB w="6350" algn="ctr">
                      <a:solidFill>
                        <a:srgbClr val="334155"/>
                      </a:solidFill>
                    </a:lnB>
                    <a:noFill/>
                  </a:tcPr>
                </a:tc>
              </a:tr>
            </a:tbl>
          </a:graphicData>
        </a:graphic>
      </p:graphicFrame>
      <p:sp>
        <p:nvSpPr>
          <p:cNvPr id="1168736968" name="Page"/>
          <p:cNvSpPr txBox="1"/>
          <p:nvPr/>
        </p:nvSpPr>
        <p:spPr bwMode="auto">
          <a:xfrm>
            <a:off x="10515600" y="6451600"/>
            <a:ext cx="914400" cy="254000"/>
          </a:xfrm>
          <a:prstGeom prst="rect">
            <a:avLst/>
          </a:prstGeom>
          <a:noFill/>
          <a:ln>
            <a:noFill/>
          </a:ln>
        </p:spPr>
        <p:txBody>
          <a:bodyPr wrap="square" lIns="0" tIns="0" rIns="0" bIns="0" anchor="t">
            <a:normAutofit/>
          </a:bodyPr>
          <a:lstStyle/>
          <a:p>
            <a:pPr algn="r">
              <a:buNone/>
              <a:defRPr/>
            </a:pPr>
            <a:r>
              <a:rPr lang="fr-FR" sz="1400">
                <a:solidFill>
                  <a:srgbClr val="475569"/>
                </a:solidFill>
              </a:rPr>
              <a:t>12</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med" p14:dur="500" advClick="1">
        <p:fade thruBlk="0"/>
      </p:transition>
    </mc:Choice>
    <mc:Fallback>
      <p:transition spd="med" advClick="1">
        <p:fade thruBlk="0"/>
      </p:transition>
    </mc:Fallback>
  </mc:AlternateContent>
  <p:timing>
    <p:tnLst>
      <p:par>
        <p:cTn id="1" dur="indefinite" restart="never" nodeType="tmRoot">
          <p:childTnLst>
            <p:par>
              <p:cTn id="2" fill="hold">
                <p:stCondLst>
                  <p:cond delay="0"/>
                </p:stCondLst>
                <p:childTnLst>
                  <p:par>
                    <p:cTn id="3" presetID="10" presetClass="entr" presetSubtype="0" fill="hold" grpId="0" nodeType="afterEffect">
                      <p:stCondLst>
                        <p:cond delay="500"/>
                      </p:stCondLst>
                      <p:childTnLst>
                        <p:set>
                          <p:cBhvr>
                            <p:cTn id="4" dur="1" fill="hold">
                              <p:stCondLst>
                                <p:cond delay="0"/>
                              </p:stCondLst>
                            </p:cTn>
                            <p:tgtEl>
                              <p:spTgt spid="486272790"/>
                            </p:tgtEl>
                            <p:attrNameLst>
                              <p:attrName>style.visibility</p:attrName>
                            </p:attrNameLst>
                          </p:cBhvr>
                          <p:to>
                            <p:strVal val="visible"/>
                          </p:to>
                        </p:set>
                        <p:animEffect transition="in" filter="fade">
                          <p:cBhvr>
                            <p:cTn id="5" dur="400"/>
                            <p:tgtEl>
                              <p:spTgt spid="486272790"/>
                            </p:tgtEl>
                          </p:cBhvr>
                        </p:animEffect>
                        <p:anim calcmode="lin" valueType="num">
                          <p:cBhvr additive="base">
                            <p:cTn id="6" dur="400" fill="hold"/>
                            <p:tgtEl>
                              <p:spTgt spid="486272790"/>
                            </p:tgtEl>
                            <p:attrNameLst>
                              <p:attrName>ppt_y</p:attrName>
                            </p:attrNameLst>
                          </p:cBhvr>
                          <p:tavLst>
                            <p:tav tm="0">
                              <p:val>
                                <p:fltVal val="0.045999999999999999"/>
                              </p:val>
                            </p:tav>
                            <p:tav tm="100000">
                              <p:val>
                                <p:fltVal val="0"/>
                              </p:val>
                            </p:tav>
                          </p:tavLst>
                        </p:anim>
                      </p:childTnLst>
                    </p:cTn>
                  </p:par>
                  <p:par>
                    <p:cTn id="7" presetID="10" presetClass="entr" presetSubtype="0" fill="hold" grpId="0" nodeType="afterEffect">
                      <p:stCondLst>
                        <p:cond delay="150"/>
                      </p:stCondLst>
                      <p:childTnLst>
                        <p:set>
                          <p:cBhvr>
                            <p:cTn id="8" dur="1" fill="hold">
                              <p:stCondLst>
                                <p:cond delay="0"/>
                              </p:stCondLst>
                            </p:cTn>
                            <p:tgtEl>
                              <p:spTgt spid="655573878"/>
                            </p:tgtEl>
                            <p:attrNameLst>
                              <p:attrName>style.visibility</p:attrName>
                            </p:attrNameLst>
                          </p:cBhvr>
                          <p:to>
                            <p:strVal val="visible"/>
                          </p:to>
                        </p:set>
                        <p:animEffect transition="in" filter="fade">
                          <p:cBhvr>
                            <p:cTn id="9" dur="400"/>
                            <p:tgtEl>
                              <p:spTgt spid="655573878"/>
                            </p:tgtEl>
                          </p:cBhvr>
                        </p:animEffect>
                        <p:anim calcmode="lin" valueType="num">
                          <p:cBhvr additive="base">
                            <p:cTn id="10" dur="400" fill="hold"/>
                            <p:tgtEl>
                              <p:spTgt spid="655573878"/>
                            </p:tgtEl>
                            <p:attrNameLst>
                              <p:attrName>ppt_y</p:attrName>
                            </p:attrNameLst>
                          </p:cBhvr>
                          <p:tavLst>
                            <p:tav tm="0">
                              <p:val>
                                <p:fltVal val="0.045999999999999999"/>
                              </p:val>
                            </p:tav>
                            <p:tav tm="100000">
                              <p:val>
                                <p:fltVal val="0"/>
                              </p:val>
                            </p:tav>
                          </p:tavLst>
                        </p:anim>
                      </p:childTnLst>
                    </p:cTn>
                  </p:par>
                  <p:par>
                    <p:cTn id="11" presetID="10" presetClass="entr" presetSubtype="0" fill="hold" grpId="0" nodeType="afterEffect">
                      <p:stCondLst>
                        <p:cond delay="150"/>
                      </p:stCondLst>
                      <p:childTnLst>
                        <p:set>
                          <p:cBhvr>
                            <p:cTn id="12" dur="1" fill="hold">
                              <p:stCondLst>
                                <p:cond delay="0"/>
                              </p:stCondLst>
                            </p:cTn>
                            <p:tgtEl>
                              <p:spTgt spid="1403332927"/>
                            </p:tgtEl>
                            <p:attrNameLst>
                              <p:attrName>style.visibility</p:attrName>
                            </p:attrNameLst>
                          </p:cBhvr>
                          <p:to>
                            <p:strVal val="visible"/>
                          </p:to>
                        </p:set>
                        <p:animEffect transition="in" filter="fade">
                          <p:cBhvr>
                            <p:cTn id="13" dur="400"/>
                            <p:tgtEl>
                              <p:spTgt spid="1403332927"/>
                            </p:tgtEl>
                          </p:cBhvr>
                        </p:animEffect>
                        <p:anim calcmode="lin" valueType="num">
                          <p:cBhvr additive="base">
                            <p:cTn id="14" dur="400" fill="hold"/>
                            <p:tgtEl>
                              <p:spTgt spid="1403332927"/>
                            </p:tgtEl>
                            <p:attrNameLst>
                              <p:attrName>ppt_y</p:attrName>
                            </p:attrNameLst>
                          </p:cBhvr>
                          <p:tavLst>
                            <p:tav tm="0">
                              <p:val>
                                <p:fltVal val="0.045999999999999999"/>
                              </p:val>
                            </p:tav>
                            <p:tav tm="100000">
                              <p:val>
                                <p:fltVal val="0"/>
                              </p:val>
                            </p:tav>
                          </p:tavLst>
                        </p:anim>
                      </p:childTnLst>
                    </p:cTn>
                  </p:par>
                  <p:par>
                    <p:cTn id="15" presetID="10" presetClass="entr" presetSubtype="0" fill="hold" grpId="0" nodeType="afterEffect">
                      <p:stCondLst>
                        <p:cond delay="150"/>
                      </p:stCondLst>
                      <p:childTnLst>
                        <p:set>
                          <p:cBhvr>
                            <p:cTn id="16" dur="1" fill="hold">
                              <p:stCondLst>
                                <p:cond delay="0"/>
                              </p:stCondLst>
                            </p:cTn>
                            <p:tgtEl>
                              <p:spTgt spid="509766285"/>
                            </p:tgtEl>
                            <p:attrNameLst>
                              <p:attrName>style.visibility</p:attrName>
                            </p:attrNameLst>
                          </p:cBhvr>
                          <p:to>
                            <p:strVal val="visible"/>
                          </p:to>
                        </p:set>
                        <p:animEffect transition="in" filter="fade">
                          <p:cBhvr>
                            <p:cTn id="17" dur="400"/>
                            <p:tgtEl>
                              <p:spTgt spid="509766285"/>
                            </p:tgtEl>
                          </p:cBhvr>
                        </p:animEffect>
                        <p:anim calcmode="lin" valueType="num">
                          <p:cBhvr additive="base">
                            <p:cTn id="18" dur="400" fill="hold"/>
                            <p:tgtEl>
                              <p:spTgt spid="509766285"/>
                            </p:tgtEl>
                            <p:attrNameLst>
                              <p:attrName>ppt_y</p:attrName>
                            </p:attrNameLst>
                          </p:cBhvr>
                          <p:tavLst>
                            <p:tav tm="0">
                              <p:val>
                                <p:fltVal val="0.045999999999999999"/>
                              </p:val>
                            </p:tav>
                            <p:tav tm="100000">
                              <p:val>
                                <p:fltVal val="0"/>
                              </p:val>
                            </p:tav>
                          </p:tavLst>
                        </p:anim>
                      </p:childTnLst>
                    </p:cTn>
                  </p:par>
                  <p:par>
                    <p:cTn id="19" presetID="10" presetClass="entr" presetSubtype="0" fill="hold" grpId="0" nodeType="afterEffect">
                      <p:stCondLst>
                        <p:cond delay="150"/>
                      </p:stCondLst>
                      <p:childTnLst>
                        <p:set>
                          <p:cBhvr>
                            <p:cTn id="20" dur="1" fill="hold">
                              <p:stCondLst>
                                <p:cond delay="0"/>
                              </p:stCondLst>
                            </p:cTn>
                            <p:tgtEl>
                              <p:spTgt spid="669621462"/>
                            </p:tgtEl>
                            <p:attrNameLst>
                              <p:attrName>style.visibility</p:attrName>
                            </p:attrNameLst>
                          </p:cBhvr>
                          <p:to>
                            <p:strVal val="visible"/>
                          </p:to>
                        </p:set>
                        <p:animEffect transition="in" filter="fade">
                          <p:cBhvr>
                            <p:cTn id="21" dur="400"/>
                            <p:tgtEl>
                              <p:spTgt spid="669621462"/>
                            </p:tgtEl>
                          </p:cBhvr>
                        </p:animEffect>
                        <p:anim calcmode="lin" valueType="num">
                          <p:cBhvr additive="base">
                            <p:cTn id="22" dur="400" fill="hold"/>
                            <p:tgtEl>
                              <p:spTgt spid="669621462"/>
                            </p:tgtEl>
                            <p:attrNameLst>
                              <p:attrName>ppt_y</p:attrName>
                            </p:attrNameLst>
                          </p:cBhvr>
                          <p:tavLst>
                            <p:tav tm="0">
                              <p:val>
                                <p:fltVal val="0.045999999999999999"/>
                              </p:val>
                            </p:tav>
                            <p:tav tm="100000">
                              <p:val>
                                <p:fltVal val="0"/>
                              </p:val>
                            </p:tav>
                          </p:tavLst>
                        </p:anim>
                      </p:childTnLst>
                    </p:cTn>
                  </p:par>
                  <p:par>
                    <p:cTn id="23" presetID="10" presetClass="entr" presetSubtype="0" fill="hold" grpId="0" nodeType="afterEffect">
                      <p:stCondLst>
                        <p:cond delay="150"/>
                      </p:stCondLst>
                      <p:childTnLst>
                        <p:set>
                          <p:cBhvr>
                            <p:cTn id="24" dur="1" fill="hold">
                              <p:stCondLst>
                                <p:cond delay="0"/>
                              </p:stCondLst>
                            </p:cTn>
                            <p:tgtEl>
                              <p:spTgt spid="1168736968"/>
                            </p:tgtEl>
                            <p:attrNameLst>
                              <p:attrName>style.visibility</p:attrName>
                            </p:attrNameLst>
                          </p:cBhvr>
                          <p:to>
                            <p:strVal val="visible"/>
                          </p:to>
                        </p:set>
                        <p:animEffect transition="in" filter="fade">
                          <p:cBhvr>
                            <p:cTn id="25" dur="400"/>
                            <p:tgtEl>
                              <p:spTgt spid="1168736968"/>
                            </p:tgtEl>
                          </p:cBhvr>
                        </p:animEffect>
                        <p:anim calcmode="lin" valueType="num">
                          <p:cBhvr additive="base">
                            <p:cTn id="26" dur="400" fill="hold"/>
                            <p:tgtEl>
                              <p:spTgt spid="1168736968"/>
                            </p:tgtEl>
                            <p:attrNameLst>
                              <p:attrName>ppt_y</p:attrName>
                            </p:attrNameLst>
                          </p:cBhvr>
                          <p:tavLst>
                            <p:tav tm="0">
                              <p:val>
                                <p:fltVal val="0.045999999999999999"/>
                              </p:val>
                            </p:tav>
                            <p:tav tm="100000">
                              <p:val>
                                <p:fltVal val="0"/>
                              </p:val>
                            </p:tav>
                          </p:tavLst>
                        </p:anim>
                      </p:childTnLst>
                    </p:cTn>
                  </p:par>
                </p:childTnLst>
              </p:cTn>
            </p:par>
          </p:childTnLst>
        </p:cTn>
      </p:par>
    </p:tnLst>
    <p:bldLst>
      <p:bldP spid="486272790" grpId="0" animBg="1"/>
      <p:bldP spid="655573878" grpId="0" animBg="1"/>
      <p:bldP spid="1403332927" grpId="0" animBg="1"/>
      <p:bldP spid="509766285" grpId="0" animBg="1"/>
      <p:bldP spid="669621462" grpId="0" animBg="1"/>
      <p:bldP spid="1168736968" grpId="0" animBg="1"/>
    </p:bldLst>
  </p:timing>
</p:sld>
</file>

<file path=ppt/slides/slide1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319032289" name="Eyebrow"/>
          <p:cNvSpPr txBox="1"/>
          <p:nvPr/>
        </p:nvSpPr>
        <p:spPr bwMode="auto">
          <a:xfrm>
            <a:off x="914400" y="584200"/>
            <a:ext cx="9144000" cy="254000"/>
          </a:xfrm>
          <a:prstGeom prst="rect">
            <a:avLst/>
          </a:prstGeom>
          <a:noFill/>
          <a:ln>
            <a:noFill/>
          </a:ln>
        </p:spPr>
        <p:txBody>
          <a:bodyPr wrap="square" lIns="0" tIns="0" rIns="0" bIns="0" anchor="t">
            <a:normAutofit/>
          </a:bodyPr>
          <a:lstStyle/>
          <a:p>
            <a:pPr>
              <a:buNone/>
              <a:defRPr/>
            </a:pPr>
            <a:r>
              <a:rPr lang="fr-FR" sz="1400" b="1" spc="240">
                <a:solidFill>
                  <a:srgbClr val="64748B"/>
                </a:solidFill>
              </a:rPr>
              <a:t>04 · RÉALISATION</a:t>
            </a:r>
            <a:endParaRPr/>
          </a:p>
        </p:txBody>
      </p:sp>
      <p:sp>
        <p:nvSpPr>
          <p:cNvPr id="1987947743" name="Titre"/>
          <p:cNvSpPr txBox="1"/>
          <p:nvPr/>
        </p:nvSpPr>
        <p:spPr bwMode="auto">
          <a:xfrm>
            <a:off x="914400" y="863599"/>
            <a:ext cx="10363200" cy="508000"/>
          </a:xfrm>
          <a:prstGeom prst="rect">
            <a:avLst/>
          </a:prstGeom>
          <a:noFill/>
          <a:ln>
            <a:noFill/>
          </a:ln>
        </p:spPr>
        <p:txBody>
          <a:bodyPr wrap="square" lIns="0" tIns="0" rIns="0" bIns="0" anchor="t">
            <a:normAutofit/>
          </a:bodyPr>
          <a:lstStyle/>
          <a:p>
            <a:pPr>
              <a:buNone/>
              <a:defRPr/>
            </a:pPr>
            <a:r>
              <a:rPr lang="fr-FR" sz="3000">
                <a:solidFill>
                  <a:srgbClr val="0B1F3A"/>
                </a:solidFill>
                <a:latin typeface="Segoe UI Semibold"/>
              </a:rPr>
              <a:t>Jeu de données au départ (brut)</a:t>
            </a:r>
            <a:endParaRPr/>
          </a:p>
        </p:txBody>
      </p:sp>
      <p:sp>
        <p:nvSpPr>
          <p:cNvPr id="1256282033" name="Filet"/>
          <p:cNvSpPr/>
          <p:nvPr/>
        </p:nvSpPr>
        <p:spPr bwMode="auto">
          <a:xfrm>
            <a:off x="914400" y="1473200"/>
            <a:ext cx="685800" cy="50800"/>
          </a:xfrm>
          <a:prstGeom prst="rect">
            <a:avLst/>
          </a:prstGeom>
          <a:solidFill>
            <a:srgbClr val="2563EB"/>
          </a:solidFill>
          <a:ln>
            <a:noFill/>
          </a:ln>
        </p:spPr>
        <p:txBody>
          <a:bodyPr wrap="square" lIns="0" tIns="0" rIns="0" bIns="0" anchor="t">
            <a:normAutofit/>
          </a:bodyPr>
          <a:lstStyle/>
          <a:p>
            <a:pPr>
              <a:defRPr/>
            </a:pPr>
            <a:endParaRPr/>
          </a:p>
        </p:txBody>
      </p:sp>
      <p:sp>
        <p:nvSpPr>
          <p:cNvPr id="1661474427" name="chip"/>
          <p:cNvSpPr/>
          <p:nvPr/>
        </p:nvSpPr>
        <p:spPr bwMode="auto">
          <a:xfrm>
            <a:off x="7188200" y="1981200"/>
            <a:ext cx="1778000" cy="381000"/>
          </a:xfrm>
          <a:prstGeom prst="roundRect">
            <a:avLst>
              <a:gd name="adj" fmla="val 50000"/>
            </a:avLst>
          </a:prstGeom>
          <a:solidFill>
            <a:srgbClr val="E2E8F0"/>
          </a:solidFill>
          <a:ln>
            <a:noFill/>
          </a:ln>
        </p:spPr>
        <p:txBody>
          <a:bodyPr wrap="square" lIns="101600" tIns="101600" rIns="101600" bIns="101600" anchor="ctr">
            <a:normAutofit/>
          </a:bodyPr>
          <a:lstStyle/>
          <a:p>
            <a:pPr algn="ctr">
              <a:buNone/>
              <a:defRPr/>
            </a:pPr>
            <a:r>
              <a:rPr lang="fr-FR" sz="1400" b="1" spc="120">
                <a:solidFill>
                  <a:srgbClr val="334155"/>
                </a:solidFill>
                <a:latin typeface="Segoe UI Semibold"/>
              </a:rPr>
              <a:t>ÉTAT : BRUT</a:t>
            </a:r>
            <a:endParaRPr/>
          </a:p>
        </p:txBody>
      </p:sp>
      <p:sp>
        <p:nvSpPr>
          <p:cNvPr id="411883283" name="Bullets"/>
          <p:cNvSpPr txBox="1"/>
          <p:nvPr/>
        </p:nvSpPr>
        <p:spPr bwMode="auto">
          <a:xfrm>
            <a:off x="7188200" y="2616200"/>
            <a:ext cx="4089400" cy="3048000"/>
          </a:xfrm>
          <a:prstGeom prst="rect">
            <a:avLst/>
          </a:prstGeom>
          <a:noFill/>
          <a:ln>
            <a:noFill/>
          </a:ln>
        </p:spPr>
        <p:txBody>
          <a:bodyPr wrap="square" lIns="0" tIns="0" rIns="0" bIns="0" anchor="t">
            <a:normAutofit/>
          </a:bodyPr>
          <a:lstStyle/>
          <a:p>
            <a:pPr marL="285750" indent="-285750">
              <a:lnSpc>
                <a:spcPts val="2000"/>
              </a:lnSpc>
              <a:spcBef>
                <a:spcPts val="700"/>
              </a:spcBef>
              <a:buClr>
                <a:srgbClr val="2563EB"/>
              </a:buClr>
              <a:buFont typeface="Arial"/>
              <a:buChar char="•"/>
              <a:defRPr/>
            </a:pPr>
            <a:r>
              <a:rPr lang="fr-FR" sz="1600">
                <a:solidFill>
                  <a:srgbClr val="0B1F3A"/>
                </a:solidFill>
              </a:rPr>
              <a:t>Résultats des élections 2017, à la maille canton.</a:t>
            </a:r>
            <a:endParaRPr/>
          </a:p>
          <a:p>
            <a:pPr marL="285750" indent="-285750">
              <a:lnSpc>
                <a:spcPts val="2000"/>
              </a:lnSpc>
              <a:spcBef>
                <a:spcPts val="700"/>
              </a:spcBef>
              <a:buClr>
                <a:srgbClr val="2563EB"/>
              </a:buClr>
              <a:buFont typeface="Arial"/>
              <a:buChar char="•"/>
              <a:defRPr/>
            </a:pPr>
            <a:r>
              <a:rPr lang="fr-FR" sz="1600">
                <a:solidFill>
                  <a:srgbClr val="0B1F3A"/>
                </a:solidFill>
              </a:rPr>
              <a:t>Voix réelles par nuance politique.</a:t>
            </a:r>
            <a:endParaRPr/>
          </a:p>
          <a:p>
            <a:pPr marL="285750" indent="-285750">
              <a:lnSpc>
                <a:spcPts val="2000"/>
              </a:lnSpc>
              <a:spcBef>
                <a:spcPts val="700"/>
              </a:spcBef>
              <a:buClr>
                <a:srgbClr val="2563EB"/>
              </a:buClr>
              <a:buFont typeface="Arial"/>
              <a:buChar char="•"/>
              <a:defRPr/>
            </a:pPr>
            <a:r>
              <a:rPr lang="fr-FR" sz="1600">
                <a:solidFill>
                  <a:srgbClr val="0B1F3A"/>
                </a:solidFill>
              </a:rPr>
              <a:t>Données brutes : hétérogènes, valeurs manquantes, non normalisées.</a:t>
            </a:r>
            <a:endParaRPr/>
          </a:p>
        </p:txBody>
      </p:sp>
      <p:sp>
        <p:nvSpPr>
          <p:cNvPr id="2073255499" name="Page"/>
          <p:cNvSpPr txBox="1"/>
          <p:nvPr/>
        </p:nvSpPr>
        <p:spPr bwMode="auto">
          <a:xfrm>
            <a:off x="10515600" y="6451600"/>
            <a:ext cx="914400" cy="254000"/>
          </a:xfrm>
          <a:prstGeom prst="rect">
            <a:avLst/>
          </a:prstGeom>
          <a:noFill/>
          <a:ln>
            <a:noFill/>
          </a:ln>
        </p:spPr>
        <p:txBody>
          <a:bodyPr wrap="square" lIns="0" tIns="0" rIns="0" bIns="0" anchor="t">
            <a:normAutofit/>
          </a:bodyPr>
          <a:lstStyle/>
          <a:p>
            <a:pPr algn="r">
              <a:buNone/>
              <a:defRPr/>
            </a:pPr>
            <a:r>
              <a:rPr lang="fr-FR" sz="1400">
                <a:solidFill>
                  <a:srgbClr val="64748B"/>
                </a:solidFill>
              </a:rPr>
              <a:t>13</a:t>
            </a:r>
            <a:endParaRPr/>
          </a:p>
        </p:txBody>
      </p:sp>
      <p:pic>
        <p:nvPicPr>
          <p:cNvPr id="804063104" name=""/>
          <p:cNvPicPr>
            <a:picLocks noChangeAspect="1"/>
          </p:cNvPicPr>
          <p:nvPr/>
        </p:nvPicPr>
        <p:blipFill rotWithShape="1">
          <a:blip r:embed="rId3"/>
          <a:stretch/>
        </p:blipFill>
        <p:spPr bwMode="auto">
          <a:xfrm flipH="0" flipV="0">
            <a:off x="292882" y="1876816"/>
            <a:ext cx="6686550" cy="3890375"/>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med" p14:dur="500" advClick="1">
        <p:fade thruBlk="0"/>
      </p:transition>
    </mc:Choice>
    <mc:Fallback>
      <p:transition spd="med" advClick="1">
        <p:fade thruBlk="0"/>
      </p:transition>
    </mc:Fallback>
  </mc:AlternateContent>
  <p:timing>
    <p:tnLst>
      <p:par>
        <p:cTn id="1" dur="indefinite" restart="never" nodeType="tmRoot">
          <p:childTnLst>
            <p:par>
              <p:cTn id="2" fill="hold">
                <p:stCondLst>
                  <p:cond delay="0"/>
                </p:stCondLst>
                <p:childTnLst>
                  <p:par>
                    <p:cTn id="3" presetID="10" presetClass="entr" presetSubtype="0" fill="hold" grpId="0" nodeType="afterEffect">
                      <p:stCondLst>
                        <p:cond delay="500"/>
                      </p:stCondLst>
                      <p:childTnLst>
                        <p:set>
                          <p:cBhvr>
                            <p:cTn id="4" dur="1" fill="hold">
                              <p:stCondLst>
                                <p:cond delay="0"/>
                              </p:stCondLst>
                            </p:cTn>
                            <p:tgtEl>
                              <p:spTgt spid="319032289"/>
                            </p:tgtEl>
                            <p:attrNameLst>
                              <p:attrName>style.visibility</p:attrName>
                            </p:attrNameLst>
                          </p:cBhvr>
                          <p:to>
                            <p:strVal val="visible"/>
                          </p:to>
                        </p:set>
                        <p:animEffect transition="in" filter="fade">
                          <p:cBhvr>
                            <p:cTn id="5" dur="400"/>
                            <p:tgtEl>
                              <p:spTgt spid="319032289"/>
                            </p:tgtEl>
                          </p:cBhvr>
                        </p:animEffect>
                        <p:anim calcmode="lin" valueType="num">
                          <p:cBhvr additive="base">
                            <p:cTn id="6" dur="400" fill="hold"/>
                            <p:tgtEl>
                              <p:spTgt spid="319032289"/>
                            </p:tgtEl>
                            <p:attrNameLst>
                              <p:attrName>ppt_y</p:attrName>
                            </p:attrNameLst>
                          </p:cBhvr>
                          <p:tavLst>
                            <p:tav tm="0">
                              <p:val>
                                <p:fltVal val="0.045999999999999999"/>
                              </p:val>
                            </p:tav>
                            <p:tav tm="100000">
                              <p:val>
                                <p:fltVal val="0"/>
                              </p:val>
                            </p:tav>
                          </p:tavLst>
                        </p:anim>
                      </p:childTnLst>
                    </p:cTn>
                  </p:par>
                  <p:par>
                    <p:cTn id="7" presetID="10" presetClass="entr" presetSubtype="0" fill="hold" grpId="0" nodeType="afterEffect">
                      <p:stCondLst>
                        <p:cond delay="150"/>
                      </p:stCondLst>
                      <p:childTnLst>
                        <p:set>
                          <p:cBhvr>
                            <p:cTn id="8" dur="1" fill="hold">
                              <p:stCondLst>
                                <p:cond delay="0"/>
                              </p:stCondLst>
                            </p:cTn>
                            <p:tgtEl>
                              <p:spTgt spid="1987947743"/>
                            </p:tgtEl>
                            <p:attrNameLst>
                              <p:attrName>style.visibility</p:attrName>
                            </p:attrNameLst>
                          </p:cBhvr>
                          <p:to>
                            <p:strVal val="visible"/>
                          </p:to>
                        </p:set>
                        <p:animEffect transition="in" filter="fade">
                          <p:cBhvr>
                            <p:cTn id="9" dur="400"/>
                            <p:tgtEl>
                              <p:spTgt spid="1987947743"/>
                            </p:tgtEl>
                          </p:cBhvr>
                        </p:animEffect>
                        <p:anim calcmode="lin" valueType="num">
                          <p:cBhvr additive="base">
                            <p:cTn id="10" dur="400" fill="hold"/>
                            <p:tgtEl>
                              <p:spTgt spid="1987947743"/>
                            </p:tgtEl>
                            <p:attrNameLst>
                              <p:attrName>ppt_y</p:attrName>
                            </p:attrNameLst>
                          </p:cBhvr>
                          <p:tavLst>
                            <p:tav tm="0">
                              <p:val>
                                <p:fltVal val="0.045999999999999999"/>
                              </p:val>
                            </p:tav>
                            <p:tav tm="100000">
                              <p:val>
                                <p:fltVal val="0"/>
                              </p:val>
                            </p:tav>
                          </p:tavLst>
                        </p:anim>
                      </p:childTnLst>
                    </p:cTn>
                  </p:par>
                  <p:par>
                    <p:cTn id="11" presetID="10" presetClass="entr" presetSubtype="0" fill="hold" grpId="0" nodeType="afterEffect">
                      <p:stCondLst>
                        <p:cond delay="150"/>
                      </p:stCondLst>
                      <p:childTnLst>
                        <p:set>
                          <p:cBhvr>
                            <p:cTn id="12" dur="1" fill="hold">
                              <p:stCondLst>
                                <p:cond delay="0"/>
                              </p:stCondLst>
                            </p:cTn>
                            <p:tgtEl>
                              <p:spTgt spid="1256282033"/>
                            </p:tgtEl>
                            <p:attrNameLst>
                              <p:attrName>style.visibility</p:attrName>
                            </p:attrNameLst>
                          </p:cBhvr>
                          <p:to>
                            <p:strVal val="visible"/>
                          </p:to>
                        </p:set>
                        <p:animEffect transition="in" filter="fade">
                          <p:cBhvr>
                            <p:cTn id="13" dur="400"/>
                            <p:tgtEl>
                              <p:spTgt spid="1256282033"/>
                            </p:tgtEl>
                          </p:cBhvr>
                        </p:animEffect>
                        <p:anim calcmode="lin" valueType="num">
                          <p:cBhvr additive="base">
                            <p:cTn id="14" dur="400" fill="hold"/>
                            <p:tgtEl>
                              <p:spTgt spid="1256282033"/>
                            </p:tgtEl>
                            <p:attrNameLst>
                              <p:attrName>ppt_y</p:attrName>
                            </p:attrNameLst>
                          </p:cBhvr>
                          <p:tavLst>
                            <p:tav tm="0">
                              <p:val>
                                <p:fltVal val="0.045999999999999999"/>
                              </p:val>
                            </p:tav>
                            <p:tav tm="100000">
                              <p:val>
                                <p:fltVal val="0"/>
                              </p:val>
                            </p:tav>
                          </p:tavLst>
                        </p:anim>
                      </p:childTnLst>
                    </p:cTn>
                  </p:par>
                  <p:par>
                    <p:cTn id="19" presetID="10" presetClass="entr" presetSubtype="0" fill="hold" grpId="0" nodeType="afterEffect">
                      <p:stCondLst>
                        <p:cond delay="150"/>
                      </p:stCondLst>
                      <p:childTnLst>
                        <p:set>
                          <p:cBhvr>
                            <p:cTn id="20" dur="1" fill="hold">
                              <p:stCondLst>
                                <p:cond delay="0"/>
                              </p:stCondLst>
                            </p:cTn>
                            <p:tgtEl>
                              <p:spTgt spid="1661474427"/>
                            </p:tgtEl>
                            <p:attrNameLst>
                              <p:attrName>style.visibility</p:attrName>
                            </p:attrNameLst>
                          </p:cBhvr>
                          <p:to>
                            <p:strVal val="visible"/>
                          </p:to>
                        </p:set>
                        <p:animEffect transition="in" filter="fade">
                          <p:cBhvr>
                            <p:cTn id="21" dur="400"/>
                            <p:tgtEl>
                              <p:spTgt spid="1661474427"/>
                            </p:tgtEl>
                          </p:cBhvr>
                        </p:animEffect>
                        <p:anim calcmode="lin" valueType="num">
                          <p:cBhvr additive="base">
                            <p:cTn id="22" dur="400" fill="hold"/>
                            <p:tgtEl>
                              <p:spTgt spid="1661474427"/>
                            </p:tgtEl>
                            <p:attrNameLst>
                              <p:attrName>ppt_y</p:attrName>
                            </p:attrNameLst>
                          </p:cBhvr>
                          <p:tavLst>
                            <p:tav tm="0">
                              <p:val>
                                <p:fltVal val="0.045999999999999999"/>
                              </p:val>
                            </p:tav>
                            <p:tav tm="100000">
                              <p:val>
                                <p:fltVal val="0"/>
                              </p:val>
                            </p:tav>
                          </p:tavLst>
                        </p:anim>
                      </p:childTnLst>
                    </p:cTn>
                  </p:par>
                  <p:par>
                    <p:cTn id="23" presetID="10" presetClass="entr" presetSubtype="0" fill="hold" grpId="0" nodeType="afterEffect">
                      <p:stCondLst>
                        <p:cond delay="150"/>
                      </p:stCondLst>
                      <p:childTnLst>
                        <p:set>
                          <p:cBhvr>
                            <p:cTn id="24" dur="1" fill="hold">
                              <p:stCondLst>
                                <p:cond delay="0"/>
                              </p:stCondLst>
                            </p:cTn>
                            <p:tgtEl>
                              <p:spTgt spid="411883283"/>
                            </p:tgtEl>
                            <p:attrNameLst>
                              <p:attrName>style.visibility</p:attrName>
                            </p:attrNameLst>
                          </p:cBhvr>
                          <p:to>
                            <p:strVal val="visible"/>
                          </p:to>
                        </p:set>
                        <p:animEffect transition="in" filter="fade">
                          <p:cBhvr>
                            <p:cTn id="25" dur="400"/>
                            <p:tgtEl>
                              <p:spTgt spid="411883283"/>
                            </p:tgtEl>
                          </p:cBhvr>
                        </p:animEffect>
                        <p:anim calcmode="lin" valueType="num">
                          <p:cBhvr additive="base">
                            <p:cTn id="26" dur="400" fill="hold"/>
                            <p:tgtEl>
                              <p:spTgt spid="411883283"/>
                            </p:tgtEl>
                            <p:attrNameLst>
                              <p:attrName>ppt_y</p:attrName>
                            </p:attrNameLst>
                          </p:cBhvr>
                          <p:tavLst>
                            <p:tav tm="0">
                              <p:val>
                                <p:fltVal val="0.045999999999999999"/>
                              </p:val>
                            </p:tav>
                            <p:tav tm="100000">
                              <p:val>
                                <p:fltVal val="0"/>
                              </p:val>
                            </p:tav>
                          </p:tavLst>
                        </p:anim>
                      </p:childTnLst>
                    </p:cTn>
                  </p:par>
                  <p:par>
                    <p:cTn id="27" presetID="10" presetClass="entr" presetSubtype="0" fill="hold" grpId="0" nodeType="afterEffect">
                      <p:stCondLst>
                        <p:cond delay="150"/>
                      </p:stCondLst>
                      <p:childTnLst>
                        <p:set>
                          <p:cBhvr>
                            <p:cTn id="28" dur="1" fill="hold">
                              <p:stCondLst>
                                <p:cond delay="0"/>
                              </p:stCondLst>
                            </p:cTn>
                            <p:tgtEl>
                              <p:spTgt spid="2073255499"/>
                            </p:tgtEl>
                            <p:attrNameLst>
                              <p:attrName>style.visibility</p:attrName>
                            </p:attrNameLst>
                          </p:cBhvr>
                          <p:to>
                            <p:strVal val="visible"/>
                          </p:to>
                        </p:set>
                        <p:animEffect transition="in" filter="fade">
                          <p:cBhvr>
                            <p:cTn id="29" dur="400"/>
                            <p:tgtEl>
                              <p:spTgt spid="2073255499"/>
                            </p:tgtEl>
                          </p:cBhvr>
                        </p:animEffect>
                        <p:anim calcmode="lin" valueType="num">
                          <p:cBhvr additive="base">
                            <p:cTn id="30" dur="400" fill="hold"/>
                            <p:tgtEl>
                              <p:spTgt spid="2073255499"/>
                            </p:tgtEl>
                            <p:attrNameLst>
                              <p:attrName>ppt_y</p:attrName>
                            </p:attrNameLst>
                          </p:cBhvr>
                          <p:tavLst>
                            <p:tav tm="0">
                              <p:val>
                                <p:fltVal val="0.045999999999999999"/>
                              </p:val>
                            </p:tav>
                            <p:tav tm="100000">
                              <p:val>
                                <p:fltVal val="0"/>
                              </p:val>
                            </p:tav>
                          </p:tavLst>
                        </p:anim>
                      </p:childTnLst>
                    </p:cTn>
                  </p:par>
                </p:childTnLst>
              </p:cTn>
            </p:par>
          </p:childTnLst>
        </p:cTn>
      </p:par>
    </p:tnLst>
    <p:bldLst>
      <p:bldP spid="319032289" grpId="0" animBg="1"/>
      <p:bldP spid="1987947743" grpId="0" animBg="1"/>
      <p:bldP spid="1256282033" grpId="0" animBg="1"/>
      <p:bldP spid="1661474427" grpId="0" animBg="1"/>
      <p:bldP spid="411883283" grpId="0" animBg="1"/>
      <p:bldP spid="2073255499" grpId="0" animBg="1"/>
    </p:bldLst>
  </p:timing>
</p:sld>
</file>

<file path=ppt/slides/slide1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262089754" name="Eyebrow"/>
          <p:cNvSpPr txBox="1"/>
          <p:nvPr/>
        </p:nvSpPr>
        <p:spPr bwMode="auto">
          <a:xfrm>
            <a:off x="914400" y="584200"/>
            <a:ext cx="9144000" cy="254000"/>
          </a:xfrm>
          <a:prstGeom prst="rect">
            <a:avLst/>
          </a:prstGeom>
          <a:noFill/>
          <a:ln>
            <a:noFill/>
          </a:ln>
        </p:spPr>
        <p:txBody>
          <a:bodyPr wrap="square" lIns="0" tIns="0" rIns="0" bIns="0" anchor="t">
            <a:normAutofit/>
          </a:bodyPr>
          <a:lstStyle/>
          <a:p>
            <a:pPr>
              <a:buNone/>
              <a:defRPr/>
            </a:pPr>
            <a:r>
              <a:rPr lang="fr-FR" sz="1400" b="1" spc="240">
                <a:solidFill>
                  <a:srgbClr val="64748B"/>
                </a:solidFill>
              </a:rPr>
              <a:t>04 · RÉALISATION</a:t>
            </a:r>
            <a:endParaRPr/>
          </a:p>
        </p:txBody>
      </p:sp>
      <p:sp>
        <p:nvSpPr>
          <p:cNvPr id="1545248811" name="Titre"/>
          <p:cNvSpPr txBox="1"/>
          <p:nvPr/>
        </p:nvSpPr>
        <p:spPr bwMode="auto">
          <a:xfrm>
            <a:off x="914400" y="863599"/>
            <a:ext cx="10363200" cy="508000"/>
          </a:xfrm>
          <a:prstGeom prst="rect">
            <a:avLst/>
          </a:prstGeom>
          <a:noFill/>
          <a:ln>
            <a:noFill/>
          </a:ln>
        </p:spPr>
        <p:txBody>
          <a:bodyPr wrap="square" lIns="0" tIns="0" rIns="0" bIns="0" anchor="t">
            <a:normAutofit/>
          </a:bodyPr>
          <a:lstStyle/>
          <a:p>
            <a:pPr>
              <a:buNone/>
              <a:defRPr/>
            </a:pPr>
            <a:r>
              <a:rPr lang="fr-FR" sz="3000">
                <a:solidFill>
                  <a:srgbClr val="0B1F3A"/>
                </a:solidFill>
                <a:latin typeface="Segoe UI Semibold"/>
              </a:rPr>
              <a:t>Nettoyage des données</a:t>
            </a:r>
            <a:endParaRPr/>
          </a:p>
        </p:txBody>
      </p:sp>
      <p:sp>
        <p:nvSpPr>
          <p:cNvPr id="660142938" name="Filet"/>
          <p:cNvSpPr/>
          <p:nvPr/>
        </p:nvSpPr>
        <p:spPr bwMode="auto">
          <a:xfrm>
            <a:off x="914400" y="1473200"/>
            <a:ext cx="685800" cy="50800"/>
          </a:xfrm>
          <a:prstGeom prst="rect">
            <a:avLst/>
          </a:prstGeom>
          <a:solidFill>
            <a:srgbClr val="2563EB"/>
          </a:solidFill>
          <a:ln>
            <a:noFill/>
          </a:ln>
        </p:spPr>
        <p:txBody>
          <a:bodyPr wrap="square" lIns="0" tIns="0" rIns="0" bIns="0" anchor="t">
            <a:normAutofit/>
          </a:bodyPr>
          <a:lstStyle/>
          <a:p>
            <a:pPr>
              <a:defRPr/>
            </a:pPr>
            <a:endParaRPr/>
          </a:p>
        </p:txBody>
      </p:sp>
      <p:sp>
        <p:nvSpPr>
          <p:cNvPr id="1851608910" name="Op0"/>
          <p:cNvSpPr/>
          <p:nvPr/>
        </p:nvSpPr>
        <p:spPr bwMode="auto">
          <a:xfrm>
            <a:off x="914400" y="2159000"/>
            <a:ext cx="4978400" cy="1778000"/>
          </a:xfrm>
          <a:prstGeom prst="roundRect">
            <a:avLst>
              <a:gd name="adj" fmla="val 7000"/>
            </a:avLst>
          </a:prstGeom>
          <a:solidFill>
            <a:srgbClr val="FFFFFF"/>
          </a:solidFill>
          <a:ln w="9525">
            <a:solidFill>
              <a:srgbClr val="E2E8F0"/>
            </a:solidFill>
          </a:ln>
        </p:spPr>
        <p:txBody>
          <a:bodyPr wrap="square" lIns="990600" tIns="254000" rIns="254000" bIns="254000" anchor="ctr">
            <a:normAutofit/>
          </a:bodyPr>
          <a:lstStyle/>
          <a:p>
            <a:pPr>
              <a:buNone/>
              <a:defRPr/>
            </a:pPr>
            <a:r>
              <a:rPr lang="fr-FR" sz="1800">
                <a:solidFill>
                  <a:srgbClr val="0B1F3A"/>
                </a:solidFill>
                <a:latin typeface="Segoe UI Semibold"/>
              </a:rPr>
              <a:t>Valeurs manquantes</a:t>
            </a:r>
            <a:endParaRPr/>
          </a:p>
          <a:p>
            <a:pPr>
              <a:spcBef>
                <a:spcPts val="500"/>
              </a:spcBef>
              <a:buNone/>
              <a:defRPr/>
            </a:pPr>
            <a:r>
              <a:rPr lang="fr-FR" sz="1500">
                <a:solidFill>
                  <a:srgbClr val="64748B"/>
                </a:solidFill>
              </a:rPr>
              <a:t>Imputation par la médiane</a:t>
            </a:r>
            <a:endParaRPr/>
          </a:p>
        </p:txBody>
      </p:sp>
      <p:sp>
        <p:nvSpPr>
          <p:cNvPr id="1852943701" name="Op1"/>
          <p:cNvSpPr/>
          <p:nvPr/>
        </p:nvSpPr>
        <p:spPr bwMode="auto">
          <a:xfrm>
            <a:off x="6146800" y="2159000"/>
            <a:ext cx="4978400" cy="1778000"/>
          </a:xfrm>
          <a:prstGeom prst="roundRect">
            <a:avLst>
              <a:gd name="adj" fmla="val 7000"/>
            </a:avLst>
          </a:prstGeom>
          <a:solidFill>
            <a:srgbClr val="FFFFFF"/>
          </a:solidFill>
          <a:ln w="9525">
            <a:solidFill>
              <a:srgbClr val="E2E8F0"/>
            </a:solidFill>
          </a:ln>
        </p:spPr>
        <p:txBody>
          <a:bodyPr wrap="square" lIns="990600" tIns="254000" rIns="254000" bIns="254000" anchor="ctr">
            <a:normAutofit/>
          </a:bodyPr>
          <a:lstStyle/>
          <a:p>
            <a:pPr>
              <a:buNone/>
              <a:defRPr/>
            </a:pPr>
            <a:r>
              <a:rPr lang="fr-FR" sz="1800">
                <a:solidFill>
                  <a:srgbClr val="0B1F3A"/>
                </a:solidFill>
                <a:latin typeface="Segoe UI Semibold"/>
              </a:rPr>
              <a:t>Doublons</a:t>
            </a:r>
            <a:endParaRPr/>
          </a:p>
          <a:p>
            <a:pPr>
              <a:spcBef>
                <a:spcPts val="500"/>
              </a:spcBef>
              <a:buNone/>
              <a:defRPr/>
            </a:pPr>
            <a:r>
              <a:rPr lang="fr-FR" sz="1500">
                <a:solidFill>
                  <a:srgbClr val="64748B"/>
                </a:solidFill>
              </a:rPr>
              <a:t>Détection et suppression</a:t>
            </a:r>
            <a:endParaRPr/>
          </a:p>
        </p:txBody>
      </p:sp>
      <p:sp>
        <p:nvSpPr>
          <p:cNvPr id="719086868" name="Op2"/>
          <p:cNvSpPr/>
          <p:nvPr/>
        </p:nvSpPr>
        <p:spPr bwMode="auto">
          <a:xfrm>
            <a:off x="914400" y="4191000"/>
            <a:ext cx="4978400" cy="1778000"/>
          </a:xfrm>
          <a:prstGeom prst="roundRect">
            <a:avLst>
              <a:gd name="adj" fmla="val 7000"/>
            </a:avLst>
          </a:prstGeom>
          <a:solidFill>
            <a:srgbClr val="FFFFFF"/>
          </a:solidFill>
          <a:ln w="9525">
            <a:solidFill>
              <a:srgbClr val="E2E8F0"/>
            </a:solidFill>
          </a:ln>
        </p:spPr>
        <p:txBody>
          <a:bodyPr wrap="square" lIns="990600" tIns="254000" rIns="254000" bIns="254000" anchor="ctr">
            <a:normAutofit/>
          </a:bodyPr>
          <a:lstStyle/>
          <a:p>
            <a:pPr>
              <a:buNone/>
              <a:defRPr/>
            </a:pPr>
            <a:r>
              <a:rPr lang="fr-FR" sz="1800">
                <a:solidFill>
                  <a:srgbClr val="0B1F3A"/>
                </a:solidFill>
                <a:latin typeface="Segoe UI Semibold"/>
              </a:rPr>
              <a:t>Valeurs infinies</a:t>
            </a:r>
            <a:endParaRPr/>
          </a:p>
          <a:p>
            <a:pPr>
              <a:spcBef>
                <a:spcPts val="500"/>
              </a:spcBef>
              <a:buNone/>
              <a:defRPr/>
            </a:pPr>
            <a:r>
              <a:rPr lang="fr-FR" sz="1500">
                <a:solidFill>
                  <a:srgbClr val="64748B"/>
                </a:solidFill>
              </a:rPr>
              <a:t>Remplacement ou exclusion</a:t>
            </a:r>
            <a:endParaRPr/>
          </a:p>
        </p:txBody>
      </p:sp>
      <p:sp>
        <p:nvSpPr>
          <p:cNvPr id="856089222" name="Op3"/>
          <p:cNvSpPr/>
          <p:nvPr/>
        </p:nvSpPr>
        <p:spPr bwMode="auto">
          <a:xfrm>
            <a:off x="6146800" y="4191000"/>
            <a:ext cx="4978400" cy="1778000"/>
          </a:xfrm>
          <a:prstGeom prst="roundRect">
            <a:avLst>
              <a:gd name="adj" fmla="val 7000"/>
            </a:avLst>
          </a:prstGeom>
          <a:solidFill>
            <a:srgbClr val="FFFFFF"/>
          </a:solidFill>
          <a:ln w="9525">
            <a:solidFill>
              <a:srgbClr val="E2E8F0"/>
            </a:solidFill>
          </a:ln>
        </p:spPr>
        <p:txBody>
          <a:bodyPr wrap="square" lIns="990600" tIns="254000" rIns="254000" bIns="254000" anchor="ctr">
            <a:normAutofit/>
          </a:bodyPr>
          <a:lstStyle/>
          <a:p>
            <a:pPr>
              <a:buNone/>
              <a:defRPr/>
            </a:pPr>
            <a:r>
              <a:rPr lang="fr-FR" sz="1800">
                <a:solidFill>
                  <a:srgbClr val="0B1F3A"/>
                </a:solidFill>
                <a:latin typeface="Segoe UI Semibold"/>
              </a:rPr>
              <a:t>Cohérence CODGEO</a:t>
            </a:r>
            <a:endParaRPr/>
          </a:p>
          <a:p>
            <a:pPr>
              <a:spcBef>
                <a:spcPts val="500"/>
              </a:spcBef>
              <a:buNone/>
              <a:defRPr/>
            </a:pPr>
            <a:r>
              <a:rPr lang="fr-FR" sz="1500">
                <a:solidFill>
                  <a:srgbClr val="64748B"/>
                </a:solidFill>
              </a:rPr>
              <a:t>Validation des codes géographiques</a:t>
            </a:r>
            <a:endParaRPr/>
          </a:p>
        </p:txBody>
      </p:sp>
      <p:sp>
        <p:nvSpPr>
          <p:cNvPr id="1601416556" name="Page"/>
          <p:cNvSpPr txBox="1"/>
          <p:nvPr/>
        </p:nvSpPr>
        <p:spPr bwMode="auto">
          <a:xfrm>
            <a:off x="10515600" y="6451600"/>
            <a:ext cx="914400" cy="254000"/>
          </a:xfrm>
          <a:prstGeom prst="rect">
            <a:avLst/>
          </a:prstGeom>
          <a:noFill/>
          <a:ln>
            <a:noFill/>
          </a:ln>
        </p:spPr>
        <p:txBody>
          <a:bodyPr wrap="square" lIns="0" tIns="0" rIns="0" bIns="0" anchor="t">
            <a:normAutofit/>
          </a:bodyPr>
          <a:lstStyle/>
          <a:p>
            <a:pPr algn="r">
              <a:buNone/>
              <a:defRPr/>
            </a:pPr>
            <a:r>
              <a:rPr lang="fr-FR" sz="1400">
                <a:solidFill>
                  <a:srgbClr val="64748B"/>
                </a:solidFill>
              </a:rPr>
              <a:t>14</a:t>
            </a:r>
            <a:endParaRPr/>
          </a:p>
        </p:txBody>
      </p:sp>
      <p:pic>
        <p:nvPicPr>
          <p:cNvPr id="231067645" name="Graphic 54" descr="Valeurs manquantes"/>
          <p:cNvPicPr>
            <a:picLocks noChangeAspect="1"/>
          </p:cNvPicPr>
          <p:nvPr/>
        </p:nvPicPr>
        <p:blipFill rotWithShape="1">
          <a:blip r:embed="rId3">
            <a:extLst>
              <a:ext uri="{96DAC541-7B7A-43D3-8B79-37D633B846F1}">
                <asvg:svgBlip xmlns:asvg="http://schemas.microsoft.com/office/drawing/2016/SVG/main" r:embed="rId4"/>
              </a:ext>
            </a:extLst>
          </a:blip>
          <a:stretch/>
        </p:blipFill>
        <p:spPr bwMode="auto">
          <a:xfrm>
            <a:off x="1168400" y="2794000"/>
            <a:ext cx="508000" cy="508000"/>
          </a:xfrm>
          <a:prstGeom prst="rect">
            <a:avLst/>
          </a:prstGeom>
        </p:spPr>
      </p:pic>
      <p:pic>
        <p:nvPicPr>
          <p:cNvPr id="37925795" name="Graphic 55" descr="Doublons"/>
          <p:cNvPicPr>
            <a:picLocks noChangeAspect="1"/>
          </p:cNvPicPr>
          <p:nvPr/>
        </p:nvPicPr>
        <p:blipFill rotWithShape="1">
          <a:blip r:embed="rId5">
            <a:extLst>
              <a:ext uri="{96DAC541-7B7A-43D3-8B79-37D633B846F1}">
                <asvg:svgBlip xmlns:asvg="http://schemas.microsoft.com/office/drawing/2016/SVG/main" r:embed="rId6"/>
              </a:ext>
            </a:extLst>
          </a:blip>
          <a:stretch/>
        </p:blipFill>
        <p:spPr bwMode="auto">
          <a:xfrm>
            <a:off x="6400800" y="2794000"/>
            <a:ext cx="508000" cy="508000"/>
          </a:xfrm>
          <a:prstGeom prst="rect">
            <a:avLst/>
          </a:prstGeom>
        </p:spPr>
      </p:pic>
      <p:pic>
        <p:nvPicPr>
          <p:cNvPr id="1269798366" name="Graphic 56" descr="Valeurs infinies"/>
          <p:cNvPicPr>
            <a:picLocks noChangeAspect="1"/>
          </p:cNvPicPr>
          <p:nvPr/>
        </p:nvPicPr>
        <p:blipFill rotWithShape="1">
          <a:blip r:embed="rId7">
            <a:extLst>
              <a:ext uri="{96DAC541-7B7A-43D3-8B79-37D633B846F1}">
                <asvg:svgBlip xmlns:asvg="http://schemas.microsoft.com/office/drawing/2016/SVG/main" r:embed="rId8"/>
              </a:ext>
            </a:extLst>
          </a:blip>
          <a:stretch/>
        </p:blipFill>
        <p:spPr bwMode="auto">
          <a:xfrm>
            <a:off x="1168400" y="4826000"/>
            <a:ext cx="508000" cy="508000"/>
          </a:xfrm>
          <a:prstGeom prst="rect">
            <a:avLst/>
          </a:prstGeom>
        </p:spPr>
      </p:pic>
      <p:pic>
        <p:nvPicPr>
          <p:cNvPr id="1847407012" name="Graphic 57" descr="Cohérence CODGEO"/>
          <p:cNvPicPr>
            <a:picLocks noChangeAspect="1"/>
          </p:cNvPicPr>
          <p:nvPr/>
        </p:nvPicPr>
        <p:blipFill rotWithShape="1">
          <a:blip r:embed="rId9">
            <a:extLst>
              <a:ext uri="{96DAC541-7B7A-43D3-8B79-37D633B846F1}">
                <asvg:svgBlip xmlns:asvg="http://schemas.microsoft.com/office/drawing/2016/SVG/main" r:embed="rId10"/>
              </a:ext>
            </a:extLst>
          </a:blip>
          <a:stretch/>
        </p:blipFill>
        <p:spPr bwMode="auto">
          <a:xfrm>
            <a:off x="6400800" y="4826000"/>
            <a:ext cx="508000" cy="508000"/>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med" p14:dur="500" advClick="1">
        <p:fade thruBlk="0"/>
      </p:transition>
    </mc:Choice>
    <mc:Fallback>
      <p:transition spd="med" advClick="1">
        <p:fade thruBlk="0"/>
      </p:transition>
    </mc:Fallback>
  </mc:AlternateContent>
  <p:timing>
    <p:tnLst>
      <p:par>
        <p:cTn id="1" dur="indefinite" restart="never" nodeType="tmRoot">
          <p:childTnLst>
            <p:par>
              <p:cTn id="2" fill="hold">
                <p:stCondLst>
                  <p:cond delay="0"/>
                </p:stCondLst>
                <p:childTnLst>
                  <p:par>
                    <p:cTn id="3" presetID="10" presetClass="entr" presetSubtype="0" fill="hold" grpId="0" nodeType="afterEffect">
                      <p:stCondLst>
                        <p:cond delay="500"/>
                      </p:stCondLst>
                      <p:childTnLst>
                        <p:set>
                          <p:cBhvr>
                            <p:cTn id="4" dur="1" fill="hold">
                              <p:stCondLst>
                                <p:cond delay="0"/>
                              </p:stCondLst>
                            </p:cTn>
                            <p:tgtEl>
                              <p:spTgt spid="262089754"/>
                            </p:tgtEl>
                            <p:attrNameLst>
                              <p:attrName>style.visibility</p:attrName>
                            </p:attrNameLst>
                          </p:cBhvr>
                          <p:to>
                            <p:strVal val="visible"/>
                          </p:to>
                        </p:set>
                        <p:animEffect transition="in" filter="fade">
                          <p:cBhvr>
                            <p:cTn id="5" dur="400"/>
                            <p:tgtEl>
                              <p:spTgt spid="262089754"/>
                            </p:tgtEl>
                          </p:cBhvr>
                        </p:animEffect>
                        <p:anim calcmode="lin" valueType="num">
                          <p:cBhvr additive="base">
                            <p:cTn id="6" dur="400" fill="hold"/>
                            <p:tgtEl>
                              <p:spTgt spid="262089754"/>
                            </p:tgtEl>
                            <p:attrNameLst>
                              <p:attrName>ppt_y</p:attrName>
                            </p:attrNameLst>
                          </p:cBhvr>
                          <p:tavLst>
                            <p:tav tm="0">
                              <p:val>
                                <p:fltVal val="0.045999999999999999"/>
                              </p:val>
                            </p:tav>
                            <p:tav tm="100000">
                              <p:val>
                                <p:fltVal val="0"/>
                              </p:val>
                            </p:tav>
                          </p:tavLst>
                        </p:anim>
                      </p:childTnLst>
                    </p:cTn>
                  </p:par>
                  <p:par>
                    <p:cTn id="7" presetID="10" presetClass="entr" presetSubtype="0" fill="hold" grpId="0" nodeType="afterEffect">
                      <p:stCondLst>
                        <p:cond delay="150"/>
                      </p:stCondLst>
                      <p:childTnLst>
                        <p:set>
                          <p:cBhvr>
                            <p:cTn id="8" dur="1" fill="hold">
                              <p:stCondLst>
                                <p:cond delay="0"/>
                              </p:stCondLst>
                            </p:cTn>
                            <p:tgtEl>
                              <p:spTgt spid="1545248811"/>
                            </p:tgtEl>
                            <p:attrNameLst>
                              <p:attrName>style.visibility</p:attrName>
                            </p:attrNameLst>
                          </p:cBhvr>
                          <p:to>
                            <p:strVal val="visible"/>
                          </p:to>
                        </p:set>
                        <p:animEffect transition="in" filter="fade">
                          <p:cBhvr>
                            <p:cTn id="9" dur="400"/>
                            <p:tgtEl>
                              <p:spTgt spid="1545248811"/>
                            </p:tgtEl>
                          </p:cBhvr>
                        </p:animEffect>
                        <p:anim calcmode="lin" valueType="num">
                          <p:cBhvr additive="base">
                            <p:cTn id="10" dur="400" fill="hold"/>
                            <p:tgtEl>
                              <p:spTgt spid="1545248811"/>
                            </p:tgtEl>
                            <p:attrNameLst>
                              <p:attrName>ppt_y</p:attrName>
                            </p:attrNameLst>
                          </p:cBhvr>
                          <p:tavLst>
                            <p:tav tm="0">
                              <p:val>
                                <p:fltVal val="0.045999999999999999"/>
                              </p:val>
                            </p:tav>
                            <p:tav tm="100000">
                              <p:val>
                                <p:fltVal val="0"/>
                              </p:val>
                            </p:tav>
                          </p:tavLst>
                        </p:anim>
                      </p:childTnLst>
                    </p:cTn>
                  </p:par>
                  <p:par>
                    <p:cTn id="11" presetID="10" presetClass="entr" presetSubtype="0" fill="hold" grpId="0" nodeType="afterEffect">
                      <p:stCondLst>
                        <p:cond delay="150"/>
                      </p:stCondLst>
                      <p:childTnLst>
                        <p:set>
                          <p:cBhvr>
                            <p:cTn id="12" dur="1" fill="hold">
                              <p:stCondLst>
                                <p:cond delay="0"/>
                              </p:stCondLst>
                            </p:cTn>
                            <p:tgtEl>
                              <p:spTgt spid="660142938"/>
                            </p:tgtEl>
                            <p:attrNameLst>
                              <p:attrName>style.visibility</p:attrName>
                            </p:attrNameLst>
                          </p:cBhvr>
                          <p:to>
                            <p:strVal val="visible"/>
                          </p:to>
                        </p:set>
                        <p:animEffect transition="in" filter="fade">
                          <p:cBhvr>
                            <p:cTn id="13" dur="400"/>
                            <p:tgtEl>
                              <p:spTgt spid="660142938"/>
                            </p:tgtEl>
                          </p:cBhvr>
                        </p:animEffect>
                        <p:anim calcmode="lin" valueType="num">
                          <p:cBhvr additive="base">
                            <p:cTn id="14" dur="400" fill="hold"/>
                            <p:tgtEl>
                              <p:spTgt spid="660142938"/>
                            </p:tgtEl>
                            <p:attrNameLst>
                              <p:attrName>ppt_y</p:attrName>
                            </p:attrNameLst>
                          </p:cBhvr>
                          <p:tavLst>
                            <p:tav tm="0">
                              <p:val>
                                <p:fltVal val="0.045999999999999999"/>
                              </p:val>
                            </p:tav>
                            <p:tav tm="100000">
                              <p:val>
                                <p:fltVal val="0"/>
                              </p:val>
                            </p:tav>
                          </p:tavLst>
                        </p:anim>
                      </p:childTnLst>
                    </p:cTn>
                  </p:par>
                  <p:par>
                    <p:cTn id="15" presetID="10" presetClass="entr" presetSubtype="0" fill="hold" grpId="0" nodeType="afterEffect">
                      <p:stCondLst>
                        <p:cond delay="150"/>
                      </p:stCondLst>
                      <p:childTnLst>
                        <p:set>
                          <p:cBhvr>
                            <p:cTn id="16" dur="1" fill="hold">
                              <p:stCondLst>
                                <p:cond delay="0"/>
                              </p:stCondLst>
                            </p:cTn>
                            <p:tgtEl>
                              <p:spTgt spid="1851608910"/>
                            </p:tgtEl>
                            <p:attrNameLst>
                              <p:attrName>style.visibility</p:attrName>
                            </p:attrNameLst>
                          </p:cBhvr>
                          <p:to>
                            <p:strVal val="visible"/>
                          </p:to>
                        </p:set>
                        <p:animEffect transition="in" filter="fade">
                          <p:cBhvr>
                            <p:cTn id="17" dur="400"/>
                            <p:tgtEl>
                              <p:spTgt spid="1851608910"/>
                            </p:tgtEl>
                          </p:cBhvr>
                        </p:animEffect>
                        <p:anim calcmode="lin" valueType="num">
                          <p:cBhvr additive="base">
                            <p:cTn id="18" dur="400" fill="hold"/>
                            <p:tgtEl>
                              <p:spTgt spid="1851608910"/>
                            </p:tgtEl>
                            <p:attrNameLst>
                              <p:attrName>ppt_y</p:attrName>
                            </p:attrNameLst>
                          </p:cBhvr>
                          <p:tavLst>
                            <p:tav tm="0">
                              <p:val>
                                <p:fltVal val="0.045999999999999999"/>
                              </p:val>
                            </p:tav>
                            <p:tav tm="100000">
                              <p:val>
                                <p:fltVal val="0"/>
                              </p:val>
                            </p:tav>
                          </p:tavLst>
                        </p:anim>
                      </p:childTnLst>
                    </p:cTn>
                  </p:par>
                  <p:par>
                    <p:cTn id="19" presetID="10" presetClass="entr" presetSubtype="0" fill="hold" grpId="0" nodeType="afterEffect">
                      <p:stCondLst>
                        <p:cond delay="150"/>
                      </p:stCondLst>
                      <p:childTnLst>
                        <p:set>
                          <p:cBhvr>
                            <p:cTn id="20" dur="1" fill="hold">
                              <p:stCondLst>
                                <p:cond delay="0"/>
                              </p:stCondLst>
                            </p:cTn>
                            <p:tgtEl>
                              <p:spTgt spid="1852943701"/>
                            </p:tgtEl>
                            <p:attrNameLst>
                              <p:attrName>style.visibility</p:attrName>
                            </p:attrNameLst>
                          </p:cBhvr>
                          <p:to>
                            <p:strVal val="visible"/>
                          </p:to>
                        </p:set>
                        <p:animEffect transition="in" filter="fade">
                          <p:cBhvr>
                            <p:cTn id="21" dur="400"/>
                            <p:tgtEl>
                              <p:spTgt spid="1852943701"/>
                            </p:tgtEl>
                          </p:cBhvr>
                        </p:animEffect>
                        <p:anim calcmode="lin" valueType="num">
                          <p:cBhvr additive="base">
                            <p:cTn id="22" dur="400" fill="hold"/>
                            <p:tgtEl>
                              <p:spTgt spid="1852943701"/>
                            </p:tgtEl>
                            <p:attrNameLst>
                              <p:attrName>ppt_y</p:attrName>
                            </p:attrNameLst>
                          </p:cBhvr>
                          <p:tavLst>
                            <p:tav tm="0">
                              <p:val>
                                <p:fltVal val="0.045999999999999999"/>
                              </p:val>
                            </p:tav>
                            <p:tav tm="100000">
                              <p:val>
                                <p:fltVal val="0"/>
                              </p:val>
                            </p:tav>
                          </p:tavLst>
                        </p:anim>
                      </p:childTnLst>
                    </p:cTn>
                  </p:par>
                  <p:par>
                    <p:cTn id="23" presetID="10" presetClass="entr" presetSubtype="0" fill="hold" grpId="0" nodeType="afterEffect">
                      <p:stCondLst>
                        <p:cond delay="150"/>
                      </p:stCondLst>
                      <p:childTnLst>
                        <p:set>
                          <p:cBhvr>
                            <p:cTn id="24" dur="1" fill="hold">
                              <p:stCondLst>
                                <p:cond delay="0"/>
                              </p:stCondLst>
                            </p:cTn>
                            <p:tgtEl>
                              <p:spTgt spid="719086868"/>
                            </p:tgtEl>
                            <p:attrNameLst>
                              <p:attrName>style.visibility</p:attrName>
                            </p:attrNameLst>
                          </p:cBhvr>
                          <p:to>
                            <p:strVal val="visible"/>
                          </p:to>
                        </p:set>
                        <p:animEffect transition="in" filter="fade">
                          <p:cBhvr>
                            <p:cTn id="25" dur="400"/>
                            <p:tgtEl>
                              <p:spTgt spid="719086868"/>
                            </p:tgtEl>
                          </p:cBhvr>
                        </p:animEffect>
                        <p:anim calcmode="lin" valueType="num">
                          <p:cBhvr additive="base">
                            <p:cTn id="26" dur="400" fill="hold"/>
                            <p:tgtEl>
                              <p:spTgt spid="719086868"/>
                            </p:tgtEl>
                            <p:attrNameLst>
                              <p:attrName>ppt_y</p:attrName>
                            </p:attrNameLst>
                          </p:cBhvr>
                          <p:tavLst>
                            <p:tav tm="0">
                              <p:val>
                                <p:fltVal val="0.045999999999999999"/>
                              </p:val>
                            </p:tav>
                            <p:tav tm="100000">
                              <p:val>
                                <p:fltVal val="0"/>
                              </p:val>
                            </p:tav>
                          </p:tavLst>
                        </p:anim>
                      </p:childTnLst>
                    </p:cTn>
                  </p:par>
                  <p:par>
                    <p:cTn id="27" presetID="10" presetClass="entr" presetSubtype="0" fill="hold" grpId="0" nodeType="afterEffect">
                      <p:stCondLst>
                        <p:cond delay="150"/>
                      </p:stCondLst>
                      <p:childTnLst>
                        <p:set>
                          <p:cBhvr>
                            <p:cTn id="28" dur="1" fill="hold">
                              <p:stCondLst>
                                <p:cond delay="0"/>
                              </p:stCondLst>
                            </p:cTn>
                            <p:tgtEl>
                              <p:spTgt spid="856089222"/>
                            </p:tgtEl>
                            <p:attrNameLst>
                              <p:attrName>style.visibility</p:attrName>
                            </p:attrNameLst>
                          </p:cBhvr>
                          <p:to>
                            <p:strVal val="visible"/>
                          </p:to>
                        </p:set>
                        <p:animEffect transition="in" filter="fade">
                          <p:cBhvr>
                            <p:cTn id="29" dur="400"/>
                            <p:tgtEl>
                              <p:spTgt spid="856089222"/>
                            </p:tgtEl>
                          </p:cBhvr>
                        </p:animEffect>
                        <p:anim calcmode="lin" valueType="num">
                          <p:cBhvr additive="base">
                            <p:cTn id="30" dur="400" fill="hold"/>
                            <p:tgtEl>
                              <p:spTgt spid="856089222"/>
                            </p:tgtEl>
                            <p:attrNameLst>
                              <p:attrName>ppt_y</p:attrName>
                            </p:attrNameLst>
                          </p:cBhvr>
                          <p:tavLst>
                            <p:tav tm="0">
                              <p:val>
                                <p:fltVal val="0.045999999999999999"/>
                              </p:val>
                            </p:tav>
                            <p:tav tm="100000">
                              <p:val>
                                <p:fltVal val="0"/>
                              </p:val>
                            </p:tav>
                          </p:tavLst>
                        </p:anim>
                      </p:childTnLst>
                    </p:cTn>
                  </p:par>
                  <p:par>
                    <p:cTn id="31" presetID="10" presetClass="entr" presetSubtype="0" fill="hold" grpId="0" nodeType="afterEffect">
                      <p:stCondLst>
                        <p:cond delay="150"/>
                      </p:stCondLst>
                      <p:childTnLst>
                        <p:set>
                          <p:cBhvr>
                            <p:cTn id="32" dur="1" fill="hold">
                              <p:stCondLst>
                                <p:cond delay="0"/>
                              </p:stCondLst>
                            </p:cTn>
                            <p:tgtEl>
                              <p:spTgt spid="1601416556"/>
                            </p:tgtEl>
                            <p:attrNameLst>
                              <p:attrName>style.visibility</p:attrName>
                            </p:attrNameLst>
                          </p:cBhvr>
                          <p:to>
                            <p:strVal val="visible"/>
                          </p:to>
                        </p:set>
                        <p:animEffect transition="in" filter="fade">
                          <p:cBhvr>
                            <p:cTn id="33" dur="400"/>
                            <p:tgtEl>
                              <p:spTgt spid="1601416556"/>
                            </p:tgtEl>
                          </p:cBhvr>
                        </p:animEffect>
                        <p:anim calcmode="lin" valueType="num">
                          <p:cBhvr additive="base">
                            <p:cTn id="34" dur="400" fill="hold"/>
                            <p:tgtEl>
                              <p:spTgt spid="1601416556"/>
                            </p:tgtEl>
                            <p:attrNameLst>
                              <p:attrName>ppt_y</p:attrName>
                            </p:attrNameLst>
                          </p:cBhvr>
                          <p:tavLst>
                            <p:tav tm="0">
                              <p:val>
                                <p:fltVal val="0.045999999999999999"/>
                              </p:val>
                            </p:tav>
                            <p:tav tm="100000">
                              <p:val>
                                <p:fltVal val="0"/>
                              </p:val>
                            </p:tav>
                          </p:tavLst>
                        </p:anim>
                      </p:childTnLst>
                    </p:cTn>
                  </p:par>
                </p:childTnLst>
              </p:cTn>
            </p:par>
          </p:childTnLst>
        </p:cTn>
      </p:par>
    </p:tnLst>
    <p:bldLst>
      <p:bldP spid="262089754" grpId="0" animBg="1"/>
      <p:bldP spid="1545248811" grpId="0" animBg="1"/>
      <p:bldP spid="660142938" grpId="0" animBg="1"/>
      <p:bldP spid="1851608910" grpId="0" animBg="1"/>
      <p:bldP spid="1852943701" grpId="0" animBg="1"/>
      <p:bldP spid="719086868" grpId="0" animBg="1"/>
      <p:bldP spid="856089222" grpId="0" animBg="1"/>
      <p:bldP spid="1601416556" grpId="0" animBg="1"/>
    </p:bldLst>
  </p:timing>
</p:sld>
</file>

<file path=ppt/slides/slide1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694536231" name="Eyebrow"/>
          <p:cNvSpPr txBox="1"/>
          <p:nvPr/>
        </p:nvSpPr>
        <p:spPr bwMode="auto">
          <a:xfrm>
            <a:off x="914400" y="584200"/>
            <a:ext cx="9144000" cy="254000"/>
          </a:xfrm>
          <a:prstGeom prst="rect">
            <a:avLst/>
          </a:prstGeom>
          <a:noFill/>
          <a:ln>
            <a:noFill/>
          </a:ln>
        </p:spPr>
        <p:txBody>
          <a:bodyPr wrap="square" lIns="0" tIns="0" rIns="0" bIns="0" anchor="t">
            <a:normAutofit/>
          </a:bodyPr>
          <a:lstStyle/>
          <a:p>
            <a:pPr>
              <a:buNone/>
              <a:defRPr/>
            </a:pPr>
            <a:r>
              <a:rPr lang="fr-FR" sz="1400" b="1" spc="240">
                <a:solidFill>
                  <a:srgbClr val="64748B"/>
                </a:solidFill>
              </a:rPr>
              <a:t>04 · RÉALISATION</a:t>
            </a:r>
            <a:endParaRPr/>
          </a:p>
        </p:txBody>
      </p:sp>
      <p:sp>
        <p:nvSpPr>
          <p:cNvPr id="480114401" name="Titre"/>
          <p:cNvSpPr txBox="1"/>
          <p:nvPr/>
        </p:nvSpPr>
        <p:spPr bwMode="auto">
          <a:xfrm>
            <a:off x="914400" y="863599"/>
            <a:ext cx="10363200" cy="508000"/>
          </a:xfrm>
          <a:prstGeom prst="rect">
            <a:avLst/>
          </a:prstGeom>
          <a:noFill/>
          <a:ln>
            <a:noFill/>
          </a:ln>
        </p:spPr>
        <p:txBody>
          <a:bodyPr wrap="square" lIns="0" tIns="0" rIns="0" bIns="0" anchor="t">
            <a:normAutofit/>
          </a:bodyPr>
          <a:lstStyle/>
          <a:p>
            <a:pPr>
              <a:buNone/>
              <a:defRPr/>
            </a:pPr>
            <a:r>
              <a:rPr lang="fr-FR" sz="3000">
                <a:solidFill>
                  <a:srgbClr val="0B1F3A"/>
                </a:solidFill>
                <a:latin typeface="Segoe UI Semibold"/>
              </a:rPr>
              <a:t>Feature engineering</a:t>
            </a:r>
            <a:endParaRPr/>
          </a:p>
        </p:txBody>
      </p:sp>
      <p:sp>
        <p:nvSpPr>
          <p:cNvPr id="1218971785" name="Filet"/>
          <p:cNvSpPr/>
          <p:nvPr/>
        </p:nvSpPr>
        <p:spPr bwMode="auto">
          <a:xfrm>
            <a:off x="914400" y="1473200"/>
            <a:ext cx="685800" cy="50800"/>
          </a:xfrm>
          <a:prstGeom prst="rect">
            <a:avLst/>
          </a:prstGeom>
          <a:solidFill>
            <a:srgbClr val="2563EB"/>
          </a:solidFill>
          <a:ln>
            <a:noFill/>
          </a:ln>
        </p:spPr>
        <p:txBody>
          <a:bodyPr wrap="square" lIns="0" tIns="0" rIns="0" bIns="0" anchor="t">
            <a:normAutofit/>
          </a:bodyPr>
          <a:lstStyle/>
          <a:p>
            <a:pPr>
              <a:defRPr/>
            </a:pPr>
            <a:endParaRPr/>
          </a:p>
        </p:txBody>
      </p:sp>
      <p:sp>
        <p:nvSpPr>
          <p:cNvPr id="1021627080" name="CardL"/>
          <p:cNvSpPr/>
          <p:nvPr/>
        </p:nvSpPr>
        <p:spPr bwMode="auto">
          <a:xfrm>
            <a:off x="914400" y="2032000"/>
            <a:ext cx="4978400" cy="3810000"/>
          </a:xfrm>
          <a:prstGeom prst="roundRect">
            <a:avLst>
              <a:gd name="adj" fmla="val 5000"/>
            </a:avLst>
          </a:prstGeom>
          <a:solidFill>
            <a:srgbClr val="FFFFFF"/>
          </a:solidFill>
          <a:ln w="9525">
            <a:solidFill>
              <a:srgbClr val="E2E8F0"/>
            </a:solidFill>
          </a:ln>
        </p:spPr>
        <p:txBody>
          <a:bodyPr wrap="square" lIns="0" tIns="0" rIns="0" bIns="0" anchor="t">
            <a:normAutofit/>
          </a:bodyPr>
          <a:lstStyle/>
          <a:p>
            <a:pPr>
              <a:defRPr/>
            </a:pPr>
            <a:endParaRPr/>
          </a:p>
        </p:txBody>
      </p:sp>
      <p:sp>
        <p:nvSpPr>
          <p:cNvPr id="1910465595" name="CardR"/>
          <p:cNvSpPr/>
          <p:nvPr/>
        </p:nvSpPr>
        <p:spPr bwMode="auto">
          <a:xfrm>
            <a:off x="6146800" y="2032000"/>
            <a:ext cx="4978400" cy="3810000"/>
          </a:xfrm>
          <a:prstGeom prst="roundRect">
            <a:avLst>
              <a:gd name="adj" fmla="val 5000"/>
            </a:avLst>
          </a:prstGeom>
          <a:solidFill>
            <a:srgbClr val="FFFFFF"/>
          </a:solidFill>
          <a:ln w="9525">
            <a:solidFill>
              <a:srgbClr val="E2E8F0"/>
            </a:solidFill>
          </a:ln>
        </p:spPr>
        <p:txBody>
          <a:bodyPr wrap="square" lIns="0" tIns="0" rIns="0" bIns="0" anchor="t">
            <a:normAutofit/>
          </a:bodyPr>
          <a:lstStyle/>
          <a:p>
            <a:pPr>
              <a:defRPr/>
            </a:pPr>
            <a:endParaRPr/>
          </a:p>
        </p:txBody>
      </p:sp>
      <p:sp>
        <p:nvSpPr>
          <p:cNvPr id="1539447974" name="TitleL"/>
          <p:cNvSpPr txBox="1"/>
          <p:nvPr/>
        </p:nvSpPr>
        <p:spPr bwMode="auto">
          <a:xfrm>
            <a:off x="1219200" y="2387600"/>
            <a:ext cx="4368800" cy="660400"/>
          </a:xfrm>
          <a:prstGeom prst="rect">
            <a:avLst/>
          </a:prstGeom>
          <a:noFill/>
          <a:ln>
            <a:noFill/>
          </a:ln>
        </p:spPr>
        <p:txBody>
          <a:bodyPr wrap="square" lIns="0" tIns="0" rIns="0" bIns="0" anchor="t">
            <a:normAutofit/>
          </a:bodyPr>
          <a:lstStyle/>
          <a:p>
            <a:pPr>
              <a:lnSpc>
                <a:spcPts val="2400"/>
              </a:lnSpc>
              <a:buNone/>
              <a:defRPr/>
            </a:pPr>
            <a:r>
              <a:rPr lang="fr-FR" sz="2000">
                <a:solidFill>
                  <a:srgbClr val="0B1F3A"/>
                </a:solidFill>
                <a:latin typeface="Segoe UI Semibold"/>
              </a:rPr>
              <a:t>Calcul des variables delta</a:t>
            </a:r>
            <a:endParaRPr/>
          </a:p>
        </p:txBody>
      </p:sp>
      <p:sp>
        <p:nvSpPr>
          <p:cNvPr id="1132434157" name="DetailL"/>
          <p:cNvSpPr txBox="1"/>
          <p:nvPr/>
        </p:nvSpPr>
        <p:spPr bwMode="auto">
          <a:xfrm>
            <a:off x="1219200" y="3200400"/>
            <a:ext cx="4368800" cy="1219200"/>
          </a:xfrm>
          <a:prstGeom prst="rect">
            <a:avLst/>
          </a:prstGeom>
          <a:noFill/>
          <a:ln>
            <a:noFill/>
          </a:ln>
        </p:spPr>
        <p:txBody>
          <a:bodyPr wrap="square" lIns="0" tIns="0" rIns="0" bIns="0" anchor="t">
            <a:normAutofit/>
          </a:bodyPr>
          <a:lstStyle/>
          <a:p>
            <a:pPr>
              <a:lnSpc>
                <a:spcPts val="2000"/>
              </a:lnSpc>
              <a:buNone/>
              <a:defRPr/>
            </a:pPr>
            <a:r>
              <a:rPr lang="fr-FR" sz="1500">
                <a:solidFill>
                  <a:srgbClr val="64748B"/>
                </a:solidFill>
              </a:rPr>
              <a:t>Pour chaque indicateur, on calcule l'évolution (Δ) entre deux périodes plutôt que la valeur brute.</a:t>
            </a:r>
            <a:endParaRPr/>
          </a:p>
        </p:txBody>
      </p:sp>
      <p:sp>
        <p:nvSpPr>
          <p:cNvPr id="2031977236" name="chip52"/>
          <p:cNvSpPr/>
          <p:nvPr/>
        </p:nvSpPr>
        <p:spPr bwMode="auto">
          <a:xfrm>
            <a:off x="1219200" y="4927600"/>
            <a:ext cx="3810000" cy="431799"/>
          </a:xfrm>
          <a:prstGeom prst="roundRect">
            <a:avLst>
              <a:gd name="adj" fmla="val 50000"/>
            </a:avLst>
          </a:prstGeom>
          <a:solidFill>
            <a:srgbClr val="F1F5F9"/>
          </a:solidFill>
          <a:ln>
            <a:noFill/>
          </a:ln>
        </p:spPr>
        <p:txBody>
          <a:bodyPr wrap="square" lIns="76200" tIns="76200" rIns="76200" bIns="76200" anchor="ctr">
            <a:normAutofit/>
          </a:bodyPr>
          <a:lstStyle/>
          <a:p>
            <a:pPr algn="ctr">
              <a:buNone/>
              <a:defRPr/>
            </a:pPr>
            <a:r>
              <a:rPr lang="fr-FR" sz="1400">
                <a:solidFill>
                  <a:srgbClr val="0B1F3A"/>
                </a:solidFill>
                <a:latin typeface="Segoe UI Semibold"/>
              </a:rPr>
              <a:t>Δ  =  valeur(t) − valeur(t−1)</a:t>
            </a:r>
            <a:endParaRPr/>
          </a:p>
        </p:txBody>
      </p:sp>
      <p:sp>
        <p:nvSpPr>
          <p:cNvPr id="257355227" name="TitleR"/>
          <p:cNvSpPr txBox="1"/>
          <p:nvPr/>
        </p:nvSpPr>
        <p:spPr bwMode="auto">
          <a:xfrm>
            <a:off x="6451600" y="2387600"/>
            <a:ext cx="4368800" cy="660400"/>
          </a:xfrm>
          <a:prstGeom prst="rect">
            <a:avLst/>
          </a:prstGeom>
          <a:noFill/>
          <a:ln>
            <a:noFill/>
          </a:ln>
        </p:spPr>
        <p:txBody>
          <a:bodyPr wrap="square" lIns="0" tIns="0" rIns="0" bIns="0" anchor="t">
            <a:normAutofit/>
          </a:bodyPr>
          <a:lstStyle/>
          <a:p>
            <a:pPr>
              <a:lnSpc>
                <a:spcPts val="2400"/>
              </a:lnSpc>
              <a:buNone/>
              <a:defRPr/>
            </a:pPr>
            <a:r>
              <a:rPr lang="fr-FR" sz="2000">
                <a:solidFill>
                  <a:srgbClr val="E11D48"/>
                </a:solidFill>
                <a:latin typeface="Segoe UI Semibold"/>
              </a:rPr>
              <a:t>Intégration de la délinquance</a:t>
            </a:r>
            <a:endParaRPr/>
          </a:p>
        </p:txBody>
      </p:sp>
      <p:sp>
        <p:nvSpPr>
          <p:cNvPr id="823060486" name="DetailR"/>
          <p:cNvSpPr txBox="1"/>
          <p:nvPr/>
        </p:nvSpPr>
        <p:spPr bwMode="auto">
          <a:xfrm>
            <a:off x="6451600" y="3200400"/>
            <a:ext cx="4368800" cy="914400"/>
          </a:xfrm>
          <a:prstGeom prst="rect">
            <a:avLst/>
          </a:prstGeom>
          <a:noFill/>
          <a:ln>
            <a:noFill/>
          </a:ln>
        </p:spPr>
        <p:txBody>
          <a:bodyPr wrap="square" lIns="0" tIns="0" rIns="0" bIns="0" anchor="t">
            <a:normAutofit/>
          </a:bodyPr>
          <a:lstStyle/>
          <a:p>
            <a:pPr>
              <a:lnSpc>
                <a:spcPts val="2000"/>
              </a:lnSpc>
              <a:buNone/>
              <a:defRPr/>
            </a:pPr>
            <a:r>
              <a:rPr lang="fr-FR" sz="1500">
                <a:solidFill>
                  <a:srgbClr val="64748B"/>
                </a:solidFill>
              </a:rPr>
              <a:t>Taux de délinquance normalisé entre 0 et 1 (normalisation min-max du taux pour 1 000 habitants).</a:t>
            </a:r>
            <a:endParaRPr/>
          </a:p>
        </p:txBody>
      </p:sp>
      <p:sp>
        <p:nvSpPr>
          <p:cNvPr id="1797591888" name="ExLabel"/>
          <p:cNvSpPr txBox="1"/>
          <p:nvPr/>
        </p:nvSpPr>
        <p:spPr bwMode="auto">
          <a:xfrm>
            <a:off x="6451600" y="4292600"/>
            <a:ext cx="4368800" cy="228600"/>
          </a:xfrm>
          <a:prstGeom prst="rect">
            <a:avLst/>
          </a:prstGeom>
          <a:noFill/>
          <a:ln>
            <a:noFill/>
          </a:ln>
        </p:spPr>
        <p:txBody>
          <a:bodyPr wrap="square" lIns="0" tIns="0" rIns="0" bIns="0" anchor="t">
            <a:normAutofit/>
          </a:bodyPr>
          <a:lstStyle/>
          <a:p>
            <a:pPr>
              <a:buNone/>
              <a:defRPr/>
            </a:pPr>
            <a:r>
              <a:rPr lang="fr-FR" sz="1400" b="1" spc="200">
                <a:solidFill>
                  <a:srgbClr val="64748B"/>
                </a:solidFill>
              </a:rPr>
              <a:t>EXEMPLE</a:t>
            </a:r>
            <a:endParaRPr/>
          </a:p>
        </p:txBody>
      </p:sp>
      <p:sp>
        <p:nvSpPr>
          <p:cNvPr id="1154936419" name="chip63"/>
          <p:cNvSpPr/>
          <p:nvPr/>
        </p:nvSpPr>
        <p:spPr bwMode="auto">
          <a:xfrm>
            <a:off x="6451600" y="4648200"/>
            <a:ext cx="4368800" cy="431799"/>
          </a:xfrm>
          <a:prstGeom prst="roundRect">
            <a:avLst>
              <a:gd name="adj" fmla="val 50000"/>
            </a:avLst>
          </a:prstGeom>
          <a:solidFill>
            <a:srgbClr val="E11D48"/>
          </a:solidFill>
          <a:ln>
            <a:noFill/>
          </a:ln>
        </p:spPr>
        <p:txBody>
          <a:bodyPr wrap="square" lIns="76200" tIns="76200" rIns="76200" bIns="76200" anchor="ctr">
            <a:normAutofit/>
          </a:bodyPr>
          <a:lstStyle/>
          <a:p>
            <a:pPr algn="ctr">
              <a:buNone/>
              <a:defRPr/>
            </a:pPr>
            <a:r>
              <a:rPr lang="fr-FR" sz="1400">
                <a:solidFill>
                  <a:srgbClr val="FFFFFF"/>
                </a:solidFill>
                <a:latin typeface="Segoe UI Semibold"/>
              </a:rPr>
              <a:t>Gironde = 1,0 (taux le plus élevé)</a:t>
            </a:r>
            <a:endParaRPr/>
          </a:p>
        </p:txBody>
      </p:sp>
      <p:sp>
        <p:nvSpPr>
          <p:cNvPr id="1846249656" name="chip64"/>
          <p:cNvSpPr/>
          <p:nvPr/>
        </p:nvSpPr>
        <p:spPr bwMode="auto">
          <a:xfrm>
            <a:off x="6451600" y="5207000"/>
            <a:ext cx="4368800" cy="431799"/>
          </a:xfrm>
          <a:prstGeom prst="roundRect">
            <a:avLst>
              <a:gd name="adj" fmla="val 50000"/>
            </a:avLst>
          </a:prstGeom>
          <a:solidFill>
            <a:srgbClr val="F1F5F9"/>
          </a:solidFill>
          <a:ln>
            <a:noFill/>
          </a:ln>
        </p:spPr>
        <p:txBody>
          <a:bodyPr wrap="square" lIns="76200" tIns="76200" rIns="76200" bIns="76200" anchor="ctr">
            <a:normAutofit/>
          </a:bodyPr>
          <a:lstStyle/>
          <a:p>
            <a:pPr algn="ctr">
              <a:buNone/>
              <a:defRPr/>
            </a:pPr>
            <a:r>
              <a:rPr lang="fr-FR" sz="1400">
                <a:solidFill>
                  <a:srgbClr val="334155"/>
                </a:solidFill>
                <a:latin typeface="Segoe UI Semibold"/>
              </a:rPr>
              <a:t>Creuse = 0,0 (taux le plus faible)</a:t>
            </a:r>
            <a:endParaRPr/>
          </a:p>
        </p:txBody>
      </p:sp>
      <p:sp>
        <p:nvSpPr>
          <p:cNvPr id="278065076" name="Page"/>
          <p:cNvSpPr txBox="1"/>
          <p:nvPr/>
        </p:nvSpPr>
        <p:spPr bwMode="auto">
          <a:xfrm>
            <a:off x="10515600" y="6451600"/>
            <a:ext cx="914400" cy="254000"/>
          </a:xfrm>
          <a:prstGeom prst="rect">
            <a:avLst/>
          </a:prstGeom>
          <a:noFill/>
          <a:ln>
            <a:noFill/>
          </a:ln>
        </p:spPr>
        <p:txBody>
          <a:bodyPr wrap="square" lIns="0" tIns="0" rIns="0" bIns="0" anchor="t">
            <a:normAutofit/>
          </a:bodyPr>
          <a:lstStyle/>
          <a:p>
            <a:pPr algn="r">
              <a:buNone/>
              <a:defRPr/>
            </a:pPr>
            <a:r>
              <a:rPr lang="fr-FR" sz="1400">
                <a:solidFill>
                  <a:srgbClr val="64748B"/>
                </a:solidFill>
              </a:rPr>
              <a:t>15</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med" p14:dur="500" advClick="1">
        <p:fade thruBlk="0"/>
      </p:transition>
    </mc:Choice>
    <mc:Fallback>
      <p:transition spd="med" advClick="1">
        <p:fade thruBlk="0"/>
      </p:transition>
    </mc:Fallback>
  </mc:AlternateContent>
  <p:timing>
    <p:tnLst>
      <p:par>
        <p:cTn id="1" dur="indefinite" restart="never" nodeType="tmRoot">
          <p:childTnLst>
            <p:par>
              <p:cTn id="2" fill="hold">
                <p:stCondLst>
                  <p:cond delay="0"/>
                </p:stCondLst>
                <p:childTnLst>
                  <p:par>
                    <p:cTn id="3" presetID="10" presetClass="entr" presetSubtype="0" fill="hold" grpId="0" nodeType="afterEffect">
                      <p:stCondLst>
                        <p:cond delay="500"/>
                      </p:stCondLst>
                      <p:childTnLst>
                        <p:set>
                          <p:cBhvr>
                            <p:cTn id="4" dur="1" fill="hold">
                              <p:stCondLst>
                                <p:cond delay="0"/>
                              </p:stCondLst>
                            </p:cTn>
                            <p:tgtEl>
                              <p:spTgt spid="694536231"/>
                            </p:tgtEl>
                            <p:attrNameLst>
                              <p:attrName>style.visibility</p:attrName>
                            </p:attrNameLst>
                          </p:cBhvr>
                          <p:to>
                            <p:strVal val="visible"/>
                          </p:to>
                        </p:set>
                        <p:animEffect transition="in" filter="fade">
                          <p:cBhvr>
                            <p:cTn id="5" dur="400"/>
                            <p:tgtEl>
                              <p:spTgt spid="694536231"/>
                            </p:tgtEl>
                          </p:cBhvr>
                        </p:animEffect>
                        <p:anim calcmode="lin" valueType="num">
                          <p:cBhvr additive="base">
                            <p:cTn id="6" dur="400" fill="hold"/>
                            <p:tgtEl>
                              <p:spTgt spid="694536231"/>
                            </p:tgtEl>
                            <p:attrNameLst>
                              <p:attrName>ppt_y</p:attrName>
                            </p:attrNameLst>
                          </p:cBhvr>
                          <p:tavLst>
                            <p:tav tm="0">
                              <p:val>
                                <p:fltVal val="0.045999999999999999"/>
                              </p:val>
                            </p:tav>
                            <p:tav tm="100000">
                              <p:val>
                                <p:fltVal val="0"/>
                              </p:val>
                            </p:tav>
                          </p:tavLst>
                        </p:anim>
                      </p:childTnLst>
                    </p:cTn>
                  </p:par>
                  <p:par>
                    <p:cTn id="7" presetID="10" presetClass="entr" presetSubtype="0" fill="hold" grpId="0" nodeType="afterEffect">
                      <p:stCondLst>
                        <p:cond delay="150"/>
                      </p:stCondLst>
                      <p:childTnLst>
                        <p:set>
                          <p:cBhvr>
                            <p:cTn id="8" dur="1" fill="hold">
                              <p:stCondLst>
                                <p:cond delay="0"/>
                              </p:stCondLst>
                            </p:cTn>
                            <p:tgtEl>
                              <p:spTgt spid="480114401"/>
                            </p:tgtEl>
                            <p:attrNameLst>
                              <p:attrName>style.visibility</p:attrName>
                            </p:attrNameLst>
                          </p:cBhvr>
                          <p:to>
                            <p:strVal val="visible"/>
                          </p:to>
                        </p:set>
                        <p:animEffect transition="in" filter="fade">
                          <p:cBhvr>
                            <p:cTn id="9" dur="400"/>
                            <p:tgtEl>
                              <p:spTgt spid="480114401"/>
                            </p:tgtEl>
                          </p:cBhvr>
                        </p:animEffect>
                        <p:anim calcmode="lin" valueType="num">
                          <p:cBhvr additive="base">
                            <p:cTn id="10" dur="400" fill="hold"/>
                            <p:tgtEl>
                              <p:spTgt spid="480114401"/>
                            </p:tgtEl>
                            <p:attrNameLst>
                              <p:attrName>ppt_y</p:attrName>
                            </p:attrNameLst>
                          </p:cBhvr>
                          <p:tavLst>
                            <p:tav tm="0">
                              <p:val>
                                <p:fltVal val="0.045999999999999999"/>
                              </p:val>
                            </p:tav>
                            <p:tav tm="100000">
                              <p:val>
                                <p:fltVal val="0"/>
                              </p:val>
                            </p:tav>
                          </p:tavLst>
                        </p:anim>
                      </p:childTnLst>
                    </p:cTn>
                  </p:par>
                  <p:par>
                    <p:cTn id="11" presetID="10" presetClass="entr" presetSubtype="0" fill="hold" grpId="0" nodeType="afterEffect">
                      <p:stCondLst>
                        <p:cond delay="150"/>
                      </p:stCondLst>
                      <p:childTnLst>
                        <p:set>
                          <p:cBhvr>
                            <p:cTn id="12" dur="1" fill="hold">
                              <p:stCondLst>
                                <p:cond delay="0"/>
                              </p:stCondLst>
                            </p:cTn>
                            <p:tgtEl>
                              <p:spTgt spid="1218971785"/>
                            </p:tgtEl>
                            <p:attrNameLst>
                              <p:attrName>style.visibility</p:attrName>
                            </p:attrNameLst>
                          </p:cBhvr>
                          <p:to>
                            <p:strVal val="visible"/>
                          </p:to>
                        </p:set>
                        <p:animEffect transition="in" filter="fade">
                          <p:cBhvr>
                            <p:cTn id="13" dur="400"/>
                            <p:tgtEl>
                              <p:spTgt spid="1218971785"/>
                            </p:tgtEl>
                          </p:cBhvr>
                        </p:animEffect>
                        <p:anim calcmode="lin" valueType="num">
                          <p:cBhvr additive="base">
                            <p:cTn id="14" dur="400" fill="hold"/>
                            <p:tgtEl>
                              <p:spTgt spid="1218971785"/>
                            </p:tgtEl>
                            <p:attrNameLst>
                              <p:attrName>ppt_y</p:attrName>
                            </p:attrNameLst>
                          </p:cBhvr>
                          <p:tavLst>
                            <p:tav tm="0">
                              <p:val>
                                <p:fltVal val="0.045999999999999999"/>
                              </p:val>
                            </p:tav>
                            <p:tav tm="100000">
                              <p:val>
                                <p:fltVal val="0"/>
                              </p:val>
                            </p:tav>
                          </p:tavLst>
                        </p:anim>
                      </p:childTnLst>
                    </p:cTn>
                  </p:par>
                  <p:par>
                    <p:cTn id="15" presetID="10" presetClass="entr" presetSubtype="0" fill="hold" grpId="0" nodeType="afterEffect">
                      <p:stCondLst>
                        <p:cond delay="150"/>
                      </p:stCondLst>
                      <p:childTnLst>
                        <p:set>
                          <p:cBhvr>
                            <p:cTn id="16" dur="1" fill="hold">
                              <p:stCondLst>
                                <p:cond delay="0"/>
                              </p:stCondLst>
                            </p:cTn>
                            <p:tgtEl>
                              <p:spTgt spid="1021627080"/>
                            </p:tgtEl>
                            <p:attrNameLst>
                              <p:attrName>style.visibility</p:attrName>
                            </p:attrNameLst>
                          </p:cBhvr>
                          <p:to>
                            <p:strVal val="visible"/>
                          </p:to>
                        </p:set>
                        <p:animEffect transition="in" filter="fade">
                          <p:cBhvr>
                            <p:cTn id="17" dur="400"/>
                            <p:tgtEl>
                              <p:spTgt spid="1021627080"/>
                            </p:tgtEl>
                          </p:cBhvr>
                        </p:animEffect>
                        <p:anim calcmode="lin" valueType="num">
                          <p:cBhvr additive="base">
                            <p:cTn id="18" dur="400" fill="hold"/>
                            <p:tgtEl>
                              <p:spTgt spid="1021627080"/>
                            </p:tgtEl>
                            <p:attrNameLst>
                              <p:attrName>ppt_y</p:attrName>
                            </p:attrNameLst>
                          </p:cBhvr>
                          <p:tavLst>
                            <p:tav tm="0">
                              <p:val>
                                <p:fltVal val="0.045999999999999999"/>
                              </p:val>
                            </p:tav>
                            <p:tav tm="100000">
                              <p:val>
                                <p:fltVal val="0"/>
                              </p:val>
                            </p:tav>
                          </p:tavLst>
                        </p:anim>
                      </p:childTnLst>
                    </p:cTn>
                  </p:par>
                  <p:par>
                    <p:cTn id="19" presetID="10" presetClass="entr" presetSubtype="0" fill="hold" grpId="0" nodeType="afterEffect">
                      <p:stCondLst>
                        <p:cond delay="150"/>
                      </p:stCondLst>
                      <p:childTnLst>
                        <p:set>
                          <p:cBhvr>
                            <p:cTn id="20" dur="1" fill="hold">
                              <p:stCondLst>
                                <p:cond delay="0"/>
                              </p:stCondLst>
                            </p:cTn>
                            <p:tgtEl>
                              <p:spTgt spid="1910465595"/>
                            </p:tgtEl>
                            <p:attrNameLst>
                              <p:attrName>style.visibility</p:attrName>
                            </p:attrNameLst>
                          </p:cBhvr>
                          <p:to>
                            <p:strVal val="visible"/>
                          </p:to>
                        </p:set>
                        <p:animEffect transition="in" filter="fade">
                          <p:cBhvr>
                            <p:cTn id="21" dur="400"/>
                            <p:tgtEl>
                              <p:spTgt spid="1910465595"/>
                            </p:tgtEl>
                          </p:cBhvr>
                        </p:animEffect>
                        <p:anim calcmode="lin" valueType="num">
                          <p:cBhvr additive="base">
                            <p:cTn id="22" dur="400" fill="hold"/>
                            <p:tgtEl>
                              <p:spTgt spid="1910465595"/>
                            </p:tgtEl>
                            <p:attrNameLst>
                              <p:attrName>ppt_y</p:attrName>
                            </p:attrNameLst>
                          </p:cBhvr>
                          <p:tavLst>
                            <p:tav tm="0">
                              <p:val>
                                <p:fltVal val="0.045999999999999999"/>
                              </p:val>
                            </p:tav>
                            <p:tav tm="100000">
                              <p:val>
                                <p:fltVal val="0"/>
                              </p:val>
                            </p:tav>
                          </p:tavLst>
                        </p:anim>
                      </p:childTnLst>
                    </p:cTn>
                  </p:par>
                  <p:par>
                    <p:cTn id="23" presetID="10" presetClass="entr" presetSubtype="0" fill="hold" grpId="0" nodeType="afterEffect">
                      <p:stCondLst>
                        <p:cond delay="150"/>
                      </p:stCondLst>
                      <p:childTnLst>
                        <p:set>
                          <p:cBhvr>
                            <p:cTn id="24" dur="1" fill="hold">
                              <p:stCondLst>
                                <p:cond delay="0"/>
                              </p:stCondLst>
                            </p:cTn>
                            <p:tgtEl>
                              <p:spTgt spid="1539447974"/>
                            </p:tgtEl>
                            <p:attrNameLst>
                              <p:attrName>style.visibility</p:attrName>
                            </p:attrNameLst>
                          </p:cBhvr>
                          <p:to>
                            <p:strVal val="visible"/>
                          </p:to>
                        </p:set>
                        <p:animEffect transition="in" filter="fade">
                          <p:cBhvr>
                            <p:cTn id="25" dur="400"/>
                            <p:tgtEl>
                              <p:spTgt spid="1539447974"/>
                            </p:tgtEl>
                          </p:cBhvr>
                        </p:animEffect>
                        <p:anim calcmode="lin" valueType="num">
                          <p:cBhvr additive="base">
                            <p:cTn id="26" dur="400" fill="hold"/>
                            <p:tgtEl>
                              <p:spTgt spid="1539447974"/>
                            </p:tgtEl>
                            <p:attrNameLst>
                              <p:attrName>ppt_y</p:attrName>
                            </p:attrNameLst>
                          </p:cBhvr>
                          <p:tavLst>
                            <p:tav tm="0">
                              <p:val>
                                <p:fltVal val="0.045999999999999999"/>
                              </p:val>
                            </p:tav>
                            <p:tav tm="100000">
                              <p:val>
                                <p:fltVal val="0"/>
                              </p:val>
                            </p:tav>
                          </p:tavLst>
                        </p:anim>
                      </p:childTnLst>
                    </p:cTn>
                  </p:par>
                  <p:par>
                    <p:cTn id="27" presetID="10" presetClass="entr" presetSubtype="0" fill="hold" grpId="0" nodeType="afterEffect">
                      <p:stCondLst>
                        <p:cond delay="150"/>
                      </p:stCondLst>
                      <p:childTnLst>
                        <p:set>
                          <p:cBhvr>
                            <p:cTn id="28" dur="1" fill="hold">
                              <p:stCondLst>
                                <p:cond delay="0"/>
                              </p:stCondLst>
                            </p:cTn>
                            <p:tgtEl>
                              <p:spTgt spid="1132434157"/>
                            </p:tgtEl>
                            <p:attrNameLst>
                              <p:attrName>style.visibility</p:attrName>
                            </p:attrNameLst>
                          </p:cBhvr>
                          <p:to>
                            <p:strVal val="visible"/>
                          </p:to>
                        </p:set>
                        <p:animEffect transition="in" filter="fade">
                          <p:cBhvr>
                            <p:cTn id="29" dur="400"/>
                            <p:tgtEl>
                              <p:spTgt spid="1132434157"/>
                            </p:tgtEl>
                          </p:cBhvr>
                        </p:animEffect>
                        <p:anim calcmode="lin" valueType="num">
                          <p:cBhvr additive="base">
                            <p:cTn id="30" dur="400" fill="hold"/>
                            <p:tgtEl>
                              <p:spTgt spid="1132434157"/>
                            </p:tgtEl>
                            <p:attrNameLst>
                              <p:attrName>ppt_y</p:attrName>
                            </p:attrNameLst>
                          </p:cBhvr>
                          <p:tavLst>
                            <p:tav tm="0">
                              <p:val>
                                <p:fltVal val="0.045999999999999999"/>
                              </p:val>
                            </p:tav>
                            <p:tav tm="100000">
                              <p:val>
                                <p:fltVal val="0"/>
                              </p:val>
                            </p:tav>
                          </p:tavLst>
                        </p:anim>
                      </p:childTnLst>
                    </p:cTn>
                  </p:par>
                  <p:par>
                    <p:cTn id="31" presetID="10" presetClass="entr" presetSubtype="0" fill="hold" grpId="0" nodeType="afterEffect">
                      <p:stCondLst>
                        <p:cond delay="150"/>
                      </p:stCondLst>
                      <p:childTnLst>
                        <p:set>
                          <p:cBhvr>
                            <p:cTn id="32" dur="1" fill="hold">
                              <p:stCondLst>
                                <p:cond delay="0"/>
                              </p:stCondLst>
                            </p:cTn>
                            <p:tgtEl>
                              <p:spTgt spid="2031977236"/>
                            </p:tgtEl>
                            <p:attrNameLst>
                              <p:attrName>style.visibility</p:attrName>
                            </p:attrNameLst>
                          </p:cBhvr>
                          <p:to>
                            <p:strVal val="visible"/>
                          </p:to>
                        </p:set>
                        <p:animEffect transition="in" filter="fade">
                          <p:cBhvr>
                            <p:cTn id="33" dur="400"/>
                            <p:tgtEl>
                              <p:spTgt spid="2031977236"/>
                            </p:tgtEl>
                          </p:cBhvr>
                        </p:animEffect>
                        <p:anim calcmode="lin" valueType="num">
                          <p:cBhvr additive="base">
                            <p:cTn id="34" dur="400" fill="hold"/>
                            <p:tgtEl>
                              <p:spTgt spid="2031977236"/>
                            </p:tgtEl>
                            <p:attrNameLst>
                              <p:attrName>ppt_y</p:attrName>
                            </p:attrNameLst>
                          </p:cBhvr>
                          <p:tavLst>
                            <p:tav tm="0">
                              <p:val>
                                <p:fltVal val="0.045999999999999999"/>
                              </p:val>
                            </p:tav>
                            <p:tav tm="100000">
                              <p:val>
                                <p:fltVal val="0"/>
                              </p:val>
                            </p:tav>
                          </p:tavLst>
                        </p:anim>
                      </p:childTnLst>
                    </p:cTn>
                  </p:par>
                  <p:par>
                    <p:cTn id="35" presetID="10" presetClass="entr" presetSubtype="0" fill="hold" grpId="0" nodeType="afterEffect">
                      <p:stCondLst>
                        <p:cond delay="150"/>
                      </p:stCondLst>
                      <p:childTnLst>
                        <p:set>
                          <p:cBhvr>
                            <p:cTn id="36" dur="1" fill="hold">
                              <p:stCondLst>
                                <p:cond delay="0"/>
                              </p:stCondLst>
                            </p:cTn>
                            <p:tgtEl>
                              <p:spTgt spid="257355227"/>
                            </p:tgtEl>
                            <p:attrNameLst>
                              <p:attrName>style.visibility</p:attrName>
                            </p:attrNameLst>
                          </p:cBhvr>
                          <p:to>
                            <p:strVal val="visible"/>
                          </p:to>
                        </p:set>
                        <p:animEffect transition="in" filter="fade">
                          <p:cBhvr>
                            <p:cTn id="37" dur="400"/>
                            <p:tgtEl>
                              <p:spTgt spid="257355227"/>
                            </p:tgtEl>
                          </p:cBhvr>
                        </p:animEffect>
                        <p:anim calcmode="lin" valueType="num">
                          <p:cBhvr additive="base">
                            <p:cTn id="38" dur="400" fill="hold"/>
                            <p:tgtEl>
                              <p:spTgt spid="257355227"/>
                            </p:tgtEl>
                            <p:attrNameLst>
                              <p:attrName>ppt_y</p:attrName>
                            </p:attrNameLst>
                          </p:cBhvr>
                          <p:tavLst>
                            <p:tav tm="0">
                              <p:val>
                                <p:fltVal val="0.045999999999999999"/>
                              </p:val>
                            </p:tav>
                            <p:tav tm="100000">
                              <p:val>
                                <p:fltVal val="0"/>
                              </p:val>
                            </p:tav>
                          </p:tavLst>
                        </p:anim>
                      </p:childTnLst>
                    </p:cTn>
                  </p:par>
                  <p:par>
                    <p:cTn id="39" presetID="10" presetClass="entr" presetSubtype="0" fill="hold" grpId="0" nodeType="afterEffect">
                      <p:stCondLst>
                        <p:cond delay="150"/>
                      </p:stCondLst>
                      <p:childTnLst>
                        <p:set>
                          <p:cBhvr>
                            <p:cTn id="40" dur="1" fill="hold">
                              <p:stCondLst>
                                <p:cond delay="0"/>
                              </p:stCondLst>
                            </p:cTn>
                            <p:tgtEl>
                              <p:spTgt spid="823060486"/>
                            </p:tgtEl>
                            <p:attrNameLst>
                              <p:attrName>style.visibility</p:attrName>
                            </p:attrNameLst>
                          </p:cBhvr>
                          <p:to>
                            <p:strVal val="visible"/>
                          </p:to>
                        </p:set>
                        <p:animEffect transition="in" filter="fade">
                          <p:cBhvr>
                            <p:cTn id="41" dur="400"/>
                            <p:tgtEl>
                              <p:spTgt spid="823060486"/>
                            </p:tgtEl>
                          </p:cBhvr>
                        </p:animEffect>
                        <p:anim calcmode="lin" valueType="num">
                          <p:cBhvr additive="base">
                            <p:cTn id="42" dur="400" fill="hold"/>
                            <p:tgtEl>
                              <p:spTgt spid="823060486"/>
                            </p:tgtEl>
                            <p:attrNameLst>
                              <p:attrName>ppt_y</p:attrName>
                            </p:attrNameLst>
                          </p:cBhvr>
                          <p:tavLst>
                            <p:tav tm="0">
                              <p:val>
                                <p:fltVal val="0.045999999999999999"/>
                              </p:val>
                            </p:tav>
                            <p:tav tm="100000">
                              <p:val>
                                <p:fltVal val="0"/>
                              </p:val>
                            </p:tav>
                          </p:tavLst>
                        </p:anim>
                      </p:childTnLst>
                    </p:cTn>
                  </p:par>
                  <p:par>
                    <p:cTn id="43" presetID="10" presetClass="entr" presetSubtype="0" fill="hold" grpId="0" nodeType="afterEffect">
                      <p:stCondLst>
                        <p:cond delay="150"/>
                      </p:stCondLst>
                      <p:childTnLst>
                        <p:set>
                          <p:cBhvr>
                            <p:cTn id="44" dur="1" fill="hold">
                              <p:stCondLst>
                                <p:cond delay="0"/>
                              </p:stCondLst>
                            </p:cTn>
                            <p:tgtEl>
                              <p:spTgt spid="1797591888"/>
                            </p:tgtEl>
                            <p:attrNameLst>
                              <p:attrName>style.visibility</p:attrName>
                            </p:attrNameLst>
                          </p:cBhvr>
                          <p:to>
                            <p:strVal val="visible"/>
                          </p:to>
                        </p:set>
                        <p:animEffect transition="in" filter="fade">
                          <p:cBhvr>
                            <p:cTn id="45" dur="400"/>
                            <p:tgtEl>
                              <p:spTgt spid="1797591888"/>
                            </p:tgtEl>
                          </p:cBhvr>
                        </p:animEffect>
                        <p:anim calcmode="lin" valueType="num">
                          <p:cBhvr additive="base">
                            <p:cTn id="46" dur="400" fill="hold"/>
                            <p:tgtEl>
                              <p:spTgt spid="1797591888"/>
                            </p:tgtEl>
                            <p:attrNameLst>
                              <p:attrName>ppt_y</p:attrName>
                            </p:attrNameLst>
                          </p:cBhvr>
                          <p:tavLst>
                            <p:tav tm="0">
                              <p:val>
                                <p:fltVal val="0.045999999999999999"/>
                              </p:val>
                            </p:tav>
                            <p:tav tm="100000">
                              <p:val>
                                <p:fltVal val="0"/>
                              </p:val>
                            </p:tav>
                          </p:tavLst>
                        </p:anim>
                      </p:childTnLst>
                    </p:cTn>
                  </p:par>
                  <p:par>
                    <p:cTn id="47" presetID="10" presetClass="entr" presetSubtype="0" fill="hold" grpId="0" nodeType="afterEffect">
                      <p:stCondLst>
                        <p:cond delay="150"/>
                      </p:stCondLst>
                      <p:childTnLst>
                        <p:set>
                          <p:cBhvr>
                            <p:cTn id="48" dur="1" fill="hold">
                              <p:stCondLst>
                                <p:cond delay="0"/>
                              </p:stCondLst>
                            </p:cTn>
                            <p:tgtEl>
                              <p:spTgt spid="1154936419"/>
                            </p:tgtEl>
                            <p:attrNameLst>
                              <p:attrName>style.visibility</p:attrName>
                            </p:attrNameLst>
                          </p:cBhvr>
                          <p:to>
                            <p:strVal val="visible"/>
                          </p:to>
                        </p:set>
                        <p:animEffect transition="in" filter="fade">
                          <p:cBhvr>
                            <p:cTn id="49" dur="400"/>
                            <p:tgtEl>
                              <p:spTgt spid="1154936419"/>
                            </p:tgtEl>
                          </p:cBhvr>
                        </p:animEffect>
                        <p:anim calcmode="lin" valueType="num">
                          <p:cBhvr additive="base">
                            <p:cTn id="50" dur="400" fill="hold"/>
                            <p:tgtEl>
                              <p:spTgt spid="1154936419"/>
                            </p:tgtEl>
                            <p:attrNameLst>
                              <p:attrName>ppt_y</p:attrName>
                            </p:attrNameLst>
                          </p:cBhvr>
                          <p:tavLst>
                            <p:tav tm="0">
                              <p:val>
                                <p:fltVal val="0.045999999999999999"/>
                              </p:val>
                            </p:tav>
                            <p:tav tm="100000">
                              <p:val>
                                <p:fltVal val="0"/>
                              </p:val>
                            </p:tav>
                          </p:tavLst>
                        </p:anim>
                      </p:childTnLst>
                    </p:cTn>
                  </p:par>
                  <p:par>
                    <p:cTn id="51" presetID="10" presetClass="entr" presetSubtype="0" fill="hold" grpId="0" nodeType="afterEffect">
                      <p:stCondLst>
                        <p:cond delay="150"/>
                      </p:stCondLst>
                      <p:childTnLst>
                        <p:set>
                          <p:cBhvr>
                            <p:cTn id="52" dur="1" fill="hold">
                              <p:stCondLst>
                                <p:cond delay="0"/>
                              </p:stCondLst>
                            </p:cTn>
                            <p:tgtEl>
                              <p:spTgt spid="1846249656"/>
                            </p:tgtEl>
                            <p:attrNameLst>
                              <p:attrName>style.visibility</p:attrName>
                            </p:attrNameLst>
                          </p:cBhvr>
                          <p:to>
                            <p:strVal val="visible"/>
                          </p:to>
                        </p:set>
                        <p:animEffect transition="in" filter="fade">
                          <p:cBhvr>
                            <p:cTn id="53" dur="400"/>
                            <p:tgtEl>
                              <p:spTgt spid="1846249656"/>
                            </p:tgtEl>
                          </p:cBhvr>
                        </p:animEffect>
                        <p:anim calcmode="lin" valueType="num">
                          <p:cBhvr additive="base">
                            <p:cTn id="54" dur="400" fill="hold"/>
                            <p:tgtEl>
                              <p:spTgt spid="1846249656"/>
                            </p:tgtEl>
                            <p:attrNameLst>
                              <p:attrName>ppt_y</p:attrName>
                            </p:attrNameLst>
                          </p:cBhvr>
                          <p:tavLst>
                            <p:tav tm="0">
                              <p:val>
                                <p:fltVal val="0.045999999999999999"/>
                              </p:val>
                            </p:tav>
                            <p:tav tm="100000">
                              <p:val>
                                <p:fltVal val="0"/>
                              </p:val>
                            </p:tav>
                          </p:tavLst>
                        </p:anim>
                      </p:childTnLst>
                    </p:cTn>
                  </p:par>
                  <p:par>
                    <p:cTn id="55" presetID="10" presetClass="entr" presetSubtype="0" fill="hold" grpId="0" nodeType="afterEffect">
                      <p:stCondLst>
                        <p:cond delay="150"/>
                      </p:stCondLst>
                      <p:childTnLst>
                        <p:set>
                          <p:cBhvr>
                            <p:cTn id="56" dur="1" fill="hold">
                              <p:stCondLst>
                                <p:cond delay="0"/>
                              </p:stCondLst>
                            </p:cTn>
                            <p:tgtEl>
                              <p:spTgt spid="278065076"/>
                            </p:tgtEl>
                            <p:attrNameLst>
                              <p:attrName>style.visibility</p:attrName>
                            </p:attrNameLst>
                          </p:cBhvr>
                          <p:to>
                            <p:strVal val="visible"/>
                          </p:to>
                        </p:set>
                        <p:animEffect transition="in" filter="fade">
                          <p:cBhvr>
                            <p:cTn id="57" dur="400"/>
                            <p:tgtEl>
                              <p:spTgt spid="278065076"/>
                            </p:tgtEl>
                          </p:cBhvr>
                        </p:animEffect>
                        <p:anim calcmode="lin" valueType="num">
                          <p:cBhvr additive="base">
                            <p:cTn id="58" dur="400" fill="hold"/>
                            <p:tgtEl>
                              <p:spTgt spid="278065076"/>
                            </p:tgtEl>
                            <p:attrNameLst>
                              <p:attrName>ppt_y</p:attrName>
                            </p:attrNameLst>
                          </p:cBhvr>
                          <p:tavLst>
                            <p:tav tm="0">
                              <p:val>
                                <p:fltVal val="0.045999999999999999"/>
                              </p:val>
                            </p:tav>
                            <p:tav tm="100000">
                              <p:val>
                                <p:fltVal val="0"/>
                              </p:val>
                            </p:tav>
                          </p:tavLst>
                        </p:anim>
                      </p:childTnLst>
                    </p:cTn>
                  </p:par>
                </p:childTnLst>
              </p:cTn>
            </p:par>
          </p:childTnLst>
        </p:cTn>
      </p:par>
    </p:tnLst>
    <p:bldLst>
      <p:bldP spid="694536231" grpId="0" animBg="1"/>
      <p:bldP spid="480114401" grpId="0" animBg="1"/>
      <p:bldP spid="1218971785" grpId="0" animBg="1"/>
      <p:bldP spid="1021627080" grpId="0" animBg="1"/>
      <p:bldP spid="1910465595" grpId="0" animBg="1"/>
      <p:bldP spid="1539447974" grpId="0" animBg="1"/>
      <p:bldP spid="1132434157" grpId="0" animBg="1"/>
      <p:bldP spid="2031977236" grpId="0" animBg="1"/>
      <p:bldP spid="257355227" grpId="0" animBg="1"/>
      <p:bldP spid="823060486" grpId="0" animBg="1"/>
      <p:bldP spid="1797591888" grpId="0" animBg="1"/>
      <p:bldP spid="1154936419" grpId="0" animBg="1"/>
      <p:bldP spid="1846249656" grpId="0" animBg="1"/>
      <p:bldP spid="278065076" grpId="0" animBg="1"/>
    </p:bldLst>
  </p:timing>
</p:sld>
</file>

<file path=ppt/slides/slide1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889965122" name="Eyebrow"/>
          <p:cNvSpPr txBox="1"/>
          <p:nvPr/>
        </p:nvSpPr>
        <p:spPr bwMode="auto">
          <a:xfrm>
            <a:off x="914400" y="584200"/>
            <a:ext cx="9144000" cy="254000"/>
          </a:xfrm>
          <a:prstGeom prst="rect">
            <a:avLst/>
          </a:prstGeom>
          <a:noFill/>
          <a:ln>
            <a:noFill/>
          </a:ln>
        </p:spPr>
        <p:txBody>
          <a:bodyPr wrap="square" lIns="0" tIns="0" rIns="0" bIns="0" anchor="t">
            <a:normAutofit/>
          </a:bodyPr>
          <a:lstStyle/>
          <a:p>
            <a:pPr>
              <a:buNone/>
              <a:defRPr/>
            </a:pPr>
            <a:r>
              <a:rPr lang="fr-FR" sz="1400" b="1" spc="240">
                <a:solidFill>
                  <a:srgbClr val="64748B"/>
                </a:solidFill>
              </a:rPr>
              <a:t>04 · RÉALISATION</a:t>
            </a:r>
            <a:endParaRPr/>
          </a:p>
        </p:txBody>
      </p:sp>
      <p:sp>
        <p:nvSpPr>
          <p:cNvPr id="630125448" name="Titre"/>
          <p:cNvSpPr txBox="1"/>
          <p:nvPr/>
        </p:nvSpPr>
        <p:spPr bwMode="auto">
          <a:xfrm>
            <a:off x="914400" y="863599"/>
            <a:ext cx="10363200" cy="508000"/>
          </a:xfrm>
          <a:prstGeom prst="rect">
            <a:avLst/>
          </a:prstGeom>
          <a:noFill/>
          <a:ln>
            <a:noFill/>
          </a:ln>
        </p:spPr>
        <p:txBody>
          <a:bodyPr wrap="square" lIns="0" tIns="0" rIns="0" bIns="0" anchor="t">
            <a:normAutofit/>
          </a:bodyPr>
          <a:lstStyle/>
          <a:p>
            <a:pPr>
              <a:buNone/>
              <a:defRPr/>
            </a:pPr>
            <a:r>
              <a:rPr lang="fr-FR" sz="3000">
                <a:solidFill>
                  <a:srgbClr val="0B1F3A"/>
                </a:solidFill>
                <a:latin typeface="Segoe UI Semibold"/>
              </a:rPr>
              <a:t>Augmentation des données</a:t>
            </a:r>
            <a:endParaRPr/>
          </a:p>
        </p:txBody>
      </p:sp>
      <p:sp>
        <p:nvSpPr>
          <p:cNvPr id="1318135145" name="Filet"/>
          <p:cNvSpPr/>
          <p:nvPr/>
        </p:nvSpPr>
        <p:spPr bwMode="auto">
          <a:xfrm>
            <a:off x="914400" y="1473200"/>
            <a:ext cx="685800" cy="50800"/>
          </a:xfrm>
          <a:prstGeom prst="rect">
            <a:avLst/>
          </a:prstGeom>
          <a:solidFill>
            <a:srgbClr val="2563EB"/>
          </a:solidFill>
          <a:ln>
            <a:noFill/>
          </a:ln>
        </p:spPr>
        <p:txBody>
          <a:bodyPr wrap="square" lIns="0" tIns="0" rIns="0" bIns="0" anchor="t">
            <a:normAutofit/>
          </a:bodyPr>
          <a:lstStyle/>
          <a:p>
            <a:pPr>
              <a:defRPr/>
            </a:pPr>
            <a:endParaRPr/>
          </a:p>
        </p:txBody>
      </p:sp>
      <p:sp>
        <p:nvSpPr>
          <p:cNvPr id="1809349042" name="M0"/>
          <p:cNvSpPr/>
          <p:nvPr/>
        </p:nvSpPr>
        <p:spPr bwMode="auto">
          <a:xfrm>
            <a:off x="914400" y="2006600"/>
            <a:ext cx="3225800" cy="1524000"/>
          </a:xfrm>
          <a:prstGeom prst="roundRect">
            <a:avLst>
              <a:gd name="adj" fmla="val 8000"/>
            </a:avLst>
          </a:prstGeom>
          <a:solidFill>
            <a:srgbClr val="FFFFFF"/>
          </a:solidFill>
          <a:ln w="9525">
            <a:solidFill>
              <a:srgbClr val="E2E8F0"/>
            </a:solidFill>
          </a:ln>
        </p:spPr>
        <p:txBody>
          <a:bodyPr wrap="square" lIns="177800" tIns="177800" rIns="177800" bIns="177800" anchor="ctr">
            <a:normAutofit/>
          </a:bodyPr>
          <a:lstStyle/>
          <a:p>
            <a:pPr algn="ctr">
              <a:buNone/>
              <a:defRPr/>
            </a:pPr>
            <a:r>
              <a:rPr lang="fr-FR" sz="2800" b="1">
                <a:solidFill>
                  <a:srgbClr val="2563EB"/>
                </a:solidFill>
                <a:latin typeface="Segoe UI Semibold"/>
              </a:rPr>
              <a:t>3</a:t>
            </a:r>
            <a:endParaRPr/>
          </a:p>
          <a:p>
            <a:pPr algn="ctr">
              <a:spcBef>
                <a:spcPts val="400"/>
              </a:spcBef>
              <a:buNone/>
              <a:defRPr/>
            </a:pPr>
            <a:r>
              <a:rPr lang="fr-FR" sz="1500">
                <a:solidFill>
                  <a:srgbClr val="64748B"/>
                </a:solidFill>
              </a:rPr>
              <a:t>Fenêtres temporelles</a:t>
            </a:r>
            <a:endParaRPr/>
          </a:p>
        </p:txBody>
      </p:sp>
      <p:sp>
        <p:nvSpPr>
          <p:cNvPr id="1440133205" name="M1"/>
          <p:cNvSpPr/>
          <p:nvPr/>
        </p:nvSpPr>
        <p:spPr bwMode="auto">
          <a:xfrm>
            <a:off x="4483100" y="2006600"/>
            <a:ext cx="3225800" cy="1524000"/>
          </a:xfrm>
          <a:prstGeom prst="roundRect">
            <a:avLst>
              <a:gd name="adj" fmla="val 8000"/>
            </a:avLst>
          </a:prstGeom>
          <a:solidFill>
            <a:srgbClr val="FFFFFF"/>
          </a:solidFill>
          <a:ln w="9525">
            <a:solidFill>
              <a:srgbClr val="E2E8F0"/>
            </a:solidFill>
          </a:ln>
        </p:spPr>
        <p:txBody>
          <a:bodyPr wrap="square" lIns="177800" tIns="177800" rIns="177800" bIns="177800" anchor="ctr">
            <a:normAutofit/>
          </a:bodyPr>
          <a:lstStyle/>
          <a:p>
            <a:pPr algn="ctr">
              <a:buNone/>
              <a:defRPr/>
            </a:pPr>
            <a:r>
              <a:rPr lang="fr-FR" sz="2800" b="1">
                <a:solidFill>
                  <a:srgbClr val="2563EB"/>
                </a:solidFill>
                <a:latin typeface="Segoe UI Semibold"/>
              </a:rPr>
              <a:t>Gaussien</a:t>
            </a:r>
            <a:endParaRPr/>
          </a:p>
          <a:p>
            <a:pPr algn="ctr">
              <a:spcBef>
                <a:spcPts val="400"/>
              </a:spcBef>
              <a:buNone/>
              <a:defRPr/>
            </a:pPr>
            <a:r>
              <a:rPr lang="fr-FR" sz="1500">
                <a:solidFill>
                  <a:srgbClr val="64748B"/>
                </a:solidFill>
              </a:rPr>
              <a:t>Bruit ajouté</a:t>
            </a:r>
            <a:endParaRPr/>
          </a:p>
        </p:txBody>
      </p:sp>
      <p:sp>
        <p:nvSpPr>
          <p:cNvPr id="1409963924" name="M2"/>
          <p:cNvSpPr/>
          <p:nvPr/>
        </p:nvSpPr>
        <p:spPr bwMode="auto">
          <a:xfrm>
            <a:off x="8051799" y="2006600"/>
            <a:ext cx="3225800" cy="1524000"/>
          </a:xfrm>
          <a:prstGeom prst="roundRect">
            <a:avLst>
              <a:gd name="adj" fmla="val 8000"/>
            </a:avLst>
          </a:prstGeom>
          <a:solidFill>
            <a:srgbClr val="FFFFFF"/>
          </a:solidFill>
          <a:ln w="9525">
            <a:solidFill>
              <a:srgbClr val="E2E8F0"/>
            </a:solidFill>
          </a:ln>
        </p:spPr>
        <p:txBody>
          <a:bodyPr wrap="square" lIns="177800" tIns="177800" rIns="177800" bIns="177800" anchor="ctr">
            <a:normAutofit/>
          </a:bodyPr>
          <a:lstStyle/>
          <a:p>
            <a:pPr algn="ctr">
              <a:buNone/>
              <a:defRPr/>
            </a:pPr>
            <a:r>
              <a:rPr lang="fr-FR" sz="2800" b="1">
                <a:solidFill>
                  <a:srgbClr val="2563EB"/>
                </a:solidFill>
                <a:latin typeface="Segoe UI Semibold"/>
              </a:rPr>
              <a:t>× 34</a:t>
            </a:r>
            <a:endParaRPr/>
          </a:p>
          <a:p>
            <a:pPr algn="ctr">
              <a:spcBef>
                <a:spcPts val="400"/>
              </a:spcBef>
              <a:buNone/>
              <a:defRPr/>
            </a:pPr>
            <a:r>
              <a:rPr lang="fr-FR" sz="1500">
                <a:solidFill>
                  <a:srgbClr val="64748B"/>
                </a:solidFill>
              </a:rPr>
              <a:t>Facteur d'augmentation</a:t>
            </a:r>
            <a:endParaRPr/>
          </a:p>
        </p:txBody>
      </p:sp>
      <p:sp>
        <p:nvSpPr>
          <p:cNvPr id="1206253144" name="Hero"/>
          <p:cNvSpPr txBox="1"/>
          <p:nvPr/>
        </p:nvSpPr>
        <p:spPr bwMode="auto">
          <a:xfrm>
            <a:off x="914400" y="4013200"/>
            <a:ext cx="10363200" cy="1143000"/>
          </a:xfrm>
          <a:prstGeom prst="rect">
            <a:avLst/>
          </a:prstGeom>
          <a:noFill/>
          <a:ln>
            <a:noFill/>
          </a:ln>
        </p:spPr>
        <p:txBody>
          <a:bodyPr wrap="square" lIns="0" tIns="0" rIns="0" bIns="0" anchor="t">
            <a:normAutofit/>
          </a:bodyPr>
          <a:lstStyle/>
          <a:p>
            <a:pPr algn="ctr">
              <a:buNone/>
              <a:defRPr/>
            </a:pPr>
            <a:r>
              <a:rPr lang="fr-FR" sz="7200" b="1">
                <a:solidFill>
                  <a:srgbClr val="2563EB"/>
                </a:solidFill>
                <a:latin typeface="Segoe UI Semibold"/>
              </a:rPr>
              <a:t>858 024</a:t>
            </a:r>
            <a:endParaRPr/>
          </a:p>
        </p:txBody>
      </p:sp>
      <p:sp>
        <p:nvSpPr>
          <p:cNvPr id="1031088823" name="HeroSub"/>
          <p:cNvSpPr txBox="1"/>
          <p:nvPr/>
        </p:nvSpPr>
        <p:spPr bwMode="auto">
          <a:xfrm>
            <a:off x="914400" y="5257800"/>
            <a:ext cx="10363200" cy="330200"/>
          </a:xfrm>
          <a:prstGeom prst="rect">
            <a:avLst/>
          </a:prstGeom>
          <a:noFill/>
          <a:ln>
            <a:noFill/>
          </a:ln>
        </p:spPr>
        <p:txBody>
          <a:bodyPr wrap="square" lIns="0" tIns="0" rIns="0" bIns="0" anchor="t">
            <a:normAutofit/>
          </a:bodyPr>
          <a:lstStyle/>
          <a:p>
            <a:pPr algn="ctr">
              <a:buNone/>
              <a:defRPr/>
            </a:pPr>
            <a:r>
              <a:rPr lang="fr-FR" sz="1600">
                <a:solidFill>
                  <a:srgbClr val="64748B"/>
                </a:solidFill>
              </a:rPr>
              <a:t>lignes dans le jeu de données final  ·  ≈ ×34 le volume initial</a:t>
            </a:r>
            <a:endParaRPr/>
          </a:p>
        </p:txBody>
      </p:sp>
      <p:sp>
        <p:nvSpPr>
          <p:cNvPr id="3675365" name="Page"/>
          <p:cNvSpPr txBox="1"/>
          <p:nvPr/>
        </p:nvSpPr>
        <p:spPr bwMode="auto">
          <a:xfrm>
            <a:off x="10515600" y="6451600"/>
            <a:ext cx="914400" cy="254000"/>
          </a:xfrm>
          <a:prstGeom prst="rect">
            <a:avLst/>
          </a:prstGeom>
          <a:noFill/>
          <a:ln>
            <a:noFill/>
          </a:ln>
        </p:spPr>
        <p:txBody>
          <a:bodyPr wrap="square" lIns="0" tIns="0" rIns="0" bIns="0" anchor="t">
            <a:normAutofit/>
          </a:bodyPr>
          <a:lstStyle/>
          <a:p>
            <a:pPr algn="r">
              <a:buNone/>
              <a:defRPr/>
            </a:pPr>
            <a:r>
              <a:rPr lang="fr-FR" sz="1400">
                <a:solidFill>
                  <a:srgbClr val="64748B"/>
                </a:solidFill>
              </a:rPr>
              <a:t>16</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med" p14:dur="500" advClick="1">
        <p:fade thruBlk="0"/>
      </p:transition>
    </mc:Choice>
    <mc:Fallback>
      <p:transition spd="med" advClick="1">
        <p:fade thruBlk="0"/>
      </p:transition>
    </mc:Fallback>
  </mc:AlternateContent>
  <p:timing>
    <p:tnLst>
      <p:par>
        <p:cTn id="1" dur="indefinite" restart="never" nodeType="tmRoot">
          <p:childTnLst>
            <p:par>
              <p:cTn id="2" fill="hold">
                <p:stCondLst>
                  <p:cond delay="0"/>
                </p:stCondLst>
                <p:childTnLst>
                  <p:par>
                    <p:cTn id="3" presetID="10" presetClass="entr" presetSubtype="0" fill="hold" grpId="0" nodeType="afterEffect">
                      <p:stCondLst>
                        <p:cond delay="500"/>
                      </p:stCondLst>
                      <p:childTnLst>
                        <p:set>
                          <p:cBhvr>
                            <p:cTn id="4" dur="1" fill="hold">
                              <p:stCondLst>
                                <p:cond delay="0"/>
                              </p:stCondLst>
                            </p:cTn>
                            <p:tgtEl>
                              <p:spTgt spid="1889965122"/>
                            </p:tgtEl>
                            <p:attrNameLst>
                              <p:attrName>style.visibility</p:attrName>
                            </p:attrNameLst>
                          </p:cBhvr>
                          <p:to>
                            <p:strVal val="visible"/>
                          </p:to>
                        </p:set>
                        <p:animEffect transition="in" filter="fade">
                          <p:cBhvr>
                            <p:cTn id="5" dur="400"/>
                            <p:tgtEl>
                              <p:spTgt spid="1889965122"/>
                            </p:tgtEl>
                          </p:cBhvr>
                        </p:animEffect>
                        <p:anim calcmode="lin" valueType="num">
                          <p:cBhvr additive="base">
                            <p:cTn id="6" dur="400" fill="hold"/>
                            <p:tgtEl>
                              <p:spTgt spid="1889965122"/>
                            </p:tgtEl>
                            <p:attrNameLst>
                              <p:attrName>ppt_y</p:attrName>
                            </p:attrNameLst>
                          </p:cBhvr>
                          <p:tavLst>
                            <p:tav tm="0">
                              <p:val>
                                <p:fltVal val="0.045999999999999999"/>
                              </p:val>
                            </p:tav>
                            <p:tav tm="100000">
                              <p:val>
                                <p:fltVal val="0"/>
                              </p:val>
                            </p:tav>
                          </p:tavLst>
                        </p:anim>
                      </p:childTnLst>
                    </p:cTn>
                  </p:par>
                  <p:par>
                    <p:cTn id="7" presetID="10" presetClass="entr" presetSubtype="0" fill="hold" grpId="0" nodeType="afterEffect">
                      <p:stCondLst>
                        <p:cond delay="150"/>
                      </p:stCondLst>
                      <p:childTnLst>
                        <p:set>
                          <p:cBhvr>
                            <p:cTn id="8" dur="1" fill="hold">
                              <p:stCondLst>
                                <p:cond delay="0"/>
                              </p:stCondLst>
                            </p:cTn>
                            <p:tgtEl>
                              <p:spTgt spid="630125448"/>
                            </p:tgtEl>
                            <p:attrNameLst>
                              <p:attrName>style.visibility</p:attrName>
                            </p:attrNameLst>
                          </p:cBhvr>
                          <p:to>
                            <p:strVal val="visible"/>
                          </p:to>
                        </p:set>
                        <p:animEffect transition="in" filter="fade">
                          <p:cBhvr>
                            <p:cTn id="9" dur="400"/>
                            <p:tgtEl>
                              <p:spTgt spid="630125448"/>
                            </p:tgtEl>
                          </p:cBhvr>
                        </p:animEffect>
                        <p:anim calcmode="lin" valueType="num">
                          <p:cBhvr additive="base">
                            <p:cTn id="10" dur="400" fill="hold"/>
                            <p:tgtEl>
                              <p:spTgt spid="630125448"/>
                            </p:tgtEl>
                            <p:attrNameLst>
                              <p:attrName>ppt_y</p:attrName>
                            </p:attrNameLst>
                          </p:cBhvr>
                          <p:tavLst>
                            <p:tav tm="0">
                              <p:val>
                                <p:fltVal val="0.045999999999999999"/>
                              </p:val>
                            </p:tav>
                            <p:tav tm="100000">
                              <p:val>
                                <p:fltVal val="0"/>
                              </p:val>
                            </p:tav>
                          </p:tavLst>
                        </p:anim>
                      </p:childTnLst>
                    </p:cTn>
                  </p:par>
                  <p:par>
                    <p:cTn id="11" presetID="10" presetClass="entr" presetSubtype="0" fill="hold" grpId="0" nodeType="afterEffect">
                      <p:stCondLst>
                        <p:cond delay="150"/>
                      </p:stCondLst>
                      <p:childTnLst>
                        <p:set>
                          <p:cBhvr>
                            <p:cTn id="12" dur="1" fill="hold">
                              <p:stCondLst>
                                <p:cond delay="0"/>
                              </p:stCondLst>
                            </p:cTn>
                            <p:tgtEl>
                              <p:spTgt spid="1318135145"/>
                            </p:tgtEl>
                            <p:attrNameLst>
                              <p:attrName>style.visibility</p:attrName>
                            </p:attrNameLst>
                          </p:cBhvr>
                          <p:to>
                            <p:strVal val="visible"/>
                          </p:to>
                        </p:set>
                        <p:animEffect transition="in" filter="fade">
                          <p:cBhvr>
                            <p:cTn id="13" dur="400"/>
                            <p:tgtEl>
                              <p:spTgt spid="1318135145"/>
                            </p:tgtEl>
                          </p:cBhvr>
                        </p:animEffect>
                        <p:anim calcmode="lin" valueType="num">
                          <p:cBhvr additive="base">
                            <p:cTn id="14" dur="400" fill="hold"/>
                            <p:tgtEl>
                              <p:spTgt spid="1318135145"/>
                            </p:tgtEl>
                            <p:attrNameLst>
                              <p:attrName>ppt_y</p:attrName>
                            </p:attrNameLst>
                          </p:cBhvr>
                          <p:tavLst>
                            <p:tav tm="0">
                              <p:val>
                                <p:fltVal val="0.045999999999999999"/>
                              </p:val>
                            </p:tav>
                            <p:tav tm="100000">
                              <p:val>
                                <p:fltVal val="0"/>
                              </p:val>
                            </p:tav>
                          </p:tavLst>
                        </p:anim>
                      </p:childTnLst>
                    </p:cTn>
                  </p:par>
                  <p:par>
                    <p:cTn id="15" presetID="10" presetClass="entr" presetSubtype="0" fill="hold" grpId="0" nodeType="afterEffect">
                      <p:stCondLst>
                        <p:cond delay="150"/>
                      </p:stCondLst>
                      <p:childTnLst>
                        <p:set>
                          <p:cBhvr>
                            <p:cTn id="16" dur="1" fill="hold">
                              <p:stCondLst>
                                <p:cond delay="0"/>
                              </p:stCondLst>
                            </p:cTn>
                            <p:tgtEl>
                              <p:spTgt spid="1809349042"/>
                            </p:tgtEl>
                            <p:attrNameLst>
                              <p:attrName>style.visibility</p:attrName>
                            </p:attrNameLst>
                          </p:cBhvr>
                          <p:to>
                            <p:strVal val="visible"/>
                          </p:to>
                        </p:set>
                        <p:animEffect transition="in" filter="fade">
                          <p:cBhvr>
                            <p:cTn id="17" dur="400"/>
                            <p:tgtEl>
                              <p:spTgt spid="1809349042"/>
                            </p:tgtEl>
                          </p:cBhvr>
                        </p:animEffect>
                        <p:anim calcmode="lin" valueType="num">
                          <p:cBhvr additive="base">
                            <p:cTn id="18" dur="400" fill="hold"/>
                            <p:tgtEl>
                              <p:spTgt spid="1809349042"/>
                            </p:tgtEl>
                            <p:attrNameLst>
                              <p:attrName>ppt_y</p:attrName>
                            </p:attrNameLst>
                          </p:cBhvr>
                          <p:tavLst>
                            <p:tav tm="0">
                              <p:val>
                                <p:fltVal val="0.045999999999999999"/>
                              </p:val>
                            </p:tav>
                            <p:tav tm="100000">
                              <p:val>
                                <p:fltVal val="0"/>
                              </p:val>
                            </p:tav>
                          </p:tavLst>
                        </p:anim>
                      </p:childTnLst>
                    </p:cTn>
                  </p:par>
                  <p:par>
                    <p:cTn id="19" presetID="10" presetClass="entr" presetSubtype="0" fill="hold" grpId="0" nodeType="afterEffect">
                      <p:stCondLst>
                        <p:cond delay="150"/>
                      </p:stCondLst>
                      <p:childTnLst>
                        <p:set>
                          <p:cBhvr>
                            <p:cTn id="20" dur="1" fill="hold">
                              <p:stCondLst>
                                <p:cond delay="0"/>
                              </p:stCondLst>
                            </p:cTn>
                            <p:tgtEl>
                              <p:spTgt spid="1440133205"/>
                            </p:tgtEl>
                            <p:attrNameLst>
                              <p:attrName>style.visibility</p:attrName>
                            </p:attrNameLst>
                          </p:cBhvr>
                          <p:to>
                            <p:strVal val="visible"/>
                          </p:to>
                        </p:set>
                        <p:animEffect transition="in" filter="fade">
                          <p:cBhvr>
                            <p:cTn id="21" dur="400"/>
                            <p:tgtEl>
                              <p:spTgt spid="1440133205"/>
                            </p:tgtEl>
                          </p:cBhvr>
                        </p:animEffect>
                        <p:anim calcmode="lin" valueType="num">
                          <p:cBhvr additive="base">
                            <p:cTn id="22" dur="400" fill="hold"/>
                            <p:tgtEl>
                              <p:spTgt spid="1440133205"/>
                            </p:tgtEl>
                            <p:attrNameLst>
                              <p:attrName>ppt_y</p:attrName>
                            </p:attrNameLst>
                          </p:cBhvr>
                          <p:tavLst>
                            <p:tav tm="0">
                              <p:val>
                                <p:fltVal val="0.045999999999999999"/>
                              </p:val>
                            </p:tav>
                            <p:tav tm="100000">
                              <p:val>
                                <p:fltVal val="0"/>
                              </p:val>
                            </p:tav>
                          </p:tavLst>
                        </p:anim>
                      </p:childTnLst>
                    </p:cTn>
                  </p:par>
                  <p:par>
                    <p:cTn id="23" presetID="10" presetClass="entr" presetSubtype="0" fill="hold" grpId="0" nodeType="afterEffect">
                      <p:stCondLst>
                        <p:cond delay="150"/>
                      </p:stCondLst>
                      <p:childTnLst>
                        <p:set>
                          <p:cBhvr>
                            <p:cTn id="24" dur="1" fill="hold">
                              <p:stCondLst>
                                <p:cond delay="0"/>
                              </p:stCondLst>
                            </p:cTn>
                            <p:tgtEl>
                              <p:spTgt spid="1409963924"/>
                            </p:tgtEl>
                            <p:attrNameLst>
                              <p:attrName>style.visibility</p:attrName>
                            </p:attrNameLst>
                          </p:cBhvr>
                          <p:to>
                            <p:strVal val="visible"/>
                          </p:to>
                        </p:set>
                        <p:animEffect transition="in" filter="fade">
                          <p:cBhvr>
                            <p:cTn id="25" dur="400"/>
                            <p:tgtEl>
                              <p:spTgt spid="1409963924"/>
                            </p:tgtEl>
                          </p:cBhvr>
                        </p:animEffect>
                        <p:anim calcmode="lin" valueType="num">
                          <p:cBhvr additive="base">
                            <p:cTn id="26" dur="400" fill="hold"/>
                            <p:tgtEl>
                              <p:spTgt spid="1409963924"/>
                            </p:tgtEl>
                            <p:attrNameLst>
                              <p:attrName>ppt_y</p:attrName>
                            </p:attrNameLst>
                          </p:cBhvr>
                          <p:tavLst>
                            <p:tav tm="0">
                              <p:val>
                                <p:fltVal val="0.045999999999999999"/>
                              </p:val>
                            </p:tav>
                            <p:tav tm="100000">
                              <p:val>
                                <p:fltVal val="0"/>
                              </p:val>
                            </p:tav>
                          </p:tavLst>
                        </p:anim>
                      </p:childTnLst>
                    </p:cTn>
                  </p:par>
                  <p:par>
                    <p:cTn id="27" presetID="10" presetClass="entr" presetSubtype="0" fill="hold" grpId="0" nodeType="afterEffect">
                      <p:stCondLst>
                        <p:cond delay="150"/>
                      </p:stCondLst>
                      <p:childTnLst>
                        <p:set>
                          <p:cBhvr>
                            <p:cTn id="28" dur="1" fill="hold">
                              <p:stCondLst>
                                <p:cond delay="0"/>
                              </p:stCondLst>
                            </p:cTn>
                            <p:tgtEl>
                              <p:spTgt spid="1206253144"/>
                            </p:tgtEl>
                            <p:attrNameLst>
                              <p:attrName>style.visibility</p:attrName>
                            </p:attrNameLst>
                          </p:cBhvr>
                          <p:to>
                            <p:strVal val="visible"/>
                          </p:to>
                        </p:set>
                        <p:animEffect transition="in" filter="fade">
                          <p:cBhvr>
                            <p:cTn id="29" dur="400"/>
                            <p:tgtEl>
                              <p:spTgt spid="1206253144"/>
                            </p:tgtEl>
                          </p:cBhvr>
                        </p:animEffect>
                        <p:anim calcmode="lin" valueType="num">
                          <p:cBhvr additive="base">
                            <p:cTn id="30" dur="400" fill="hold"/>
                            <p:tgtEl>
                              <p:spTgt spid="1206253144"/>
                            </p:tgtEl>
                            <p:attrNameLst>
                              <p:attrName>ppt_y</p:attrName>
                            </p:attrNameLst>
                          </p:cBhvr>
                          <p:tavLst>
                            <p:tav tm="0">
                              <p:val>
                                <p:fltVal val="0.045999999999999999"/>
                              </p:val>
                            </p:tav>
                            <p:tav tm="100000">
                              <p:val>
                                <p:fltVal val="0"/>
                              </p:val>
                            </p:tav>
                          </p:tavLst>
                        </p:anim>
                      </p:childTnLst>
                    </p:cTn>
                  </p:par>
                  <p:par>
                    <p:cTn id="31" presetID="10" presetClass="entr" presetSubtype="0" fill="hold" grpId="0" nodeType="afterEffect">
                      <p:stCondLst>
                        <p:cond delay="150"/>
                      </p:stCondLst>
                      <p:childTnLst>
                        <p:set>
                          <p:cBhvr>
                            <p:cTn id="32" dur="1" fill="hold">
                              <p:stCondLst>
                                <p:cond delay="0"/>
                              </p:stCondLst>
                            </p:cTn>
                            <p:tgtEl>
                              <p:spTgt spid="1031088823"/>
                            </p:tgtEl>
                            <p:attrNameLst>
                              <p:attrName>style.visibility</p:attrName>
                            </p:attrNameLst>
                          </p:cBhvr>
                          <p:to>
                            <p:strVal val="visible"/>
                          </p:to>
                        </p:set>
                        <p:animEffect transition="in" filter="fade">
                          <p:cBhvr>
                            <p:cTn id="33" dur="400"/>
                            <p:tgtEl>
                              <p:spTgt spid="1031088823"/>
                            </p:tgtEl>
                          </p:cBhvr>
                        </p:animEffect>
                        <p:anim calcmode="lin" valueType="num">
                          <p:cBhvr additive="base">
                            <p:cTn id="34" dur="400" fill="hold"/>
                            <p:tgtEl>
                              <p:spTgt spid="1031088823"/>
                            </p:tgtEl>
                            <p:attrNameLst>
                              <p:attrName>ppt_y</p:attrName>
                            </p:attrNameLst>
                          </p:cBhvr>
                          <p:tavLst>
                            <p:tav tm="0">
                              <p:val>
                                <p:fltVal val="0.045999999999999999"/>
                              </p:val>
                            </p:tav>
                            <p:tav tm="100000">
                              <p:val>
                                <p:fltVal val="0"/>
                              </p:val>
                            </p:tav>
                          </p:tavLst>
                        </p:anim>
                      </p:childTnLst>
                    </p:cTn>
                  </p:par>
                  <p:par>
                    <p:cTn id="35" presetID="10" presetClass="entr" presetSubtype="0" fill="hold" grpId="0" nodeType="afterEffect">
                      <p:stCondLst>
                        <p:cond delay="150"/>
                      </p:stCondLst>
                      <p:childTnLst>
                        <p:set>
                          <p:cBhvr>
                            <p:cTn id="36" dur="1" fill="hold">
                              <p:stCondLst>
                                <p:cond delay="0"/>
                              </p:stCondLst>
                            </p:cTn>
                            <p:tgtEl>
                              <p:spTgt spid="3675365"/>
                            </p:tgtEl>
                            <p:attrNameLst>
                              <p:attrName>style.visibility</p:attrName>
                            </p:attrNameLst>
                          </p:cBhvr>
                          <p:to>
                            <p:strVal val="visible"/>
                          </p:to>
                        </p:set>
                        <p:animEffect transition="in" filter="fade">
                          <p:cBhvr>
                            <p:cTn id="37" dur="400"/>
                            <p:tgtEl>
                              <p:spTgt spid="3675365"/>
                            </p:tgtEl>
                          </p:cBhvr>
                        </p:animEffect>
                        <p:anim calcmode="lin" valueType="num">
                          <p:cBhvr additive="base">
                            <p:cTn id="38" dur="400" fill="hold"/>
                            <p:tgtEl>
                              <p:spTgt spid="3675365"/>
                            </p:tgtEl>
                            <p:attrNameLst>
                              <p:attrName>ppt_y</p:attrName>
                            </p:attrNameLst>
                          </p:cBhvr>
                          <p:tavLst>
                            <p:tav tm="0">
                              <p:val>
                                <p:fltVal val="0.045999999999999999"/>
                              </p:val>
                            </p:tav>
                            <p:tav tm="100000">
                              <p:val>
                                <p:fltVal val="0"/>
                              </p:val>
                            </p:tav>
                          </p:tavLst>
                        </p:anim>
                      </p:childTnLst>
                    </p:cTn>
                  </p:par>
                </p:childTnLst>
              </p:cTn>
            </p:par>
          </p:childTnLst>
        </p:cTn>
      </p:par>
    </p:tnLst>
    <p:bldLst>
      <p:bldP spid="1889965122" grpId="0" animBg="1"/>
      <p:bldP spid="630125448" grpId="0" animBg="1"/>
      <p:bldP spid="1318135145" grpId="0" animBg="1"/>
      <p:bldP spid="1809349042" grpId="0" animBg="1"/>
      <p:bldP spid="1440133205" grpId="0" animBg="1"/>
      <p:bldP spid="1409963924" grpId="0" animBg="1"/>
      <p:bldP spid="1206253144" grpId="0" animBg="1"/>
      <p:bldP spid="1031088823" grpId="0" animBg="1"/>
      <p:bldP spid="3675365" grpId="0" animBg="1"/>
    </p:bldLst>
  </p:timing>
</p:sld>
</file>

<file path=ppt/slides/slide1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350938850" name="Eyebrow"/>
          <p:cNvSpPr txBox="1"/>
          <p:nvPr/>
        </p:nvSpPr>
        <p:spPr bwMode="auto">
          <a:xfrm>
            <a:off x="914400" y="584200"/>
            <a:ext cx="9144000" cy="254000"/>
          </a:xfrm>
          <a:prstGeom prst="rect">
            <a:avLst/>
          </a:prstGeom>
          <a:noFill/>
          <a:ln>
            <a:noFill/>
          </a:ln>
        </p:spPr>
        <p:txBody>
          <a:bodyPr wrap="square" lIns="0" tIns="0" rIns="0" bIns="0" anchor="t">
            <a:normAutofit/>
          </a:bodyPr>
          <a:lstStyle/>
          <a:p>
            <a:pPr>
              <a:buNone/>
              <a:defRPr/>
            </a:pPr>
            <a:r>
              <a:rPr lang="fr-FR" sz="1400" b="1" spc="240">
                <a:solidFill>
                  <a:srgbClr val="64748B"/>
                </a:solidFill>
              </a:rPr>
              <a:t>04 · RÉALISATION</a:t>
            </a:r>
            <a:endParaRPr/>
          </a:p>
        </p:txBody>
      </p:sp>
      <p:sp>
        <p:nvSpPr>
          <p:cNvPr id="620263265" name="Titre"/>
          <p:cNvSpPr txBox="1"/>
          <p:nvPr/>
        </p:nvSpPr>
        <p:spPr bwMode="auto">
          <a:xfrm>
            <a:off x="914400" y="863599"/>
            <a:ext cx="10363200" cy="508000"/>
          </a:xfrm>
          <a:prstGeom prst="rect">
            <a:avLst/>
          </a:prstGeom>
          <a:noFill/>
          <a:ln>
            <a:noFill/>
          </a:ln>
        </p:spPr>
        <p:txBody>
          <a:bodyPr wrap="square" lIns="0" tIns="0" rIns="0" bIns="0" anchor="t">
            <a:normAutofit/>
          </a:bodyPr>
          <a:lstStyle/>
          <a:p>
            <a:pPr>
              <a:buNone/>
              <a:defRPr/>
            </a:pPr>
            <a:r>
              <a:rPr lang="fr-FR" sz="3000">
                <a:solidFill>
                  <a:srgbClr val="0B1F3A"/>
                </a:solidFill>
                <a:latin typeface="Segoe UI Semibold"/>
              </a:rPr>
              <a:t>Jeu de données final (entraîné)</a:t>
            </a:r>
            <a:endParaRPr/>
          </a:p>
        </p:txBody>
      </p:sp>
      <p:sp>
        <p:nvSpPr>
          <p:cNvPr id="168266059" name="Filet"/>
          <p:cNvSpPr/>
          <p:nvPr/>
        </p:nvSpPr>
        <p:spPr bwMode="auto">
          <a:xfrm>
            <a:off x="914400" y="1473200"/>
            <a:ext cx="685800" cy="50800"/>
          </a:xfrm>
          <a:prstGeom prst="rect">
            <a:avLst/>
          </a:prstGeom>
          <a:solidFill>
            <a:srgbClr val="2563EB"/>
          </a:solidFill>
          <a:ln>
            <a:noFill/>
          </a:ln>
        </p:spPr>
        <p:txBody>
          <a:bodyPr wrap="square" lIns="0" tIns="0" rIns="0" bIns="0" anchor="t">
            <a:normAutofit/>
          </a:bodyPr>
          <a:lstStyle/>
          <a:p>
            <a:pPr>
              <a:defRPr/>
            </a:pPr>
            <a:endParaRPr/>
          </a:p>
        </p:txBody>
      </p:sp>
      <p:sp>
        <p:nvSpPr>
          <p:cNvPr id="288313519" name="chip"/>
          <p:cNvSpPr/>
          <p:nvPr/>
        </p:nvSpPr>
        <p:spPr bwMode="auto">
          <a:xfrm>
            <a:off x="7188200" y="2006600"/>
            <a:ext cx="2159000" cy="406400"/>
          </a:xfrm>
          <a:prstGeom prst="roundRect">
            <a:avLst>
              <a:gd name="adj" fmla="val 50000"/>
            </a:avLst>
          </a:prstGeom>
          <a:solidFill>
            <a:srgbClr val="E8EEFB"/>
          </a:solidFill>
          <a:ln>
            <a:noFill/>
          </a:ln>
        </p:spPr>
        <p:txBody>
          <a:bodyPr wrap="square" lIns="101600" tIns="101600" rIns="101600" bIns="101600" anchor="ctr">
            <a:normAutofit/>
          </a:bodyPr>
          <a:lstStyle/>
          <a:p>
            <a:pPr algn="ctr">
              <a:buNone/>
              <a:defRPr/>
            </a:pPr>
            <a:r>
              <a:rPr lang="fr-FR" sz="1400" b="1" spc="120">
                <a:solidFill>
                  <a:srgbClr val="1D4ED8"/>
                </a:solidFill>
                <a:latin typeface="Segoe UI Semibold"/>
              </a:rPr>
              <a:t>ÉTAT : ENTRAÎNÉ</a:t>
            </a:r>
            <a:endParaRPr/>
          </a:p>
        </p:txBody>
      </p:sp>
      <p:sp>
        <p:nvSpPr>
          <p:cNvPr id="536718511" name="Bullets"/>
          <p:cNvSpPr txBox="1"/>
          <p:nvPr/>
        </p:nvSpPr>
        <p:spPr bwMode="auto">
          <a:xfrm>
            <a:off x="7188200" y="2616200"/>
            <a:ext cx="4089400" cy="3048000"/>
          </a:xfrm>
          <a:prstGeom prst="rect">
            <a:avLst/>
          </a:prstGeom>
          <a:noFill/>
          <a:ln>
            <a:noFill/>
          </a:ln>
        </p:spPr>
        <p:txBody>
          <a:bodyPr wrap="square" lIns="0" tIns="0" rIns="0" bIns="0" anchor="t">
            <a:normAutofit/>
          </a:bodyPr>
          <a:lstStyle/>
          <a:p>
            <a:pPr marL="285750" indent="-285750">
              <a:lnSpc>
                <a:spcPts val="2100"/>
              </a:lnSpc>
              <a:spcBef>
                <a:spcPts val="800"/>
              </a:spcBef>
              <a:buClr>
                <a:srgbClr val="2563EB"/>
              </a:buClr>
              <a:buFont typeface="Arial"/>
              <a:buChar char="•"/>
              <a:defRPr/>
            </a:pPr>
            <a:r>
              <a:rPr lang="fr-FR" sz="1600">
                <a:solidFill>
                  <a:srgbClr val="0B1F3A"/>
                </a:solidFill>
              </a:rPr>
              <a:t>Variables normalisées entre 0 et 1.</a:t>
            </a:r>
            <a:endParaRPr/>
          </a:p>
          <a:p>
            <a:pPr marL="285750" indent="-285750">
              <a:lnSpc>
                <a:spcPts val="2100"/>
              </a:lnSpc>
              <a:spcBef>
                <a:spcPts val="800"/>
              </a:spcBef>
              <a:buClr>
                <a:srgbClr val="2563EB"/>
              </a:buClr>
              <a:buFont typeface="Arial"/>
              <a:buChar char="•"/>
              <a:defRPr/>
            </a:pPr>
            <a:r>
              <a:rPr lang="fr-FR" sz="1600">
                <a:solidFill>
                  <a:srgbClr val="0B1F3A"/>
                </a:solidFill>
              </a:rPr>
              <a:t>Vainqueur réel conservé pour la validation.</a:t>
            </a:r>
            <a:endParaRPr/>
          </a:p>
          <a:p>
            <a:pPr marL="285750" indent="-285750">
              <a:lnSpc>
                <a:spcPts val="2100"/>
              </a:lnSpc>
              <a:spcBef>
                <a:spcPts val="800"/>
              </a:spcBef>
              <a:buClr>
                <a:srgbClr val="2563EB"/>
              </a:buClr>
              <a:buFont typeface="Arial"/>
              <a:buChar char="•"/>
              <a:defRPr/>
            </a:pPr>
            <a:r>
              <a:rPr lang="fr-FR" sz="1600">
                <a:solidFill>
                  <a:srgbClr val="0B1F3A"/>
                </a:solidFill>
              </a:rPr>
              <a:t>Jeu prêt pour l'entraînement et le test des modèles.</a:t>
            </a:r>
            <a:endParaRPr/>
          </a:p>
        </p:txBody>
      </p:sp>
      <p:sp>
        <p:nvSpPr>
          <p:cNvPr id="1863980677" name="Page"/>
          <p:cNvSpPr txBox="1"/>
          <p:nvPr/>
        </p:nvSpPr>
        <p:spPr bwMode="auto">
          <a:xfrm>
            <a:off x="10515600" y="6451600"/>
            <a:ext cx="914400" cy="254000"/>
          </a:xfrm>
          <a:prstGeom prst="rect">
            <a:avLst/>
          </a:prstGeom>
          <a:noFill/>
          <a:ln>
            <a:noFill/>
          </a:ln>
        </p:spPr>
        <p:txBody>
          <a:bodyPr wrap="square" lIns="0" tIns="0" rIns="0" bIns="0" anchor="t">
            <a:normAutofit/>
          </a:bodyPr>
          <a:lstStyle/>
          <a:p>
            <a:pPr algn="r">
              <a:buNone/>
              <a:defRPr/>
            </a:pPr>
            <a:r>
              <a:rPr lang="fr-FR" sz="1400">
                <a:solidFill>
                  <a:srgbClr val="64748B"/>
                </a:solidFill>
              </a:rPr>
              <a:t>17</a:t>
            </a:r>
            <a:endParaRPr/>
          </a:p>
        </p:txBody>
      </p:sp>
      <p:pic>
        <p:nvPicPr>
          <p:cNvPr id="1983253199" name=""/>
          <p:cNvPicPr>
            <a:picLocks noChangeAspect="1"/>
          </p:cNvPicPr>
          <p:nvPr/>
        </p:nvPicPr>
        <p:blipFill rotWithShape="1">
          <a:blip r:embed="rId3"/>
          <a:stretch/>
        </p:blipFill>
        <p:spPr bwMode="auto">
          <a:xfrm flipH="0" flipV="0">
            <a:off x="457917" y="2006599"/>
            <a:ext cx="6448424" cy="3657600"/>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med" p14:dur="500" advClick="1">
        <p:fade thruBlk="0"/>
      </p:transition>
    </mc:Choice>
    <mc:Fallback>
      <p:transition spd="med" advClick="1">
        <p:fade thruBlk="0"/>
      </p:transition>
    </mc:Fallback>
  </mc:AlternateContent>
  <p:timing>
    <p:tnLst>
      <p:par>
        <p:cTn id="1" dur="indefinite" restart="never" nodeType="tmRoot">
          <p:childTnLst>
            <p:par>
              <p:cTn id="2" fill="hold">
                <p:stCondLst>
                  <p:cond delay="0"/>
                </p:stCondLst>
                <p:childTnLst>
                  <p:par>
                    <p:cTn id="3" presetID="10" presetClass="entr" presetSubtype="0" fill="hold" grpId="0" nodeType="afterEffect">
                      <p:stCondLst>
                        <p:cond delay="500"/>
                      </p:stCondLst>
                      <p:childTnLst>
                        <p:set>
                          <p:cBhvr>
                            <p:cTn id="4" dur="1" fill="hold">
                              <p:stCondLst>
                                <p:cond delay="0"/>
                              </p:stCondLst>
                            </p:cTn>
                            <p:tgtEl>
                              <p:spTgt spid="1350938850"/>
                            </p:tgtEl>
                            <p:attrNameLst>
                              <p:attrName>style.visibility</p:attrName>
                            </p:attrNameLst>
                          </p:cBhvr>
                          <p:to>
                            <p:strVal val="visible"/>
                          </p:to>
                        </p:set>
                        <p:animEffect transition="in" filter="fade">
                          <p:cBhvr>
                            <p:cTn id="5" dur="400"/>
                            <p:tgtEl>
                              <p:spTgt spid="1350938850"/>
                            </p:tgtEl>
                          </p:cBhvr>
                        </p:animEffect>
                        <p:anim calcmode="lin" valueType="num">
                          <p:cBhvr additive="base">
                            <p:cTn id="6" dur="400" fill="hold"/>
                            <p:tgtEl>
                              <p:spTgt spid="1350938850"/>
                            </p:tgtEl>
                            <p:attrNameLst>
                              <p:attrName>ppt_y</p:attrName>
                            </p:attrNameLst>
                          </p:cBhvr>
                          <p:tavLst>
                            <p:tav tm="0">
                              <p:val>
                                <p:fltVal val="0.045999999999999999"/>
                              </p:val>
                            </p:tav>
                            <p:tav tm="100000">
                              <p:val>
                                <p:fltVal val="0"/>
                              </p:val>
                            </p:tav>
                          </p:tavLst>
                        </p:anim>
                      </p:childTnLst>
                    </p:cTn>
                  </p:par>
                  <p:par>
                    <p:cTn id="7" presetID="10" presetClass="entr" presetSubtype="0" fill="hold" grpId="0" nodeType="afterEffect">
                      <p:stCondLst>
                        <p:cond delay="150"/>
                      </p:stCondLst>
                      <p:childTnLst>
                        <p:set>
                          <p:cBhvr>
                            <p:cTn id="8" dur="1" fill="hold">
                              <p:stCondLst>
                                <p:cond delay="0"/>
                              </p:stCondLst>
                            </p:cTn>
                            <p:tgtEl>
                              <p:spTgt spid="620263265"/>
                            </p:tgtEl>
                            <p:attrNameLst>
                              <p:attrName>style.visibility</p:attrName>
                            </p:attrNameLst>
                          </p:cBhvr>
                          <p:to>
                            <p:strVal val="visible"/>
                          </p:to>
                        </p:set>
                        <p:animEffect transition="in" filter="fade">
                          <p:cBhvr>
                            <p:cTn id="9" dur="400"/>
                            <p:tgtEl>
                              <p:spTgt spid="620263265"/>
                            </p:tgtEl>
                          </p:cBhvr>
                        </p:animEffect>
                        <p:anim calcmode="lin" valueType="num">
                          <p:cBhvr additive="base">
                            <p:cTn id="10" dur="400" fill="hold"/>
                            <p:tgtEl>
                              <p:spTgt spid="620263265"/>
                            </p:tgtEl>
                            <p:attrNameLst>
                              <p:attrName>ppt_y</p:attrName>
                            </p:attrNameLst>
                          </p:cBhvr>
                          <p:tavLst>
                            <p:tav tm="0">
                              <p:val>
                                <p:fltVal val="0.045999999999999999"/>
                              </p:val>
                            </p:tav>
                            <p:tav tm="100000">
                              <p:val>
                                <p:fltVal val="0"/>
                              </p:val>
                            </p:tav>
                          </p:tavLst>
                        </p:anim>
                      </p:childTnLst>
                    </p:cTn>
                  </p:par>
                  <p:par>
                    <p:cTn id="11" presetID="10" presetClass="entr" presetSubtype="0" fill="hold" grpId="0" nodeType="afterEffect">
                      <p:stCondLst>
                        <p:cond delay="150"/>
                      </p:stCondLst>
                      <p:childTnLst>
                        <p:set>
                          <p:cBhvr>
                            <p:cTn id="12" dur="1" fill="hold">
                              <p:stCondLst>
                                <p:cond delay="0"/>
                              </p:stCondLst>
                            </p:cTn>
                            <p:tgtEl>
                              <p:spTgt spid="168266059"/>
                            </p:tgtEl>
                            <p:attrNameLst>
                              <p:attrName>style.visibility</p:attrName>
                            </p:attrNameLst>
                          </p:cBhvr>
                          <p:to>
                            <p:strVal val="visible"/>
                          </p:to>
                        </p:set>
                        <p:animEffect transition="in" filter="fade">
                          <p:cBhvr>
                            <p:cTn id="13" dur="400"/>
                            <p:tgtEl>
                              <p:spTgt spid="168266059"/>
                            </p:tgtEl>
                          </p:cBhvr>
                        </p:animEffect>
                        <p:anim calcmode="lin" valueType="num">
                          <p:cBhvr additive="base">
                            <p:cTn id="14" dur="400" fill="hold"/>
                            <p:tgtEl>
                              <p:spTgt spid="168266059"/>
                            </p:tgtEl>
                            <p:attrNameLst>
                              <p:attrName>ppt_y</p:attrName>
                            </p:attrNameLst>
                          </p:cBhvr>
                          <p:tavLst>
                            <p:tav tm="0">
                              <p:val>
                                <p:fltVal val="0.045999999999999999"/>
                              </p:val>
                            </p:tav>
                            <p:tav tm="100000">
                              <p:val>
                                <p:fltVal val="0"/>
                              </p:val>
                            </p:tav>
                          </p:tavLst>
                        </p:anim>
                      </p:childTnLst>
                    </p:cTn>
                  </p:par>
                  <p:par>
                    <p:cTn id="19" presetID="10" presetClass="entr" presetSubtype="0" fill="hold" grpId="0" nodeType="afterEffect">
                      <p:stCondLst>
                        <p:cond delay="150"/>
                      </p:stCondLst>
                      <p:childTnLst>
                        <p:set>
                          <p:cBhvr>
                            <p:cTn id="20" dur="1" fill="hold">
                              <p:stCondLst>
                                <p:cond delay="0"/>
                              </p:stCondLst>
                            </p:cTn>
                            <p:tgtEl>
                              <p:spTgt spid="288313519"/>
                            </p:tgtEl>
                            <p:attrNameLst>
                              <p:attrName>style.visibility</p:attrName>
                            </p:attrNameLst>
                          </p:cBhvr>
                          <p:to>
                            <p:strVal val="visible"/>
                          </p:to>
                        </p:set>
                        <p:animEffect transition="in" filter="fade">
                          <p:cBhvr>
                            <p:cTn id="21" dur="400"/>
                            <p:tgtEl>
                              <p:spTgt spid="288313519"/>
                            </p:tgtEl>
                          </p:cBhvr>
                        </p:animEffect>
                        <p:anim calcmode="lin" valueType="num">
                          <p:cBhvr additive="base">
                            <p:cTn id="22" dur="400" fill="hold"/>
                            <p:tgtEl>
                              <p:spTgt spid="288313519"/>
                            </p:tgtEl>
                            <p:attrNameLst>
                              <p:attrName>ppt_y</p:attrName>
                            </p:attrNameLst>
                          </p:cBhvr>
                          <p:tavLst>
                            <p:tav tm="0">
                              <p:val>
                                <p:fltVal val="0.045999999999999999"/>
                              </p:val>
                            </p:tav>
                            <p:tav tm="100000">
                              <p:val>
                                <p:fltVal val="0"/>
                              </p:val>
                            </p:tav>
                          </p:tavLst>
                        </p:anim>
                      </p:childTnLst>
                    </p:cTn>
                  </p:par>
                  <p:par>
                    <p:cTn id="23" presetID="10" presetClass="entr" presetSubtype="0" fill="hold" grpId="0" nodeType="afterEffect">
                      <p:stCondLst>
                        <p:cond delay="150"/>
                      </p:stCondLst>
                      <p:childTnLst>
                        <p:set>
                          <p:cBhvr>
                            <p:cTn id="24" dur="1" fill="hold">
                              <p:stCondLst>
                                <p:cond delay="0"/>
                              </p:stCondLst>
                            </p:cTn>
                            <p:tgtEl>
                              <p:spTgt spid="536718511"/>
                            </p:tgtEl>
                            <p:attrNameLst>
                              <p:attrName>style.visibility</p:attrName>
                            </p:attrNameLst>
                          </p:cBhvr>
                          <p:to>
                            <p:strVal val="visible"/>
                          </p:to>
                        </p:set>
                        <p:animEffect transition="in" filter="fade">
                          <p:cBhvr>
                            <p:cTn id="25" dur="400"/>
                            <p:tgtEl>
                              <p:spTgt spid="536718511"/>
                            </p:tgtEl>
                          </p:cBhvr>
                        </p:animEffect>
                        <p:anim calcmode="lin" valueType="num">
                          <p:cBhvr additive="base">
                            <p:cTn id="26" dur="400" fill="hold"/>
                            <p:tgtEl>
                              <p:spTgt spid="536718511"/>
                            </p:tgtEl>
                            <p:attrNameLst>
                              <p:attrName>ppt_y</p:attrName>
                            </p:attrNameLst>
                          </p:cBhvr>
                          <p:tavLst>
                            <p:tav tm="0">
                              <p:val>
                                <p:fltVal val="0.045999999999999999"/>
                              </p:val>
                            </p:tav>
                            <p:tav tm="100000">
                              <p:val>
                                <p:fltVal val="0"/>
                              </p:val>
                            </p:tav>
                          </p:tavLst>
                        </p:anim>
                      </p:childTnLst>
                    </p:cTn>
                  </p:par>
                  <p:par>
                    <p:cTn id="27" presetID="10" presetClass="entr" presetSubtype="0" fill="hold" grpId="0" nodeType="afterEffect">
                      <p:stCondLst>
                        <p:cond delay="150"/>
                      </p:stCondLst>
                      <p:childTnLst>
                        <p:set>
                          <p:cBhvr>
                            <p:cTn id="28" dur="1" fill="hold">
                              <p:stCondLst>
                                <p:cond delay="0"/>
                              </p:stCondLst>
                            </p:cTn>
                            <p:tgtEl>
                              <p:spTgt spid="1863980677"/>
                            </p:tgtEl>
                            <p:attrNameLst>
                              <p:attrName>style.visibility</p:attrName>
                            </p:attrNameLst>
                          </p:cBhvr>
                          <p:to>
                            <p:strVal val="visible"/>
                          </p:to>
                        </p:set>
                        <p:animEffect transition="in" filter="fade">
                          <p:cBhvr>
                            <p:cTn id="29" dur="400"/>
                            <p:tgtEl>
                              <p:spTgt spid="1863980677"/>
                            </p:tgtEl>
                          </p:cBhvr>
                        </p:animEffect>
                        <p:anim calcmode="lin" valueType="num">
                          <p:cBhvr additive="base">
                            <p:cTn id="30" dur="400" fill="hold"/>
                            <p:tgtEl>
                              <p:spTgt spid="1863980677"/>
                            </p:tgtEl>
                            <p:attrNameLst>
                              <p:attrName>ppt_y</p:attrName>
                            </p:attrNameLst>
                          </p:cBhvr>
                          <p:tavLst>
                            <p:tav tm="0">
                              <p:val>
                                <p:fltVal val="0.045999999999999999"/>
                              </p:val>
                            </p:tav>
                            <p:tav tm="100000">
                              <p:val>
                                <p:fltVal val="0"/>
                              </p:val>
                            </p:tav>
                          </p:tavLst>
                        </p:anim>
                      </p:childTnLst>
                    </p:cTn>
                  </p:par>
                </p:childTnLst>
              </p:cTn>
            </p:par>
          </p:childTnLst>
        </p:cTn>
      </p:par>
    </p:tnLst>
    <p:bldLst>
      <p:bldP spid="1350938850" grpId="0" animBg="1"/>
      <p:bldP spid="620263265" grpId="0" animBg="1"/>
      <p:bldP spid="168266059" grpId="0" animBg="1"/>
      <p:bldP spid="288313519" grpId="0" animBg="1"/>
      <p:bldP spid="536718511" grpId="0" animBg="1"/>
      <p:bldP spid="1863980677" grpId="0" animBg="1"/>
    </p:bldLst>
  </p:timing>
</p:sld>
</file>

<file path=ppt/slides/slide1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738153846" name="Eyebrow"/>
          <p:cNvSpPr txBox="1"/>
          <p:nvPr/>
        </p:nvSpPr>
        <p:spPr bwMode="auto">
          <a:xfrm>
            <a:off x="914400" y="584200"/>
            <a:ext cx="9144000" cy="254000"/>
          </a:xfrm>
          <a:prstGeom prst="rect">
            <a:avLst/>
          </a:prstGeom>
          <a:noFill/>
          <a:ln>
            <a:noFill/>
          </a:ln>
        </p:spPr>
        <p:txBody>
          <a:bodyPr wrap="square" lIns="0" tIns="0" rIns="0" bIns="0" anchor="t">
            <a:normAutofit/>
          </a:bodyPr>
          <a:lstStyle/>
          <a:p>
            <a:pPr>
              <a:buNone/>
              <a:defRPr/>
            </a:pPr>
            <a:r>
              <a:rPr lang="fr-FR" sz="1400" b="1" spc="240">
                <a:solidFill>
                  <a:srgbClr val="64748B"/>
                </a:solidFill>
              </a:rPr>
              <a:t>05 · MACHINE LEARNING</a:t>
            </a:r>
            <a:endParaRPr/>
          </a:p>
        </p:txBody>
      </p:sp>
      <p:sp>
        <p:nvSpPr>
          <p:cNvPr id="2130029327" name="Titre"/>
          <p:cNvSpPr txBox="1"/>
          <p:nvPr/>
        </p:nvSpPr>
        <p:spPr bwMode="auto">
          <a:xfrm>
            <a:off x="914400" y="863599"/>
            <a:ext cx="10363200" cy="508000"/>
          </a:xfrm>
          <a:prstGeom prst="rect">
            <a:avLst/>
          </a:prstGeom>
          <a:noFill/>
          <a:ln>
            <a:noFill/>
          </a:ln>
        </p:spPr>
        <p:txBody>
          <a:bodyPr wrap="square" lIns="0" tIns="0" rIns="0" bIns="0" anchor="t">
            <a:normAutofit/>
          </a:bodyPr>
          <a:lstStyle/>
          <a:p>
            <a:pPr>
              <a:buNone/>
              <a:defRPr/>
            </a:pPr>
            <a:r>
              <a:rPr lang="fr-FR" sz="3000">
                <a:solidFill>
                  <a:srgbClr val="0B1F3A"/>
                </a:solidFill>
                <a:latin typeface="Segoe UI Semibold"/>
              </a:rPr>
              <a:t>Corrélations entre variables</a:t>
            </a:r>
            <a:endParaRPr/>
          </a:p>
        </p:txBody>
      </p:sp>
      <p:sp>
        <p:nvSpPr>
          <p:cNvPr id="1675965970" name="Filet"/>
          <p:cNvSpPr/>
          <p:nvPr/>
        </p:nvSpPr>
        <p:spPr bwMode="auto">
          <a:xfrm>
            <a:off x="914400" y="1473200"/>
            <a:ext cx="685800" cy="50800"/>
          </a:xfrm>
          <a:prstGeom prst="rect">
            <a:avLst/>
          </a:prstGeom>
          <a:solidFill>
            <a:srgbClr val="2563EB"/>
          </a:solidFill>
          <a:ln>
            <a:noFill/>
          </a:ln>
        </p:spPr>
        <p:txBody>
          <a:bodyPr wrap="square" lIns="0" tIns="0" rIns="0" bIns="0" anchor="t">
            <a:normAutofit/>
          </a:bodyPr>
          <a:lstStyle/>
          <a:p>
            <a:pPr>
              <a:defRPr/>
            </a:pPr>
            <a:endParaRPr/>
          </a:p>
        </p:txBody>
      </p:sp>
      <p:sp>
        <p:nvSpPr>
          <p:cNvPr id="1137991140" name="Hero"/>
          <p:cNvSpPr txBox="1"/>
          <p:nvPr/>
        </p:nvSpPr>
        <p:spPr bwMode="auto">
          <a:xfrm>
            <a:off x="7188200" y="1981200"/>
            <a:ext cx="4089400" cy="914400"/>
          </a:xfrm>
          <a:prstGeom prst="rect">
            <a:avLst/>
          </a:prstGeom>
          <a:noFill/>
          <a:ln>
            <a:noFill/>
          </a:ln>
        </p:spPr>
        <p:txBody>
          <a:bodyPr wrap="square" lIns="0" tIns="0" rIns="0" bIns="0" anchor="t">
            <a:normAutofit/>
          </a:bodyPr>
          <a:lstStyle/>
          <a:p>
            <a:pPr>
              <a:buNone/>
              <a:defRPr/>
            </a:pPr>
            <a:r>
              <a:rPr lang="fr-FR" sz="6000" b="1">
                <a:solidFill>
                  <a:srgbClr val="E11D48"/>
                </a:solidFill>
                <a:latin typeface="Segoe UI Semibold"/>
              </a:rPr>
              <a:t>−0,70</a:t>
            </a:r>
            <a:endParaRPr/>
          </a:p>
        </p:txBody>
      </p:sp>
      <p:sp>
        <p:nvSpPr>
          <p:cNvPr id="2120293427" name="HeroLab"/>
          <p:cNvSpPr txBox="1"/>
          <p:nvPr/>
        </p:nvSpPr>
        <p:spPr bwMode="auto">
          <a:xfrm>
            <a:off x="7188200" y="2946400"/>
            <a:ext cx="4089400" cy="304800"/>
          </a:xfrm>
          <a:prstGeom prst="rect">
            <a:avLst/>
          </a:prstGeom>
          <a:noFill/>
          <a:ln>
            <a:noFill/>
          </a:ln>
        </p:spPr>
        <p:txBody>
          <a:bodyPr wrap="square" lIns="0" tIns="0" rIns="0" bIns="0" anchor="t">
            <a:normAutofit/>
          </a:bodyPr>
          <a:lstStyle/>
          <a:p>
            <a:pPr>
              <a:buNone/>
              <a:defRPr/>
            </a:pPr>
            <a:r>
              <a:rPr lang="fr-FR" sz="1500">
                <a:solidFill>
                  <a:srgbClr val="64748B"/>
                </a:solidFill>
              </a:rPr>
              <a:t>Délinquance ↔ Score économique</a:t>
            </a:r>
            <a:endParaRPr/>
          </a:p>
        </p:txBody>
      </p:sp>
      <p:sp>
        <p:nvSpPr>
          <p:cNvPr id="1692093667" name="Bullets"/>
          <p:cNvSpPr txBox="1"/>
          <p:nvPr/>
        </p:nvSpPr>
        <p:spPr bwMode="auto">
          <a:xfrm>
            <a:off x="7188200" y="3454399"/>
            <a:ext cx="4089400" cy="2540000"/>
          </a:xfrm>
          <a:prstGeom prst="rect">
            <a:avLst/>
          </a:prstGeom>
          <a:noFill/>
          <a:ln>
            <a:noFill/>
          </a:ln>
        </p:spPr>
        <p:txBody>
          <a:bodyPr wrap="square" lIns="0" tIns="0" rIns="0" bIns="0" anchor="t">
            <a:normAutofit/>
          </a:bodyPr>
          <a:lstStyle/>
          <a:p>
            <a:pPr marL="285750" indent="-285750">
              <a:lnSpc>
                <a:spcPts val="2100"/>
              </a:lnSpc>
              <a:spcBef>
                <a:spcPts val="800"/>
              </a:spcBef>
              <a:buClr>
                <a:srgbClr val="2563EB"/>
              </a:buClr>
              <a:buFont typeface="Arial"/>
              <a:buChar char="•"/>
              <a:defRPr/>
            </a:pPr>
            <a:r>
              <a:rPr lang="fr-FR" sz="1600">
                <a:solidFill>
                  <a:srgbClr val="0B1F3A"/>
                </a:solidFill>
              </a:rPr>
              <a:t>Corrélation négative la plus forte du jeu de données.</a:t>
            </a:r>
            <a:endParaRPr/>
          </a:p>
          <a:p>
            <a:pPr marL="285750" indent="-285750">
              <a:lnSpc>
                <a:spcPts val="2100"/>
              </a:lnSpc>
              <a:spcBef>
                <a:spcPts val="800"/>
              </a:spcBef>
              <a:buClr>
                <a:srgbClr val="2563EB"/>
              </a:buClr>
              <a:buFont typeface="Arial"/>
              <a:buChar char="•"/>
              <a:defRPr/>
            </a:pPr>
            <a:r>
              <a:rPr lang="fr-FR" sz="1600">
                <a:solidFill>
                  <a:srgbClr val="0B1F3A"/>
                </a:solidFill>
              </a:rPr>
              <a:t>Plus la délinquance progresse, plus le score économique recule.</a:t>
            </a:r>
            <a:endParaRPr/>
          </a:p>
          <a:p>
            <a:pPr marL="285750" indent="-285750">
              <a:lnSpc>
                <a:spcPts val="2100"/>
              </a:lnSpc>
              <a:spcBef>
                <a:spcPts val="800"/>
              </a:spcBef>
              <a:buClr>
                <a:srgbClr val="2563EB"/>
              </a:buClr>
              <a:buFont typeface="Arial"/>
              <a:buChar char="•"/>
              <a:defRPr/>
            </a:pPr>
            <a:r>
              <a:rPr lang="fr-FR" sz="1600">
                <a:solidFill>
                  <a:srgbClr val="0B1F3A"/>
                </a:solidFill>
              </a:rPr>
              <a:t>Signal clé retenu pour la modélisation.</a:t>
            </a:r>
            <a:endParaRPr/>
          </a:p>
        </p:txBody>
      </p:sp>
      <p:sp>
        <p:nvSpPr>
          <p:cNvPr id="318844668" name="Page"/>
          <p:cNvSpPr txBox="1"/>
          <p:nvPr/>
        </p:nvSpPr>
        <p:spPr bwMode="auto">
          <a:xfrm>
            <a:off x="10515600" y="6451600"/>
            <a:ext cx="914400" cy="254000"/>
          </a:xfrm>
          <a:prstGeom prst="rect">
            <a:avLst/>
          </a:prstGeom>
          <a:noFill/>
          <a:ln>
            <a:noFill/>
          </a:ln>
        </p:spPr>
        <p:txBody>
          <a:bodyPr wrap="square" lIns="0" tIns="0" rIns="0" bIns="0" anchor="t">
            <a:normAutofit/>
          </a:bodyPr>
          <a:lstStyle/>
          <a:p>
            <a:pPr algn="r">
              <a:buNone/>
              <a:defRPr/>
            </a:pPr>
            <a:r>
              <a:rPr lang="fr-FR" sz="1400">
                <a:solidFill>
                  <a:srgbClr val="64748B"/>
                </a:solidFill>
              </a:rPr>
              <a:t>18</a:t>
            </a:r>
            <a:endParaRPr/>
          </a:p>
        </p:txBody>
      </p:sp>
      <p:pic>
        <p:nvPicPr>
          <p:cNvPr id="1845907172" name=""/>
          <p:cNvPicPr>
            <a:picLocks noChangeAspect="1"/>
          </p:cNvPicPr>
          <p:nvPr/>
        </p:nvPicPr>
        <p:blipFill rotWithShape="1">
          <a:blip r:embed="rId3"/>
          <a:stretch/>
        </p:blipFill>
        <p:spPr bwMode="auto">
          <a:xfrm flipH="0" flipV="0">
            <a:off x="288033" y="1696232"/>
            <a:ext cx="6748653" cy="4147354"/>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med" p14:dur="500" advClick="1">
        <p:fade thruBlk="0"/>
      </p:transition>
    </mc:Choice>
    <mc:Fallback>
      <p:transition spd="med" advClick="1">
        <p:fade thruBlk="0"/>
      </p:transition>
    </mc:Fallback>
  </mc:AlternateContent>
  <p:timing>
    <p:tnLst>
      <p:par>
        <p:cTn id="1" dur="indefinite" restart="never" nodeType="tmRoot">
          <p:childTnLst>
            <p:par>
              <p:cTn id="2" fill="hold">
                <p:stCondLst>
                  <p:cond delay="0"/>
                </p:stCondLst>
                <p:childTnLst>
                  <p:par>
                    <p:cTn id="3" presetID="10" presetClass="entr" presetSubtype="0" fill="hold" grpId="0" nodeType="afterEffect">
                      <p:stCondLst>
                        <p:cond delay="500"/>
                      </p:stCondLst>
                      <p:childTnLst>
                        <p:set>
                          <p:cBhvr>
                            <p:cTn id="4" dur="1" fill="hold">
                              <p:stCondLst>
                                <p:cond delay="0"/>
                              </p:stCondLst>
                            </p:cTn>
                            <p:tgtEl>
                              <p:spTgt spid="1738153846"/>
                            </p:tgtEl>
                            <p:attrNameLst>
                              <p:attrName>style.visibility</p:attrName>
                            </p:attrNameLst>
                          </p:cBhvr>
                          <p:to>
                            <p:strVal val="visible"/>
                          </p:to>
                        </p:set>
                        <p:animEffect transition="in" filter="fade">
                          <p:cBhvr>
                            <p:cTn id="5" dur="400"/>
                            <p:tgtEl>
                              <p:spTgt spid="1738153846"/>
                            </p:tgtEl>
                          </p:cBhvr>
                        </p:animEffect>
                        <p:anim calcmode="lin" valueType="num">
                          <p:cBhvr additive="base">
                            <p:cTn id="6" dur="400" fill="hold"/>
                            <p:tgtEl>
                              <p:spTgt spid="1738153846"/>
                            </p:tgtEl>
                            <p:attrNameLst>
                              <p:attrName>ppt_y</p:attrName>
                            </p:attrNameLst>
                          </p:cBhvr>
                          <p:tavLst>
                            <p:tav tm="0">
                              <p:val>
                                <p:fltVal val="0.045999999999999999"/>
                              </p:val>
                            </p:tav>
                            <p:tav tm="100000">
                              <p:val>
                                <p:fltVal val="0"/>
                              </p:val>
                            </p:tav>
                          </p:tavLst>
                        </p:anim>
                      </p:childTnLst>
                    </p:cTn>
                  </p:par>
                  <p:par>
                    <p:cTn id="7" presetID="10" presetClass="entr" presetSubtype="0" fill="hold" grpId="0" nodeType="afterEffect">
                      <p:stCondLst>
                        <p:cond delay="150"/>
                      </p:stCondLst>
                      <p:childTnLst>
                        <p:set>
                          <p:cBhvr>
                            <p:cTn id="8" dur="1" fill="hold">
                              <p:stCondLst>
                                <p:cond delay="0"/>
                              </p:stCondLst>
                            </p:cTn>
                            <p:tgtEl>
                              <p:spTgt spid="2130029327"/>
                            </p:tgtEl>
                            <p:attrNameLst>
                              <p:attrName>style.visibility</p:attrName>
                            </p:attrNameLst>
                          </p:cBhvr>
                          <p:to>
                            <p:strVal val="visible"/>
                          </p:to>
                        </p:set>
                        <p:animEffect transition="in" filter="fade">
                          <p:cBhvr>
                            <p:cTn id="9" dur="400"/>
                            <p:tgtEl>
                              <p:spTgt spid="2130029327"/>
                            </p:tgtEl>
                          </p:cBhvr>
                        </p:animEffect>
                        <p:anim calcmode="lin" valueType="num">
                          <p:cBhvr additive="base">
                            <p:cTn id="10" dur="400" fill="hold"/>
                            <p:tgtEl>
                              <p:spTgt spid="2130029327"/>
                            </p:tgtEl>
                            <p:attrNameLst>
                              <p:attrName>ppt_y</p:attrName>
                            </p:attrNameLst>
                          </p:cBhvr>
                          <p:tavLst>
                            <p:tav tm="0">
                              <p:val>
                                <p:fltVal val="0.045999999999999999"/>
                              </p:val>
                            </p:tav>
                            <p:tav tm="100000">
                              <p:val>
                                <p:fltVal val="0"/>
                              </p:val>
                            </p:tav>
                          </p:tavLst>
                        </p:anim>
                      </p:childTnLst>
                    </p:cTn>
                  </p:par>
                  <p:par>
                    <p:cTn id="11" presetID="10" presetClass="entr" presetSubtype="0" fill="hold" grpId="0" nodeType="afterEffect">
                      <p:stCondLst>
                        <p:cond delay="150"/>
                      </p:stCondLst>
                      <p:childTnLst>
                        <p:set>
                          <p:cBhvr>
                            <p:cTn id="12" dur="1" fill="hold">
                              <p:stCondLst>
                                <p:cond delay="0"/>
                              </p:stCondLst>
                            </p:cTn>
                            <p:tgtEl>
                              <p:spTgt spid="1675965970"/>
                            </p:tgtEl>
                            <p:attrNameLst>
                              <p:attrName>style.visibility</p:attrName>
                            </p:attrNameLst>
                          </p:cBhvr>
                          <p:to>
                            <p:strVal val="visible"/>
                          </p:to>
                        </p:set>
                        <p:animEffect transition="in" filter="fade">
                          <p:cBhvr>
                            <p:cTn id="13" dur="400"/>
                            <p:tgtEl>
                              <p:spTgt spid="1675965970"/>
                            </p:tgtEl>
                          </p:cBhvr>
                        </p:animEffect>
                        <p:anim calcmode="lin" valueType="num">
                          <p:cBhvr additive="base">
                            <p:cTn id="14" dur="400" fill="hold"/>
                            <p:tgtEl>
                              <p:spTgt spid="1675965970"/>
                            </p:tgtEl>
                            <p:attrNameLst>
                              <p:attrName>ppt_y</p:attrName>
                            </p:attrNameLst>
                          </p:cBhvr>
                          <p:tavLst>
                            <p:tav tm="0">
                              <p:val>
                                <p:fltVal val="0.045999999999999999"/>
                              </p:val>
                            </p:tav>
                            <p:tav tm="100000">
                              <p:val>
                                <p:fltVal val="0"/>
                              </p:val>
                            </p:tav>
                          </p:tavLst>
                        </p:anim>
                      </p:childTnLst>
                    </p:cTn>
                  </p:par>
                  <p:par>
                    <p:cTn id="19" presetID="10" presetClass="entr" presetSubtype="0" fill="hold" grpId="0" nodeType="afterEffect">
                      <p:stCondLst>
                        <p:cond delay="150"/>
                      </p:stCondLst>
                      <p:childTnLst>
                        <p:set>
                          <p:cBhvr>
                            <p:cTn id="20" dur="1" fill="hold">
                              <p:stCondLst>
                                <p:cond delay="0"/>
                              </p:stCondLst>
                            </p:cTn>
                            <p:tgtEl>
                              <p:spTgt spid="1137991140"/>
                            </p:tgtEl>
                            <p:attrNameLst>
                              <p:attrName>style.visibility</p:attrName>
                            </p:attrNameLst>
                          </p:cBhvr>
                          <p:to>
                            <p:strVal val="visible"/>
                          </p:to>
                        </p:set>
                        <p:animEffect transition="in" filter="fade">
                          <p:cBhvr>
                            <p:cTn id="21" dur="400"/>
                            <p:tgtEl>
                              <p:spTgt spid="1137991140"/>
                            </p:tgtEl>
                          </p:cBhvr>
                        </p:animEffect>
                        <p:anim calcmode="lin" valueType="num">
                          <p:cBhvr additive="base">
                            <p:cTn id="22" dur="400" fill="hold"/>
                            <p:tgtEl>
                              <p:spTgt spid="1137991140"/>
                            </p:tgtEl>
                            <p:attrNameLst>
                              <p:attrName>ppt_y</p:attrName>
                            </p:attrNameLst>
                          </p:cBhvr>
                          <p:tavLst>
                            <p:tav tm="0">
                              <p:val>
                                <p:fltVal val="0.045999999999999999"/>
                              </p:val>
                            </p:tav>
                            <p:tav tm="100000">
                              <p:val>
                                <p:fltVal val="0"/>
                              </p:val>
                            </p:tav>
                          </p:tavLst>
                        </p:anim>
                      </p:childTnLst>
                    </p:cTn>
                  </p:par>
                  <p:par>
                    <p:cTn id="23" presetID="10" presetClass="entr" presetSubtype="0" fill="hold" grpId="0" nodeType="afterEffect">
                      <p:stCondLst>
                        <p:cond delay="150"/>
                      </p:stCondLst>
                      <p:childTnLst>
                        <p:set>
                          <p:cBhvr>
                            <p:cTn id="24" dur="1" fill="hold">
                              <p:stCondLst>
                                <p:cond delay="0"/>
                              </p:stCondLst>
                            </p:cTn>
                            <p:tgtEl>
                              <p:spTgt spid="2120293427"/>
                            </p:tgtEl>
                            <p:attrNameLst>
                              <p:attrName>style.visibility</p:attrName>
                            </p:attrNameLst>
                          </p:cBhvr>
                          <p:to>
                            <p:strVal val="visible"/>
                          </p:to>
                        </p:set>
                        <p:animEffect transition="in" filter="fade">
                          <p:cBhvr>
                            <p:cTn id="25" dur="400"/>
                            <p:tgtEl>
                              <p:spTgt spid="2120293427"/>
                            </p:tgtEl>
                          </p:cBhvr>
                        </p:animEffect>
                        <p:anim calcmode="lin" valueType="num">
                          <p:cBhvr additive="base">
                            <p:cTn id="26" dur="400" fill="hold"/>
                            <p:tgtEl>
                              <p:spTgt spid="2120293427"/>
                            </p:tgtEl>
                            <p:attrNameLst>
                              <p:attrName>ppt_y</p:attrName>
                            </p:attrNameLst>
                          </p:cBhvr>
                          <p:tavLst>
                            <p:tav tm="0">
                              <p:val>
                                <p:fltVal val="0.045999999999999999"/>
                              </p:val>
                            </p:tav>
                            <p:tav tm="100000">
                              <p:val>
                                <p:fltVal val="0"/>
                              </p:val>
                            </p:tav>
                          </p:tavLst>
                        </p:anim>
                      </p:childTnLst>
                    </p:cTn>
                  </p:par>
                  <p:par>
                    <p:cTn id="27" presetID="10" presetClass="entr" presetSubtype="0" fill="hold" grpId="0" nodeType="afterEffect">
                      <p:stCondLst>
                        <p:cond delay="150"/>
                      </p:stCondLst>
                      <p:childTnLst>
                        <p:set>
                          <p:cBhvr>
                            <p:cTn id="28" dur="1" fill="hold">
                              <p:stCondLst>
                                <p:cond delay="0"/>
                              </p:stCondLst>
                            </p:cTn>
                            <p:tgtEl>
                              <p:spTgt spid="1692093667"/>
                            </p:tgtEl>
                            <p:attrNameLst>
                              <p:attrName>style.visibility</p:attrName>
                            </p:attrNameLst>
                          </p:cBhvr>
                          <p:to>
                            <p:strVal val="visible"/>
                          </p:to>
                        </p:set>
                        <p:animEffect transition="in" filter="fade">
                          <p:cBhvr>
                            <p:cTn id="29" dur="400"/>
                            <p:tgtEl>
                              <p:spTgt spid="1692093667"/>
                            </p:tgtEl>
                          </p:cBhvr>
                        </p:animEffect>
                        <p:anim calcmode="lin" valueType="num">
                          <p:cBhvr additive="base">
                            <p:cTn id="30" dur="400" fill="hold"/>
                            <p:tgtEl>
                              <p:spTgt spid="1692093667"/>
                            </p:tgtEl>
                            <p:attrNameLst>
                              <p:attrName>ppt_y</p:attrName>
                            </p:attrNameLst>
                          </p:cBhvr>
                          <p:tavLst>
                            <p:tav tm="0">
                              <p:val>
                                <p:fltVal val="0.045999999999999999"/>
                              </p:val>
                            </p:tav>
                            <p:tav tm="100000">
                              <p:val>
                                <p:fltVal val="0"/>
                              </p:val>
                            </p:tav>
                          </p:tavLst>
                        </p:anim>
                      </p:childTnLst>
                    </p:cTn>
                  </p:par>
                  <p:par>
                    <p:cTn id="31" presetID="10" presetClass="entr" presetSubtype="0" fill="hold" grpId="0" nodeType="afterEffect">
                      <p:stCondLst>
                        <p:cond delay="150"/>
                      </p:stCondLst>
                      <p:childTnLst>
                        <p:set>
                          <p:cBhvr>
                            <p:cTn id="32" dur="1" fill="hold">
                              <p:stCondLst>
                                <p:cond delay="0"/>
                              </p:stCondLst>
                            </p:cTn>
                            <p:tgtEl>
                              <p:spTgt spid="318844668"/>
                            </p:tgtEl>
                            <p:attrNameLst>
                              <p:attrName>style.visibility</p:attrName>
                            </p:attrNameLst>
                          </p:cBhvr>
                          <p:to>
                            <p:strVal val="visible"/>
                          </p:to>
                        </p:set>
                        <p:animEffect transition="in" filter="fade">
                          <p:cBhvr>
                            <p:cTn id="33" dur="400"/>
                            <p:tgtEl>
                              <p:spTgt spid="318844668"/>
                            </p:tgtEl>
                          </p:cBhvr>
                        </p:animEffect>
                        <p:anim calcmode="lin" valueType="num">
                          <p:cBhvr additive="base">
                            <p:cTn id="34" dur="400" fill="hold"/>
                            <p:tgtEl>
                              <p:spTgt spid="318844668"/>
                            </p:tgtEl>
                            <p:attrNameLst>
                              <p:attrName>ppt_y</p:attrName>
                            </p:attrNameLst>
                          </p:cBhvr>
                          <p:tavLst>
                            <p:tav tm="0">
                              <p:val>
                                <p:fltVal val="0.045999999999999999"/>
                              </p:val>
                            </p:tav>
                            <p:tav tm="100000">
                              <p:val>
                                <p:fltVal val="0"/>
                              </p:val>
                            </p:tav>
                          </p:tavLst>
                        </p:anim>
                      </p:childTnLst>
                    </p:cTn>
                  </p:par>
                </p:childTnLst>
              </p:cTn>
            </p:par>
          </p:childTnLst>
        </p:cTn>
      </p:par>
    </p:tnLst>
    <p:bldLst>
      <p:bldP spid="1738153846" grpId="0" animBg="1"/>
      <p:bldP spid="2130029327" grpId="0" animBg="1"/>
      <p:bldP spid="1675965970" grpId="0" animBg="1"/>
      <p:bldP spid="1137991140" grpId="0" animBg="1"/>
      <p:bldP spid="2120293427" grpId="0" animBg="1"/>
      <p:bldP spid="1692093667" grpId="0" animBg="1"/>
      <p:bldP spid="318844668" grpId="0" animBg="1"/>
    </p:bldLst>
  </p:timing>
</p:sld>
</file>

<file path=ppt/slides/slide2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296382506" name="Eyebrow"/>
          <p:cNvSpPr txBox="1"/>
          <p:nvPr/>
        </p:nvSpPr>
        <p:spPr bwMode="auto">
          <a:xfrm>
            <a:off x="914400" y="584200"/>
            <a:ext cx="9144000" cy="254000"/>
          </a:xfrm>
          <a:prstGeom prst="rect">
            <a:avLst/>
          </a:prstGeom>
          <a:noFill/>
          <a:ln>
            <a:noFill/>
          </a:ln>
        </p:spPr>
        <p:txBody>
          <a:bodyPr wrap="square" lIns="0" tIns="0" rIns="0" bIns="0" anchor="t">
            <a:normAutofit/>
          </a:bodyPr>
          <a:lstStyle/>
          <a:p>
            <a:pPr>
              <a:buNone/>
              <a:defRPr/>
            </a:pPr>
            <a:r>
              <a:rPr lang="fr-FR" sz="1400" b="1" spc="240">
                <a:solidFill>
                  <a:srgbClr val="64748B"/>
                </a:solidFill>
              </a:rPr>
              <a:t>05 · MACHINE LEARNING</a:t>
            </a:r>
            <a:endParaRPr/>
          </a:p>
        </p:txBody>
      </p:sp>
      <p:sp>
        <p:nvSpPr>
          <p:cNvPr id="2043880765" name="Titre"/>
          <p:cNvSpPr txBox="1"/>
          <p:nvPr/>
        </p:nvSpPr>
        <p:spPr bwMode="auto">
          <a:xfrm>
            <a:off x="914400" y="863599"/>
            <a:ext cx="10363200" cy="508000"/>
          </a:xfrm>
          <a:prstGeom prst="rect">
            <a:avLst/>
          </a:prstGeom>
          <a:noFill/>
          <a:ln>
            <a:noFill/>
          </a:ln>
        </p:spPr>
        <p:txBody>
          <a:bodyPr wrap="square" lIns="0" tIns="0" rIns="0" bIns="0" anchor="t">
            <a:normAutofit/>
          </a:bodyPr>
          <a:lstStyle/>
          <a:p>
            <a:pPr>
              <a:buNone/>
              <a:defRPr/>
            </a:pPr>
            <a:r>
              <a:rPr lang="fr-FR" sz="3000">
                <a:solidFill>
                  <a:srgbClr val="0B1F3A"/>
                </a:solidFill>
                <a:latin typeface="Segoe UI Semibold"/>
              </a:rPr>
              <a:t>La délinquance : premier facteur prédictif</a:t>
            </a:r>
            <a:endParaRPr/>
          </a:p>
        </p:txBody>
      </p:sp>
      <p:sp>
        <p:nvSpPr>
          <p:cNvPr id="778676813" name="Filet"/>
          <p:cNvSpPr/>
          <p:nvPr/>
        </p:nvSpPr>
        <p:spPr bwMode="auto">
          <a:xfrm>
            <a:off x="914400" y="1473200"/>
            <a:ext cx="685800" cy="50800"/>
          </a:xfrm>
          <a:prstGeom prst="rect">
            <a:avLst/>
          </a:prstGeom>
          <a:solidFill>
            <a:srgbClr val="2563EB"/>
          </a:solidFill>
          <a:ln>
            <a:noFill/>
          </a:ln>
        </p:spPr>
        <p:txBody>
          <a:bodyPr wrap="square" lIns="0" tIns="0" rIns="0" bIns="0" anchor="t">
            <a:normAutofit/>
          </a:bodyPr>
          <a:lstStyle/>
          <a:p>
            <a:pPr>
              <a:defRPr/>
            </a:pPr>
            <a:endParaRPr/>
          </a:p>
        </p:txBody>
      </p:sp>
      <p:sp>
        <p:nvSpPr>
          <p:cNvPr id="1271532704" name="chip"/>
          <p:cNvSpPr/>
          <p:nvPr/>
        </p:nvSpPr>
        <p:spPr bwMode="auto">
          <a:xfrm>
            <a:off x="914400" y="2057400"/>
            <a:ext cx="4572000" cy="381000"/>
          </a:xfrm>
          <a:prstGeom prst="roundRect">
            <a:avLst>
              <a:gd name="adj" fmla="val 50000"/>
            </a:avLst>
          </a:prstGeom>
          <a:solidFill>
            <a:srgbClr val="E11D48"/>
          </a:solidFill>
          <a:ln>
            <a:noFill/>
          </a:ln>
        </p:spPr>
        <p:txBody>
          <a:bodyPr wrap="square" lIns="101600" tIns="101600" rIns="101600" bIns="101600" anchor="ctr">
            <a:normAutofit/>
          </a:bodyPr>
          <a:lstStyle/>
          <a:p>
            <a:pPr algn="ctr">
              <a:buNone/>
              <a:defRPr/>
            </a:pPr>
            <a:r>
              <a:rPr lang="fr-FR" sz="1300" b="1" spc="120">
                <a:solidFill>
                  <a:srgbClr val="FFFFFF"/>
                </a:solidFill>
                <a:latin typeface="Segoe UI Semibold"/>
              </a:rPr>
              <a:t>RÉPONSE À LA QUESTION DU JURY</a:t>
            </a:r>
            <a:endParaRPr/>
          </a:p>
        </p:txBody>
      </p:sp>
      <p:sp>
        <p:nvSpPr>
          <p:cNvPr id="727855084" name="Hero"/>
          <p:cNvSpPr txBox="1"/>
          <p:nvPr/>
        </p:nvSpPr>
        <p:spPr bwMode="auto">
          <a:xfrm>
            <a:off x="914400" y="2616200"/>
            <a:ext cx="5334000" cy="1219200"/>
          </a:xfrm>
          <a:prstGeom prst="rect">
            <a:avLst/>
          </a:prstGeom>
          <a:noFill/>
          <a:ln>
            <a:noFill/>
          </a:ln>
        </p:spPr>
        <p:txBody>
          <a:bodyPr wrap="square" lIns="0" tIns="0" rIns="0" bIns="0" anchor="t">
            <a:normAutofit/>
          </a:bodyPr>
          <a:lstStyle/>
          <a:p>
            <a:pPr>
              <a:buNone/>
              <a:defRPr/>
            </a:pPr>
            <a:r>
              <a:rPr lang="fr-FR" sz="6600" b="1">
                <a:solidFill>
                  <a:srgbClr val="E11D48"/>
                </a:solidFill>
                <a:latin typeface="Segoe UI Semibold"/>
              </a:rPr>
              <a:t>17,46 %</a:t>
            </a:r>
            <a:endParaRPr/>
          </a:p>
        </p:txBody>
      </p:sp>
      <p:sp>
        <p:nvSpPr>
          <p:cNvPr id="1158882557" name="HeroLab"/>
          <p:cNvSpPr txBox="1"/>
          <p:nvPr/>
        </p:nvSpPr>
        <p:spPr bwMode="auto">
          <a:xfrm>
            <a:off x="914400" y="3886200"/>
            <a:ext cx="5334000" cy="304800"/>
          </a:xfrm>
          <a:prstGeom prst="rect">
            <a:avLst/>
          </a:prstGeom>
          <a:noFill/>
          <a:ln>
            <a:noFill/>
          </a:ln>
        </p:spPr>
        <p:txBody>
          <a:bodyPr wrap="square" lIns="0" tIns="0" rIns="0" bIns="0" anchor="t">
            <a:normAutofit/>
          </a:bodyPr>
          <a:lstStyle/>
          <a:p>
            <a:pPr>
              <a:buNone/>
              <a:defRPr/>
            </a:pPr>
            <a:r>
              <a:rPr lang="fr-FR" sz="1500">
                <a:solidFill>
                  <a:srgbClr val="64748B"/>
                </a:solidFill>
              </a:rPr>
              <a:t>Importance de la variable « délinquance »</a:t>
            </a:r>
            <a:endParaRPr/>
          </a:p>
        </p:txBody>
      </p:sp>
      <p:sp>
        <p:nvSpPr>
          <p:cNvPr id="187616951" name="Note"/>
          <p:cNvSpPr txBox="1"/>
          <p:nvPr/>
        </p:nvSpPr>
        <p:spPr bwMode="auto">
          <a:xfrm>
            <a:off x="914400" y="4394200"/>
            <a:ext cx="5334000" cy="1016000"/>
          </a:xfrm>
          <a:prstGeom prst="rect">
            <a:avLst/>
          </a:prstGeom>
          <a:noFill/>
          <a:ln>
            <a:noFill/>
          </a:ln>
        </p:spPr>
        <p:txBody>
          <a:bodyPr wrap="square" lIns="0" tIns="0" rIns="0" bIns="0" anchor="t">
            <a:normAutofit/>
          </a:bodyPr>
          <a:lstStyle/>
          <a:p>
            <a:pPr marL="285750" indent="-285750">
              <a:lnSpc>
                <a:spcPts val="2100"/>
              </a:lnSpc>
              <a:spcBef>
                <a:spcPts val="800"/>
              </a:spcBef>
              <a:buClr>
                <a:srgbClr val="E11D48"/>
              </a:buClr>
              <a:buFont typeface="Arial"/>
              <a:buChar char="•"/>
              <a:defRPr/>
            </a:pPr>
            <a:r>
              <a:rPr lang="fr-FR" sz="1700">
                <a:solidFill>
                  <a:srgbClr val="0B1F3A"/>
                </a:solidFill>
              </a:rPr>
              <a:t>Plus du double de l'importance de la 2ᵉ variable.</a:t>
            </a:r>
            <a:endParaRPr/>
          </a:p>
          <a:p>
            <a:pPr marL="285750" indent="-285750">
              <a:lnSpc>
                <a:spcPts val="2100"/>
              </a:lnSpc>
              <a:spcBef>
                <a:spcPts val="800"/>
              </a:spcBef>
              <a:buClr>
                <a:srgbClr val="E11D48"/>
              </a:buClr>
              <a:buFont typeface="Arial"/>
              <a:buChar char="•"/>
              <a:defRPr/>
            </a:pPr>
            <a:r>
              <a:rPr lang="fr-FR" sz="1700">
                <a:solidFill>
                  <a:srgbClr val="0B1F3A"/>
                </a:solidFill>
              </a:rPr>
              <a:t>Signal prédictif n°1 de l'orientation d'un territoire.</a:t>
            </a:r>
            <a:endParaRPr/>
          </a:p>
        </p:txBody>
      </p:sp>
      <p:sp>
        <p:nvSpPr>
          <p:cNvPr id="1452657449" name="Page"/>
          <p:cNvSpPr txBox="1"/>
          <p:nvPr/>
        </p:nvSpPr>
        <p:spPr bwMode="auto">
          <a:xfrm>
            <a:off x="10515600" y="6451600"/>
            <a:ext cx="914400" cy="254000"/>
          </a:xfrm>
          <a:prstGeom prst="rect">
            <a:avLst/>
          </a:prstGeom>
          <a:noFill/>
          <a:ln>
            <a:noFill/>
          </a:ln>
        </p:spPr>
        <p:txBody>
          <a:bodyPr wrap="square" lIns="0" tIns="0" rIns="0" bIns="0" anchor="t">
            <a:normAutofit/>
          </a:bodyPr>
          <a:lstStyle/>
          <a:p>
            <a:pPr algn="r">
              <a:buNone/>
              <a:defRPr/>
            </a:pPr>
            <a:r>
              <a:rPr lang="fr-FR" sz="1400">
                <a:solidFill>
                  <a:srgbClr val="64748B"/>
                </a:solidFill>
              </a:rPr>
              <a:t>19</a:t>
            </a:r>
            <a:endParaRPr/>
          </a:p>
        </p:txBody>
      </p:sp>
      <p:pic>
        <p:nvPicPr>
          <p:cNvPr id="1315558428" name=""/>
          <p:cNvPicPr>
            <a:picLocks noChangeAspect="1"/>
          </p:cNvPicPr>
          <p:nvPr/>
        </p:nvPicPr>
        <p:blipFill rotWithShape="1">
          <a:blip r:embed="rId3"/>
          <a:stretch/>
        </p:blipFill>
        <p:spPr bwMode="auto">
          <a:xfrm flipH="0" flipV="0">
            <a:off x="5794623" y="1824037"/>
            <a:ext cx="5950745" cy="4124324"/>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med" p14:dur="500" advClick="1">
        <p:fade thruBlk="0"/>
      </p:transition>
    </mc:Choice>
    <mc:Fallback>
      <p:transition spd="med" advClick="1">
        <p:fade thruBlk="0"/>
      </p:transition>
    </mc:Fallback>
  </mc:AlternateContent>
  <p:timing>
    <p:tnLst>
      <p:par>
        <p:cTn id="1" dur="indefinite" restart="never" nodeType="tmRoot">
          <p:childTnLst>
            <p:par>
              <p:cTn id="2" fill="hold">
                <p:stCondLst>
                  <p:cond delay="0"/>
                </p:stCondLst>
                <p:childTnLst>
                  <p:par>
                    <p:cTn id="3" presetID="10" presetClass="entr" presetSubtype="0" fill="hold" grpId="0" nodeType="afterEffect">
                      <p:stCondLst>
                        <p:cond delay="500"/>
                      </p:stCondLst>
                      <p:childTnLst>
                        <p:set>
                          <p:cBhvr>
                            <p:cTn id="4" dur="1" fill="hold">
                              <p:stCondLst>
                                <p:cond delay="0"/>
                              </p:stCondLst>
                            </p:cTn>
                            <p:tgtEl>
                              <p:spTgt spid="1296382506"/>
                            </p:tgtEl>
                            <p:attrNameLst>
                              <p:attrName>style.visibility</p:attrName>
                            </p:attrNameLst>
                          </p:cBhvr>
                          <p:to>
                            <p:strVal val="visible"/>
                          </p:to>
                        </p:set>
                        <p:animEffect transition="in" filter="fade">
                          <p:cBhvr>
                            <p:cTn id="5" dur="400"/>
                            <p:tgtEl>
                              <p:spTgt spid="1296382506"/>
                            </p:tgtEl>
                          </p:cBhvr>
                        </p:animEffect>
                        <p:anim calcmode="lin" valueType="num">
                          <p:cBhvr additive="base">
                            <p:cTn id="6" dur="400" fill="hold"/>
                            <p:tgtEl>
                              <p:spTgt spid="1296382506"/>
                            </p:tgtEl>
                            <p:attrNameLst>
                              <p:attrName>ppt_y</p:attrName>
                            </p:attrNameLst>
                          </p:cBhvr>
                          <p:tavLst>
                            <p:tav tm="0">
                              <p:val>
                                <p:fltVal val="0.045999999999999999"/>
                              </p:val>
                            </p:tav>
                            <p:tav tm="100000">
                              <p:val>
                                <p:fltVal val="0"/>
                              </p:val>
                            </p:tav>
                          </p:tavLst>
                        </p:anim>
                      </p:childTnLst>
                    </p:cTn>
                  </p:par>
                  <p:par>
                    <p:cTn id="7" presetID="10" presetClass="entr" presetSubtype="0" fill="hold" grpId="0" nodeType="afterEffect">
                      <p:stCondLst>
                        <p:cond delay="150"/>
                      </p:stCondLst>
                      <p:childTnLst>
                        <p:set>
                          <p:cBhvr>
                            <p:cTn id="8" dur="1" fill="hold">
                              <p:stCondLst>
                                <p:cond delay="0"/>
                              </p:stCondLst>
                            </p:cTn>
                            <p:tgtEl>
                              <p:spTgt spid="2043880765"/>
                            </p:tgtEl>
                            <p:attrNameLst>
                              <p:attrName>style.visibility</p:attrName>
                            </p:attrNameLst>
                          </p:cBhvr>
                          <p:to>
                            <p:strVal val="visible"/>
                          </p:to>
                        </p:set>
                        <p:animEffect transition="in" filter="fade">
                          <p:cBhvr>
                            <p:cTn id="9" dur="400"/>
                            <p:tgtEl>
                              <p:spTgt spid="2043880765"/>
                            </p:tgtEl>
                          </p:cBhvr>
                        </p:animEffect>
                        <p:anim calcmode="lin" valueType="num">
                          <p:cBhvr additive="base">
                            <p:cTn id="10" dur="400" fill="hold"/>
                            <p:tgtEl>
                              <p:spTgt spid="2043880765"/>
                            </p:tgtEl>
                            <p:attrNameLst>
                              <p:attrName>ppt_y</p:attrName>
                            </p:attrNameLst>
                          </p:cBhvr>
                          <p:tavLst>
                            <p:tav tm="0">
                              <p:val>
                                <p:fltVal val="0.045999999999999999"/>
                              </p:val>
                            </p:tav>
                            <p:tav tm="100000">
                              <p:val>
                                <p:fltVal val="0"/>
                              </p:val>
                            </p:tav>
                          </p:tavLst>
                        </p:anim>
                      </p:childTnLst>
                    </p:cTn>
                  </p:par>
                  <p:par>
                    <p:cTn id="11" presetID="10" presetClass="entr" presetSubtype="0" fill="hold" grpId="0" nodeType="afterEffect">
                      <p:stCondLst>
                        <p:cond delay="150"/>
                      </p:stCondLst>
                      <p:childTnLst>
                        <p:set>
                          <p:cBhvr>
                            <p:cTn id="12" dur="1" fill="hold">
                              <p:stCondLst>
                                <p:cond delay="0"/>
                              </p:stCondLst>
                            </p:cTn>
                            <p:tgtEl>
                              <p:spTgt spid="778676813"/>
                            </p:tgtEl>
                            <p:attrNameLst>
                              <p:attrName>style.visibility</p:attrName>
                            </p:attrNameLst>
                          </p:cBhvr>
                          <p:to>
                            <p:strVal val="visible"/>
                          </p:to>
                        </p:set>
                        <p:animEffect transition="in" filter="fade">
                          <p:cBhvr>
                            <p:cTn id="13" dur="400"/>
                            <p:tgtEl>
                              <p:spTgt spid="778676813"/>
                            </p:tgtEl>
                          </p:cBhvr>
                        </p:animEffect>
                        <p:anim calcmode="lin" valueType="num">
                          <p:cBhvr additive="base">
                            <p:cTn id="14" dur="400" fill="hold"/>
                            <p:tgtEl>
                              <p:spTgt spid="778676813"/>
                            </p:tgtEl>
                            <p:attrNameLst>
                              <p:attrName>ppt_y</p:attrName>
                            </p:attrNameLst>
                          </p:cBhvr>
                          <p:tavLst>
                            <p:tav tm="0">
                              <p:val>
                                <p:fltVal val="0.045999999999999999"/>
                              </p:val>
                            </p:tav>
                            <p:tav tm="100000">
                              <p:val>
                                <p:fltVal val="0"/>
                              </p:val>
                            </p:tav>
                          </p:tavLst>
                        </p:anim>
                      </p:childTnLst>
                    </p:cTn>
                  </p:par>
                  <p:par>
                    <p:cTn id="15" presetID="10" presetClass="entr" presetSubtype="0" fill="hold" grpId="0" nodeType="afterEffect">
                      <p:stCondLst>
                        <p:cond delay="150"/>
                      </p:stCondLst>
                      <p:childTnLst>
                        <p:set>
                          <p:cBhvr>
                            <p:cTn id="16" dur="1" fill="hold">
                              <p:stCondLst>
                                <p:cond delay="0"/>
                              </p:stCondLst>
                            </p:cTn>
                            <p:tgtEl>
                              <p:spTgt spid="1271532704"/>
                            </p:tgtEl>
                            <p:attrNameLst>
                              <p:attrName>style.visibility</p:attrName>
                            </p:attrNameLst>
                          </p:cBhvr>
                          <p:to>
                            <p:strVal val="visible"/>
                          </p:to>
                        </p:set>
                        <p:animEffect transition="in" filter="fade">
                          <p:cBhvr>
                            <p:cTn id="17" dur="400"/>
                            <p:tgtEl>
                              <p:spTgt spid="1271532704"/>
                            </p:tgtEl>
                          </p:cBhvr>
                        </p:animEffect>
                        <p:anim calcmode="lin" valueType="num">
                          <p:cBhvr additive="base">
                            <p:cTn id="18" dur="400" fill="hold"/>
                            <p:tgtEl>
                              <p:spTgt spid="1271532704"/>
                            </p:tgtEl>
                            <p:attrNameLst>
                              <p:attrName>ppt_y</p:attrName>
                            </p:attrNameLst>
                          </p:cBhvr>
                          <p:tavLst>
                            <p:tav tm="0">
                              <p:val>
                                <p:fltVal val="0.045999999999999999"/>
                              </p:val>
                            </p:tav>
                            <p:tav tm="100000">
                              <p:val>
                                <p:fltVal val="0"/>
                              </p:val>
                            </p:tav>
                          </p:tavLst>
                        </p:anim>
                      </p:childTnLst>
                    </p:cTn>
                  </p:par>
                  <p:par>
                    <p:cTn id="19" presetID="10" presetClass="entr" presetSubtype="0" fill="hold" grpId="0" nodeType="afterEffect">
                      <p:stCondLst>
                        <p:cond delay="150"/>
                      </p:stCondLst>
                      <p:childTnLst>
                        <p:set>
                          <p:cBhvr>
                            <p:cTn id="20" dur="1" fill="hold">
                              <p:stCondLst>
                                <p:cond delay="0"/>
                              </p:stCondLst>
                            </p:cTn>
                            <p:tgtEl>
                              <p:spTgt spid="727855084"/>
                            </p:tgtEl>
                            <p:attrNameLst>
                              <p:attrName>style.visibility</p:attrName>
                            </p:attrNameLst>
                          </p:cBhvr>
                          <p:to>
                            <p:strVal val="visible"/>
                          </p:to>
                        </p:set>
                        <p:animEffect transition="in" filter="fade">
                          <p:cBhvr>
                            <p:cTn id="21" dur="400"/>
                            <p:tgtEl>
                              <p:spTgt spid="727855084"/>
                            </p:tgtEl>
                          </p:cBhvr>
                        </p:animEffect>
                        <p:anim calcmode="lin" valueType="num">
                          <p:cBhvr additive="base">
                            <p:cTn id="22" dur="400" fill="hold"/>
                            <p:tgtEl>
                              <p:spTgt spid="727855084"/>
                            </p:tgtEl>
                            <p:attrNameLst>
                              <p:attrName>ppt_y</p:attrName>
                            </p:attrNameLst>
                          </p:cBhvr>
                          <p:tavLst>
                            <p:tav tm="0">
                              <p:val>
                                <p:fltVal val="0.045999999999999999"/>
                              </p:val>
                            </p:tav>
                            <p:tav tm="100000">
                              <p:val>
                                <p:fltVal val="0"/>
                              </p:val>
                            </p:tav>
                          </p:tavLst>
                        </p:anim>
                      </p:childTnLst>
                    </p:cTn>
                  </p:par>
                  <p:par>
                    <p:cTn id="23" presetID="10" presetClass="entr" presetSubtype="0" fill="hold" grpId="0" nodeType="afterEffect">
                      <p:stCondLst>
                        <p:cond delay="150"/>
                      </p:stCondLst>
                      <p:childTnLst>
                        <p:set>
                          <p:cBhvr>
                            <p:cTn id="24" dur="1" fill="hold">
                              <p:stCondLst>
                                <p:cond delay="0"/>
                              </p:stCondLst>
                            </p:cTn>
                            <p:tgtEl>
                              <p:spTgt spid="1158882557"/>
                            </p:tgtEl>
                            <p:attrNameLst>
                              <p:attrName>style.visibility</p:attrName>
                            </p:attrNameLst>
                          </p:cBhvr>
                          <p:to>
                            <p:strVal val="visible"/>
                          </p:to>
                        </p:set>
                        <p:animEffect transition="in" filter="fade">
                          <p:cBhvr>
                            <p:cTn id="25" dur="400"/>
                            <p:tgtEl>
                              <p:spTgt spid="1158882557"/>
                            </p:tgtEl>
                          </p:cBhvr>
                        </p:animEffect>
                        <p:anim calcmode="lin" valueType="num">
                          <p:cBhvr additive="base">
                            <p:cTn id="26" dur="400" fill="hold"/>
                            <p:tgtEl>
                              <p:spTgt spid="1158882557"/>
                            </p:tgtEl>
                            <p:attrNameLst>
                              <p:attrName>ppt_y</p:attrName>
                            </p:attrNameLst>
                          </p:cBhvr>
                          <p:tavLst>
                            <p:tav tm="0">
                              <p:val>
                                <p:fltVal val="0.045999999999999999"/>
                              </p:val>
                            </p:tav>
                            <p:tav tm="100000">
                              <p:val>
                                <p:fltVal val="0"/>
                              </p:val>
                            </p:tav>
                          </p:tavLst>
                        </p:anim>
                      </p:childTnLst>
                    </p:cTn>
                  </p:par>
                  <p:par>
                    <p:cTn id="27" presetID="10" presetClass="entr" presetSubtype="0" fill="hold" grpId="0" nodeType="afterEffect">
                      <p:stCondLst>
                        <p:cond delay="150"/>
                      </p:stCondLst>
                      <p:childTnLst>
                        <p:set>
                          <p:cBhvr>
                            <p:cTn id="28" dur="1" fill="hold">
                              <p:stCondLst>
                                <p:cond delay="0"/>
                              </p:stCondLst>
                            </p:cTn>
                            <p:tgtEl>
                              <p:spTgt spid="187616951"/>
                            </p:tgtEl>
                            <p:attrNameLst>
                              <p:attrName>style.visibility</p:attrName>
                            </p:attrNameLst>
                          </p:cBhvr>
                          <p:to>
                            <p:strVal val="visible"/>
                          </p:to>
                        </p:set>
                        <p:animEffect transition="in" filter="fade">
                          <p:cBhvr>
                            <p:cTn id="29" dur="400"/>
                            <p:tgtEl>
                              <p:spTgt spid="187616951"/>
                            </p:tgtEl>
                          </p:cBhvr>
                        </p:animEffect>
                        <p:anim calcmode="lin" valueType="num">
                          <p:cBhvr additive="base">
                            <p:cTn id="30" dur="400" fill="hold"/>
                            <p:tgtEl>
                              <p:spTgt spid="187616951"/>
                            </p:tgtEl>
                            <p:attrNameLst>
                              <p:attrName>ppt_y</p:attrName>
                            </p:attrNameLst>
                          </p:cBhvr>
                          <p:tavLst>
                            <p:tav tm="0">
                              <p:val>
                                <p:fltVal val="0.045999999999999999"/>
                              </p:val>
                            </p:tav>
                            <p:tav tm="100000">
                              <p:val>
                                <p:fltVal val="0"/>
                              </p:val>
                            </p:tav>
                          </p:tavLst>
                        </p:anim>
                      </p:childTnLst>
                    </p:cTn>
                  </p:par>
                  <p:par>
                    <p:cTn id="35" presetID="10" presetClass="entr" presetSubtype="0" fill="hold" grpId="0" nodeType="afterEffect">
                      <p:stCondLst>
                        <p:cond delay="150"/>
                      </p:stCondLst>
                      <p:childTnLst>
                        <p:set>
                          <p:cBhvr>
                            <p:cTn id="36" dur="1" fill="hold">
                              <p:stCondLst>
                                <p:cond delay="0"/>
                              </p:stCondLst>
                            </p:cTn>
                            <p:tgtEl>
                              <p:spTgt spid="1452657449"/>
                            </p:tgtEl>
                            <p:attrNameLst>
                              <p:attrName>style.visibility</p:attrName>
                            </p:attrNameLst>
                          </p:cBhvr>
                          <p:to>
                            <p:strVal val="visible"/>
                          </p:to>
                        </p:set>
                        <p:animEffect transition="in" filter="fade">
                          <p:cBhvr>
                            <p:cTn id="37" dur="400"/>
                            <p:tgtEl>
                              <p:spTgt spid="1452657449"/>
                            </p:tgtEl>
                          </p:cBhvr>
                        </p:animEffect>
                        <p:anim calcmode="lin" valueType="num">
                          <p:cBhvr additive="base">
                            <p:cTn id="38" dur="400" fill="hold"/>
                            <p:tgtEl>
                              <p:spTgt spid="1452657449"/>
                            </p:tgtEl>
                            <p:attrNameLst>
                              <p:attrName>ppt_y</p:attrName>
                            </p:attrNameLst>
                          </p:cBhvr>
                          <p:tavLst>
                            <p:tav tm="0">
                              <p:val>
                                <p:fltVal val="0.045999999999999999"/>
                              </p:val>
                            </p:tav>
                            <p:tav tm="100000">
                              <p:val>
                                <p:fltVal val="0"/>
                              </p:val>
                            </p:tav>
                          </p:tavLst>
                        </p:anim>
                      </p:childTnLst>
                    </p:cTn>
                  </p:par>
                </p:childTnLst>
              </p:cTn>
            </p:par>
          </p:childTnLst>
        </p:cTn>
      </p:par>
    </p:tnLst>
    <p:bldLst>
      <p:bldP spid="1296382506" grpId="0" animBg="1"/>
      <p:bldP spid="2043880765" grpId="0" animBg="1"/>
      <p:bldP spid="778676813" grpId="0" animBg="1"/>
      <p:bldP spid="1271532704" grpId="0" animBg="1"/>
      <p:bldP spid="727855084" grpId="0" animBg="1"/>
      <p:bldP spid="1158882557" grpId="0" animBg="1"/>
      <p:bldP spid="187616951" grpId="0" animBg="1"/>
      <p:bldP spid="1452657449" grpId="0" animBg="1"/>
    </p:bldLst>
  </p:timing>
</p:sld>
</file>

<file path=ppt/slides/slide2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162551192" name="Eyebrow"/>
          <p:cNvSpPr txBox="1"/>
          <p:nvPr/>
        </p:nvSpPr>
        <p:spPr bwMode="auto">
          <a:xfrm>
            <a:off x="914400" y="584200"/>
            <a:ext cx="9144000" cy="254000"/>
          </a:xfrm>
          <a:prstGeom prst="rect">
            <a:avLst/>
          </a:prstGeom>
          <a:noFill/>
          <a:ln>
            <a:noFill/>
          </a:ln>
        </p:spPr>
        <p:txBody>
          <a:bodyPr wrap="square" lIns="0" tIns="0" rIns="0" bIns="0" anchor="t">
            <a:normAutofit/>
          </a:bodyPr>
          <a:lstStyle/>
          <a:p>
            <a:pPr>
              <a:buNone/>
              <a:defRPr/>
            </a:pPr>
            <a:r>
              <a:rPr lang="fr-FR" sz="1400" b="1" spc="240">
                <a:solidFill>
                  <a:srgbClr val="64748B"/>
                </a:solidFill>
              </a:rPr>
              <a:t>05 · MACHINE LEARNING</a:t>
            </a:r>
            <a:endParaRPr/>
          </a:p>
        </p:txBody>
      </p:sp>
      <p:sp>
        <p:nvSpPr>
          <p:cNvPr id="1228391788" name="Titre"/>
          <p:cNvSpPr txBox="1"/>
          <p:nvPr/>
        </p:nvSpPr>
        <p:spPr bwMode="auto">
          <a:xfrm>
            <a:off x="914400" y="863599"/>
            <a:ext cx="10363200" cy="508000"/>
          </a:xfrm>
          <a:prstGeom prst="rect">
            <a:avLst/>
          </a:prstGeom>
          <a:noFill/>
          <a:ln>
            <a:noFill/>
          </a:ln>
        </p:spPr>
        <p:txBody>
          <a:bodyPr wrap="square" lIns="0" tIns="0" rIns="0" bIns="0" anchor="t">
            <a:normAutofit/>
          </a:bodyPr>
          <a:lstStyle/>
          <a:p>
            <a:pPr>
              <a:buNone/>
              <a:defRPr/>
            </a:pPr>
            <a:r>
              <a:rPr lang="fr-FR" sz="3000">
                <a:solidFill>
                  <a:srgbClr val="0B1F3A"/>
                </a:solidFill>
                <a:latin typeface="Segoe UI Semibold"/>
              </a:rPr>
              <a:t>Stratégie d'évaluation</a:t>
            </a:r>
            <a:endParaRPr/>
          </a:p>
        </p:txBody>
      </p:sp>
      <p:sp>
        <p:nvSpPr>
          <p:cNvPr id="1393342997" name="Filet"/>
          <p:cNvSpPr/>
          <p:nvPr/>
        </p:nvSpPr>
        <p:spPr bwMode="auto">
          <a:xfrm>
            <a:off x="914400" y="1473200"/>
            <a:ext cx="685800" cy="50800"/>
          </a:xfrm>
          <a:prstGeom prst="rect">
            <a:avLst/>
          </a:prstGeom>
          <a:solidFill>
            <a:srgbClr val="2563EB"/>
          </a:solidFill>
          <a:ln>
            <a:noFill/>
          </a:ln>
        </p:spPr>
        <p:txBody>
          <a:bodyPr wrap="square" lIns="0" tIns="0" rIns="0" bIns="0" anchor="t">
            <a:normAutofit/>
          </a:bodyPr>
          <a:lstStyle/>
          <a:p>
            <a:pPr>
              <a:defRPr/>
            </a:pPr>
            <a:endParaRPr/>
          </a:p>
        </p:txBody>
      </p:sp>
      <p:sp>
        <p:nvSpPr>
          <p:cNvPr id="2141926879" name="Key"/>
          <p:cNvSpPr txBox="1"/>
          <p:nvPr/>
        </p:nvSpPr>
        <p:spPr bwMode="auto">
          <a:xfrm>
            <a:off x="914400" y="1905000"/>
            <a:ext cx="10363200" cy="381000"/>
          </a:xfrm>
          <a:prstGeom prst="rect">
            <a:avLst/>
          </a:prstGeom>
          <a:noFill/>
          <a:ln>
            <a:noFill/>
          </a:ln>
        </p:spPr>
        <p:txBody>
          <a:bodyPr wrap="square" lIns="0" tIns="0" rIns="0" bIns="0" anchor="t">
            <a:normAutofit/>
          </a:bodyPr>
          <a:lstStyle/>
          <a:p>
            <a:pPr>
              <a:buNone/>
              <a:defRPr/>
            </a:pPr>
            <a:r>
              <a:rPr lang="fr-FR" sz="1800">
                <a:solidFill>
                  <a:srgbClr val="0B1F3A"/>
                </a:solidFill>
                <a:latin typeface="Segoe UI Semibold"/>
              </a:rPr>
              <a:t>Une classification </a:t>
            </a:r>
            <a:r>
              <a:rPr lang="fr-FR" sz="1800">
                <a:solidFill>
                  <a:srgbClr val="2563EB"/>
                </a:solidFill>
                <a:latin typeface="Segoe UI Semibold"/>
              </a:rPr>
              <a:t>multiclasse à 5 niveaux</a:t>
            </a:r>
            <a:r>
              <a:rPr lang="fr-FR" sz="1800">
                <a:solidFill>
                  <a:srgbClr val="0B1F3A"/>
                </a:solidFill>
                <a:latin typeface="Segoe UI Semibold"/>
              </a:rPr>
              <a:t>, plus fine qu'un simple binaire.</a:t>
            </a:r>
            <a:endParaRPr/>
          </a:p>
        </p:txBody>
      </p:sp>
      <p:sp>
        <p:nvSpPr>
          <p:cNvPr id="1181398494" name="chip"/>
          <p:cNvSpPr/>
          <p:nvPr/>
        </p:nvSpPr>
        <p:spPr bwMode="auto">
          <a:xfrm>
            <a:off x="914400" y="2616200"/>
            <a:ext cx="1905000" cy="482600"/>
          </a:xfrm>
          <a:prstGeom prst="roundRect">
            <a:avLst>
              <a:gd name="adj" fmla="val 30000"/>
            </a:avLst>
          </a:prstGeom>
          <a:solidFill>
            <a:srgbClr val="EEF2FB"/>
          </a:solidFill>
          <a:ln>
            <a:noFill/>
          </a:ln>
        </p:spPr>
        <p:txBody>
          <a:bodyPr wrap="square" lIns="76200" tIns="76200" rIns="76200" bIns="76200" anchor="ctr">
            <a:normAutofit/>
          </a:bodyPr>
          <a:lstStyle/>
          <a:p>
            <a:pPr algn="ctr">
              <a:buNone/>
              <a:defRPr/>
            </a:pPr>
            <a:r>
              <a:rPr lang="fr-FR" sz="1400">
                <a:solidFill>
                  <a:srgbClr val="0B1F3A"/>
                </a:solidFill>
                <a:latin typeface="Segoe UI Semibold"/>
              </a:rPr>
              <a:t>Crise</a:t>
            </a:r>
            <a:endParaRPr/>
          </a:p>
        </p:txBody>
      </p:sp>
      <p:sp>
        <p:nvSpPr>
          <p:cNvPr id="1956659902" name="chip"/>
          <p:cNvSpPr/>
          <p:nvPr/>
        </p:nvSpPr>
        <p:spPr bwMode="auto">
          <a:xfrm>
            <a:off x="3028950" y="2616200"/>
            <a:ext cx="1905000" cy="482600"/>
          </a:xfrm>
          <a:prstGeom prst="roundRect">
            <a:avLst>
              <a:gd name="adj" fmla="val 30000"/>
            </a:avLst>
          </a:prstGeom>
          <a:solidFill>
            <a:srgbClr val="EEF2FB"/>
          </a:solidFill>
          <a:ln>
            <a:noFill/>
          </a:ln>
        </p:spPr>
        <p:txBody>
          <a:bodyPr wrap="square" lIns="76200" tIns="76200" rIns="76200" bIns="76200" anchor="ctr">
            <a:normAutofit/>
          </a:bodyPr>
          <a:lstStyle/>
          <a:p>
            <a:pPr algn="ctr">
              <a:buNone/>
              <a:defRPr/>
            </a:pPr>
            <a:r>
              <a:rPr lang="fr-FR" sz="1400">
                <a:solidFill>
                  <a:srgbClr val="0B1F3A"/>
                </a:solidFill>
                <a:latin typeface="Segoe UI Semibold"/>
              </a:rPr>
              <a:t>Déclin</a:t>
            </a:r>
            <a:endParaRPr/>
          </a:p>
        </p:txBody>
      </p:sp>
      <p:sp>
        <p:nvSpPr>
          <p:cNvPr id="1328538258" name="chip"/>
          <p:cNvSpPr/>
          <p:nvPr/>
        </p:nvSpPr>
        <p:spPr bwMode="auto">
          <a:xfrm>
            <a:off x="5143500" y="2616200"/>
            <a:ext cx="1905000" cy="482600"/>
          </a:xfrm>
          <a:prstGeom prst="roundRect">
            <a:avLst>
              <a:gd name="adj" fmla="val 30000"/>
            </a:avLst>
          </a:prstGeom>
          <a:solidFill>
            <a:srgbClr val="EEF2FB"/>
          </a:solidFill>
          <a:ln>
            <a:noFill/>
          </a:ln>
        </p:spPr>
        <p:txBody>
          <a:bodyPr wrap="square" lIns="76200" tIns="76200" rIns="76200" bIns="76200" anchor="ctr">
            <a:normAutofit/>
          </a:bodyPr>
          <a:lstStyle/>
          <a:p>
            <a:pPr algn="ctr">
              <a:buNone/>
              <a:defRPr/>
            </a:pPr>
            <a:r>
              <a:rPr lang="fr-FR" sz="1400">
                <a:solidFill>
                  <a:srgbClr val="0B1F3A"/>
                </a:solidFill>
                <a:latin typeface="Segoe UI Semibold"/>
              </a:rPr>
              <a:t>Stable</a:t>
            </a:r>
            <a:endParaRPr/>
          </a:p>
        </p:txBody>
      </p:sp>
      <p:sp>
        <p:nvSpPr>
          <p:cNvPr id="85586277" name="chip"/>
          <p:cNvSpPr/>
          <p:nvPr/>
        </p:nvSpPr>
        <p:spPr bwMode="auto">
          <a:xfrm>
            <a:off x="7258050" y="2616200"/>
            <a:ext cx="1905000" cy="482600"/>
          </a:xfrm>
          <a:prstGeom prst="roundRect">
            <a:avLst>
              <a:gd name="adj" fmla="val 30000"/>
            </a:avLst>
          </a:prstGeom>
          <a:solidFill>
            <a:srgbClr val="EEF2FB"/>
          </a:solidFill>
          <a:ln>
            <a:noFill/>
          </a:ln>
        </p:spPr>
        <p:txBody>
          <a:bodyPr wrap="square" lIns="76200" tIns="76200" rIns="76200" bIns="76200" anchor="ctr">
            <a:normAutofit/>
          </a:bodyPr>
          <a:lstStyle/>
          <a:p>
            <a:pPr algn="ctr">
              <a:buNone/>
              <a:defRPr/>
            </a:pPr>
            <a:r>
              <a:rPr lang="fr-FR" sz="1400">
                <a:solidFill>
                  <a:srgbClr val="0B1F3A"/>
                </a:solidFill>
                <a:latin typeface="Segoe UI Semibold"/>
              </a:rPr>
              <a:t>Croissance</a:t>
            </a:r>
            <a:endParaRPr/>
          </a:p>
        </p:txBody>
      </p:sp>
      <p:sp>
        <p:nvSpPr>
          <p:cNvPr id="425600093" name="chip"/>
          <p:cNvSpPr/>
          <p:nvPr/>
        </p:nvSpPr>
        <p:spPr bwMode="auto">
          <a:xfrm>
            <a:off x="9372600" y="2616200"/>
            <a:ext cx="1905000" cy="482600"/>
          </a:xfrm>
          <a:prstGeom prst="roundRect">
            <a:avLst>
              <a:gd name="adj" fmla="val 30000"/>
            </a:avLst>
          </a:prstGeom>
          <a:solidFill>
            <a:srgbClr val="EEF2FB"/>
          </a:solidFill>
          <a:ln>
            <a:noFill/>
          </a:ln>
        </p:spPr>
        <p:txBody>
          <a:bodyPr wrap="square" lIns="76200" tIns="76200" rIns="76200" bIns="76200" anchor="ctr">
            <a:normAutofit/>
          </a:bodyPr>
          <a:lstStyle/>
          <a:p>
            <a:pPr algn="ctr">
              <a:buNone/>
              <a:defRPr/>
            </a:pPr>
            <a:r>
              <a:rPr lang="fr-FR" sz="1400">
                <a:solidFill>
                  <a:srgbClr val="0B1F3A"/>
                </a:solidFill>
                <a:latin typeface="Segoe UI Semibold"/>
              </a:rPr>
              <a:t>Boom</a:t>
            </a:r>
            <a:endParaRPr/>
          </a:p>
        </p:txBody>
      </p:sp>
      <p:sp>
        <p:nvSpPr>
          <p:cNvPr id="141984048" name="arr"/>
          <p:cNvSpPr txBox="1"/>
          <p:nvPr/>
        </p:nvSpPr>
        <p:spPr bwMode="auto">
          <a:xfrm>
            <a:off x="2819400" y="2616200"/>
            <a:ext cx="209550" cy="482600"/>
          </a:xfrm>
          <a:prstGeom prst="rect">
            <a:avLst/>
          </a:prstGeom>
          <a:noFill/>
          <a:ln>
            <a:noFill/>
          </a:ln>
        </p:spPr>
        <p:txBody>
          <a:bodyPr wrap="square" lIns="0" tIns="0" rIns="0" bIns="0" anchor="ctr">
            <a:normAutofit/>
          </a:bodyPr>
          <a:lstStyle/>
          <a:p>
            <a:pPr algn="ctr">
              <a:buNone/>
              <a:defRPr/>
            </a:pPr>
            <a:r>
              <a:rPr lang="fr-FR" sz="1400">
                <a:solidFill>
                  <a:srgbClr val="64748B"/>
                </a:solidFill>
              </a:rPr>
              <a:t>→</a:t>
            </a:r>
            <a:endParaRPr/>
          </a:p>
        </p:txBody>
      </p:sp>
      <p:sp>
        <p:nvSpPr>
          <p:cNvPr id="96721821" name="arr"/>
          <p:cNvSpPr txBox="1"/>
          <p:nvPr/>
        </p:nvSpPr>
        <p:spPr bwMode="auto">
          <a:xfrm>
            <a:off x="4933950" y="2616200"/>
            <a:ext cx="209550" cy="482600"/>
          </a:xfrm>
          <a:prstGeom prst="rect">
            <a:avLst/>
          </a:prstGeom>
          <a:noFill/>
          <a:ln>
            <a:noFill/>
          </a:ln>
        </p:spPr>
        <p:txBody>
          <a:bodyPr wrap="square" lIns="0" tIns="0" rIns="0" bIns="0" anchor="ctr">
            <a:normAutofit/>
          </a:bodyPr>
          <a:lstStyle/>
          <a:p>
            <a:pPr algn="ctr">
              <a:buNone/>
              <a:defRPr/>
            </a:pPr>
            <a:r>
              <a:rPr lang="fr-FR" sz="1400">
                <a:solidFill>
                  <a:srgbClr val="64748B"/>
                </a:solidFill>
              </a:rPr>
              <a:t>→</a:t>
            </a:r>
            <a:endParaRPr/>
          </a:p>
        </p:txBody>
      </p:sp>
      <p:sp>
        <p:nvSpPr>
          <p:cNvPr id="1804104103" name="arr"/>
          <p:cNvSpPr txBox="1"/>
          <p:nvPr/>
        </p:nvSpPr>
        <p:spPr bwMode="auto">
          <a:xfrm>
            <a:off x="7048500" y="2616200"/>
            <a:ext cx="209550" cy="482600"/>
          </a:xfrm>
          <a:prstGeom prst="rect">
            <a:avLst/>
          </a:prstGeom>
          <a:noFill/>
          <a:ln>
            <a:noFill/>
          </a:ln>
        </p:spPr>
        <p:txBody>
          <a:bodyPr wrap="square" lIns="0" tIns="0" rIns="0" bIns="0" anchor="ctr">
            <a:normAutofit/>
          </a:bodyPr>
          <a:lstStyle/>
          <a:p>
            <a:pPr algn="ctr">
              <a:buNone/>
              <a:defRPr/>
            </a:pPr>
            <a:r>
              <a:rPr lang="fr-FR" sz="1400">
                <a:solidFill>
                  <a:srgbClr val="64748B"/>
                </a:solidFill>
              </a:rPr>
              <a:t>→</a:t>
            </a:r>
            <a:endParaRPr/>
          </a:p>
        </p:txBody>
      </p:sp>
      <p:sp>
        <p:nvSpPr>
          <p:cNvPr id="665266641" name="arr"/>
          <p:cNvSpPr txBox="1"/>
          <p:nvPr/>
        </p:nvSpPr>
        <p:spPr bwMode="auto">
          <a:xfrm>
            <a:off x="9163050" y="2616200"/>
            <a:ext cx="209550" cy="482600"/>
          </a:xfrm>
          <a:prstGeom prst="rect">
            <a:avLst/>
          </a:prstGeom>
          <a:noFill/>
          <a:ln>
            <a:noFill/>
          </a:ln>
        </p:spPr>
        <p:txBody>
          <a:bodyPr wrap="square" lIns="0" tIns="0" rIns="0" bIns="0" anchor="ctr">
            <a:normAutofit/>
          </a:bodyPr>
          <a:lstStyle/>
          <a:p>
            <a:pPr algn="ctr">
              <a:buNone/>
              <a:defRPr/>
            </a:pPr>
            <a:r>
              <a:rPr lang="fr-FR" sz="1400">
                <a:solidFill>
                  <a:srgbClr val="64748B"/>
                </a:solidFill>
              </a:rPr>
              <a:t>→</a:t>
            </a:r>
            <a:endParaRPr/>
          </a:p>
        </p:txBody>
      </p:sp>
      <p:sp>
        <p:nvSpPr>
          <p:cNvPr id="1859429617" name="Card0"/>
          <p:cNvSpPr/>
          <p:nvPr/>
        </p:nvSpPr>
        <p:spPr bwMode="auto">
          <a:xfrm>
            <a:off x="914400" y="3810000"/>
            <a:ext cx="3225800" cy="1778000"/>
          </a:xfrm>
          <a:prstGeom prst="roundRect">
            <a:avLst>
              <a:gd name="adj" fmla="val 8000"/>
            </a:avLst>
          </a:prstGeom>
          <a:solidFill>
            <a:srgbClr val="FFFFFF"/>
          </a:solidFill>
          <a:ln w="9525">
            <a:solidFill>
              <a:srgbClr val="E2E8F0"/>
            </a:solidFill>
          </a:ln>
        </p:spPr>
        <p:txBody>
          <a:bodyPr wrap="square" lIns="203200" tIns="203200" rIns="203200" bIns="203200" anchor="ctr">
            <a:normAutofit/>
          </a:bodyPr>
          <a:lstStyle/>
          <a:p>
            <a:pPr algn="ctr">
              <a:buNone/>
              <a:defRPr/>
            </a:pPr>
            <a:r>
              <a:rPr lang="fr-FR" sz="3000" b="1">
                <a:solidFill>
                  <a:srgbClr val="2563EB"/>
                </a:solidFill>
                <a:latin typeface="Segoe UI Semibold"/>
              </a:rPr>
              <a:t>5 classes</a:t>
            </a:r>
            <a:endParaRPr/>
          </a:p>
          <a:p>
            <a:pPr algn="ctr">
              <a:spcBef>
                <a:spcPts val="400"/>
              </a:spcBef>
              <a:buNone/>
              <a:defRPr/>
            </a:pPr>
            <a:r>
              <a:rPr lang="fr-FR" sz="1500">
                <a:solidFill>
                  <a:srgbClr val="64748B"/>
                </a:solidFill>
              </a:rPr>
              <a:t>Classification multiclasse</a:t>
            </a:r>
            <a:endParaRPr/>
          </a:p>
        </p:txBody>
      </p:sp>
      <p:sp>
        <p:nvSpPr>
          <p:cNvPr id="803491252" name="Card1"/>
          <p:cNvSpPr/>
          <p:nvPr/>
        </p:nvSpPr>
        <p:spPr bwMode="auto">
          <a:xfrm>
            <a:off x="4483100" y="3810000"/>
            <a:ext cx="3225800" cy="1778000"/>
          </a:xfrm>
          <a:prstGeom prst="roundRect">
            <a:avLst>
              <a:gd name="adj" fmla="val 8000"/>
            </a:avLst>
          </a:prstGeom>
          <a:solidFill>
            <a:srgbClr val="FFFFFF"/>
          </a:solidFill>
          <a:ln w="9525">
            <a:solidFill>
              <a:srgbClr val="E2E8F0"/>
            </a:solidFill>
          </a:ln>
        </p:spPr>
        <p:txBody>
          <a:bodyPr wrap="square" lIns="203200" tIns="203200" rIns="203200" bIns="203200" anchor="ctr">
            <a:normAutofit/>
          </a:bodyPr>
          <a:lstStyle/>
          <a:p>
            <a:pPr algn="ctr">
              <a:buNone/>
              <a:defRPr/>
            </a:pPr>
            <a:r>
              <a:rPr lang="fr-FR" sz="3000" b="1">
                <a:solidFill>
                  <a:srgbClr val="2563EB"/>
                </a:solidFill>
                <a:latin typeface="Segoe UI Semibold"/>
              </a:rPr>
              <a:t>80 / 20</a:t>
            </a:r>
            <a:endParaRPr/>
          </a:p>
          <a:p>
            <a:pPr algn="ctr">
              <a:spcBef>
                <a:spcPts val="400"/>
              </a:spcBef>
              <a:buNone/>
              <a:defRPr/>
            </a:pPr>
            <a:r>
              <a:rPr lang="fr-FR" sz="1500">
                <a:solidFill>
                  <a:srgbClr val="64748B"/>
                </a:solidFill>
              </a:rPr>
              <a:t>Split stratifié train / test</a:t>
            </a:r>
            <a:endParaRPr/>
          </a:p>
        </p:txBody>
      </p:sp>
      <p:sp>
        <p:nvSpPr>
          <p:cNvPr id="579626201" name="Card2"/>
          <p:cNvSpPr/>
          <p:nvPr/>
        </p:nvSpPr>
        <p:spPr bwMode="auto">
          <a:xfrm>
            <a:off x="8051799" y="3810000"/>
            <a:ext cx="3225800" cy="1778000"/>
          </a:xfrm>
          <a:prstGeom prst="roundRect">
            <a:avLst>
              <a:gd name="adj" fmla="val 8000"/>
            </a:avLst>
          </a:prstGeom>
          <a:solidFill>
            <a:srgbClr val="FFFFFF"/>
          </a:solidFill>
          <a:ln w="9525">
            <a:solidFill>
              <a:srgbClr val="E2E8F0"/>
            </a:solidFill>
          </a:ln>
        </p:spPr>
        <p:txBody>
          <a:bodyPr wrap="square" lIns="203200" tIns="203200" rIns="203200" bIns="203200" anchor="ctr">
            <a:normAutofit/>
          </a:bodyPr>
          <a:lstStyle/>
          <a:p>
            <a:pPr algn="ctr">
              <a:buNone/>
              <a:defRPr/>
            </a:pPr>
            <a:r>
              <a:rPr lang="fr-FR" sz="3000" b="1">
                <a:solidFill>
                  <a:srgbClr val="2563EB"/>
                </a:solidFill>
                <a:latin typeface="Segoe UI Semibold"/>
              </a:rPr>
              <a:t>5-fold</a:t>
            </a:r>
            <a:endParaRPr/>
          </a:p>
          <a:p>
            <a:pPr algn="ctr">
              <a:spcBef>
                <a:spcPts val="400"/>
              </a:spcBef>
              <a:buNone/>
              <a:defRPr/>
            </a:pPr>
            <a:r>
              <a:rPr lang="fr-FR" sz="1500">
                <a:solidFill>
                  <a:srgbClr val="64748B"/>
                </a:solidFill>
              </a:rPr>
              <a:t>Validation croisée</a:t>
            </a:r>
            <a:endParaRPr/>
          </a:p>
        </p:txBody>
      </p:sp>
      <p:sp>
        <p:nvSpPr>
          <p:cNvPr id="662853322" name="Page"/>
          <p:cNvSpPr txBox="1"/>
          <p:nvPr/>
        </p:nvSpPr>
        <p:spPr bwMode="auto">
          <a:xfrm>
            <a:off x="10515600" y="6451600"/>
            <a:ext cx="914400" cy="254000"/>
          </a:xfrm>
          <a:prstGeom prst="rect">
            <a:avLst/>
          </a:prstGeom>
          <a:noFill/>
          <a:ln>
            <a:noFill/>
          </a:ln>
        </p:spPr>
        <p:txBody>
          <a:bodyPr wrap="square" lIns="0" tIns="0" rIns="0" bIns="0" anchor="t">
            <a:normAutofit/>
          </a:bodyPr>
          <a:lstStyle/>
          <a:p>
            <a:pPr algn="r">
              <a:buNone/>
              <a:defRPr/>
            </a:pPr>
            <a:r>
              <a:rPr lang="fr-FR" sz="1400">
                <a:solidFill>
                  <a:srgbClr val="64748B"/>
                </a:solidFill>
              </a:rPr>
              <a:t>20</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med" p14:dur="500" advClick="1">
        <p:fade thruBlk="0"/>
      </p:transition>
    </mc:Choice>
    <mc:Fallback>
      <p:transition spd="med" advClick="1">
        <p:fade thruBlk="0"/>
      </p:transition>
    </mc:Fallback>
  </mc:AlternateContent>
  <p:timing>
    <p:tnLst>
      <p:par>
        <p:cTn id="1" dur="indefinite" restart="never" nodeType="tmRoot">
          <p:childTnLst>
            <p:par>
              <p:cTn id="2" fill="hold">
                <p:stCondLst>
                  <p:cond delay="0"/>
                </p:stCondLst>
                <p:childTnLst>
                  <p:par>
                    <p:cTn id="3" presetID="10" presetClass="entr" presetSubtype="0" fill="hold" grpId="0" nodeType="afterEffect">
                      <p:stCondLst>
                        <p:cond delay="500"/>
                      </p:stCondLst>
                      <p:childTnLst>
                        <p:set>
                          <p:cBhvr>
                            <p:cTn id="4" dur="1" fill="hold">
                              <p:stCondLst>
                                <p:cond delay="0"/>
                              </p:stCondLst>
                            </p:cTn>
                            <p:tgtEl>
                              <p:spTgt spid="1162551192"/>
                            </p:tgtEl>
                            <p:attrNameLst>
                              <p:attrName>style.visibility</p:attrName>
                            </p:attrNameLst>
                          </p:cBhvr>
                          <p:to>
                            <p:strVal val="visible"/>
                          </p:to>
                        </p:set>
                        <p:animEffect transition="in" filter="fade">
                          <p:cBhvr>
                            <p:cTn id="5" dur="400"/>
                            <p:tgtEl>
                              <p:spTgt spid="1162551192"/>
                            </p:tgtEl>
                          </p:cBhvr>
                        </p:animEffect>
                        <p:anim calcmode="lin" valueType="num">
                          <p:cBhvr additive="base">
                            <p:cTn id="6" dur="400" fill="hold"/>
                            <p:tgtEl>
                              <p:spTgt spid="1162551192"/>
                            </p:tgtEl>
                            <p:attrNameLst>
                              <p:attrName>ppt_y</p:attrName>
                            </p:attrNameLst>
                          </p:cBhvr>
                          <p:tavLst>
                            <p:tav tm="0">
                              <p:val>
                                <p:fltVal val="0.045999999999999999"/>
                              </p:val>
                            </p:tav>
                            <p:tav tm="100000">
                              <p:val>
                                <p:fltVal val="0"/>
                              </p:val>
                            </p:tav>
                          </p:tavLst>
                        </p:anim>
                      </p:childTnLst>
                    </p:cTn>
                  </p:par>
                  <p:par>
                    <p:cTn id="7" presetID="10" presetClass="entr" presetSubtype="0" fill="hold" grpId="0" nodeType="afterEffect">
                      <p:stCondLst>
                        <p:cond delay="120"/>
                      </p:stCondLst>
                      <p:childTnLst>
                        <p:set>
                          <p:cBhvr>
                            <p:cTn id="8" dur="1" fill="hold">
                              <p:stCondLst>
                                <p:cond delay="0"/>
                              </p:stCondLst>
                            </p:cTn>
                            <p:tgtEl>
                              <p:spTgt spid="1228391788"/>
                            </p:tgtEl>
                            <p:attrNameLst>
                              <p:attrName>style.visibility</p:attrName>
                            </p:attrNameLst>
                          </p:cBhvr>
                          <p:to>
                            <p:strVal val="visible"/>
                          </p:to>
                        </p:set>
                        <p:animEffect transition="in" filter="fade">
                          <p:cBhvr>
                            <p:cTn id="9" dur="400"/>
                            <p:tgtEl>
                              <p:spTgt spid="1228391788"/>
                            </p:tgtEl>
                          </p:cBhvr>
                        </p:animEffect>
                        <p:anim calcmode="lin" valueType="num">
                          <p:cBhvr additive="base">
                            <p:cTn id="10" dur="400" fill="hold"/>
                            <p:tgtEl>
                              <p:spTgt spid="1228391788"/>
                            </p:tgtEl>
                            <p:attrNameLst>
                              <p:attrName>ppt_y</p:attrName>
                            </p:attrNameLst>
                          </p:cBhvr>
                          <p:tavLst>
                            <p:tav tm="0">
                              <p:val>
                                <p:fltVal val="0.045999999999999999"/>
                              </p:val>
                            </p:tav>
                            <p:tav tm="100000">
                              <p:val>
                                <p:fltVal val="0"/>
                              </p:val>
                            </p:tav>
                          </p:tavLst>
                        </p:anim>
                      </p:childTnLst>
                    </p:cTn>
                  </p:par>
                  <p:par>
                    <p:cTn id="11" presetID="10" presetClass="entr" presetSubtype="0" fill="hold" grpId="0" nodeType="afterEffect">
                      <p:stCondLst>
                        <p:cond delay="120"/>
                      </p:stCondLst>
                      <p:childTnLst>
                        <p:set>
                          <p:cBhvr>
                            <p:cTn id="12" dur="1" fill="hold">
                              <p:stCondLst>
                                <p:cond delay="0"/>
                              </p:stCondLst>
                            </p:cTn>
                            <p:tgtEl>
                              <p:spTgt spid="1393342997"/>
                            </p:tgtEl>
                            <p:attrNameLst>
                              <p:attrName>style.visibility</p:attrName>
                            </p:attrNameLst>
                          </p:cBhvr>
                          <p:to>
                            <p:strVal val="visible"/>
                          </p:to>
                        </p:set>
                        <p:animEffect transition="in" filter="fade">
                          <p:cBhvr>
                            <p:cTn id="13" dur="400"/>
                            <p:tgtEl>
                              <p:spTgt spid="1393342997"/>
                            </p:tgtEl>
                          </p:cBhvr>
                        </p:animEffect>
                        <p:anim calcmode="lin" valueType="num">
                          <p:cBhvr additive="base">
                            <p:cTn id="14" dur="400" fill="hold"/>
                            <p:tgtEl>
                              <p:spTgt spid="1393342997"/>
                            </p:tgtEl>
                            <p:attrNameLst>
                              <p:attrName>ppt_y</p:attrName>
                            </p:attrNameLst>
                          </p:cBhvr>
                          <p:tavLst>
                            <p:tav tm="0">
                              <p:val>
                                <p:fltVal val="0.045999999999999999"/>
                              </p:val>
                            </p:tav>
                            <p:tav tm="100000">
                              <p:val>
                                <p:fltVal val="0"/>
                              </p:val>
                            </p:tav>
                          </p:tavLst>
                        </p:anim>
                      </p:childTnLst>
                    </p:cTn>
                  </p:par>
                  <p:par>
                    <p:cTn id="15" presetID="10" presetClass="entr" presetSubtype="0" fill="hold" grpId="0" nodeType="afterEffect">
                      <p:stCondLst>
                        <p:cond delay="120"/>
                      </p:stCondLst>
                      <p:childTnLst>
                        <p:set>
                          <p:cBhvr>
                            <p:cTn id="16" dur="1" fill="hold">
                              <p:stCondLst>
                                <p:cond delay="0"/>
                              </p:stCondLst>
                            </p:cTn>
                            <p:tgtEl>
                              <p:spTgt spid="2141926879"/>
                            </p:tgtEl>
                            <p:attrNameLst>
                              <p:attrName>style.visibility</p:attrName>
                            </p:attrNameLst>
                          </p:cBhvr>
                          <p:to>
                            <p:strVal val="visible"/>
                          </p:to>
                        </p:set>
                        <p:animEffect transition="in" filter="fade">
                          <p:cBhvr>
                            <p:cTn id="17" dur="400"/>
                            <p:tgtEl>
                              <p:spTgt spid="2141926879"/>
                            </p:tgtEl>
                          </p:cBhvr>
                        </p:animEffect>
                        <p:anim calcmode="lin" valueType="num">
                          <p:cBhvr additive="base">
                            <p:cTn id="18" dur="400" fill="hold"/>
                            <p:tgtEl>
                              <p:spTgt spid="2141926879"/>
                            </p:tgtEl>
                            <p:attrNameLst>
                              <p:attrName>ppt_y</p:attrName>
                            </p:attrNameLst>
                          </p:cBhvr>
                          <p:tavLst>
                            <p:tav tm="0">
                              <p:val>
                                <p:fltVal val="0.045999999999999999"/>
                              </p:val>
                            </p:tav>
                            <p:tav tm="100000">
                              <p:val>
                                <p:fltVal val="0"/>
                              </p:val>
                            </p:tav>
                          </p:tavLst>
                        </p:anim>
                      </p:childTnLst>
                    </p:cTn>
                  </p:par>
                  <p:par>
                    <p:cTn id="19" presetID="10" presetClass="entr" presetSubtype="0" fill="hold" grpId="0" nodeType="afterEffect">
                      <p:stCondLst>
                        <p:cond delay="120"/>
                      </p:stCondLst>
                      <p:childTnLst>
                        <p:set>
                          <p:cBhvr>
                            <p:cTn id="20" dur="1" fill="hold">
                              <p:stCondLst>
                                <p:cond delay="0"/>
                              </p:stCondLst>
                            </p:cTn>
                            <p:tgtEl>
                              <p:spTgt spid="1181398494"/>
                            </p:tgtEl>
                            <p:attrNameLst>
                              <p:attrName>style.visibility</p:attrName>
                            </p:attrNameLst>
                          </p:cBhvr>
                          <p:to>
                            <p:strVal val="visible"/>
                          </p:to>
                        </p:set>
                        <p:animEffect transition="in" filter="fade">
                          <p:cBhvr>
                            <p:cTn id="21" dur="400"/>
                            <p:tgtEl>
                              <p:spTgt spid="1181398494"/>
                            </p:tgtEl>
                          </p:cBhvr>
                        </p:animEffect>
                        <p:anim calcmode="lin" valueType="num">
                          <p:cBhvr additive="base">
                            <p:cTn id="22" dur="400" fill="hold"/>
                            <p:tgtEl>
                              <p:spTgt spid="1181398494"/>
                            </p:tgtEl>
                            <p:attrNameLst>
                              <p:attrName>ppt_y</p:attrName>
                            </p:attrNameLst>
                          </p:cBhvr>
                          <p:tavLst>
                            <p:tav tm="0">
                              <p:val>
                                <p:fltVal val="0.045999999999999999"/>
                              </p:val>
                            </p:tav>
                            <p:tav tm="100000">
                              <p:val>
                                <p:fltVal val="0"/>
                              </p:val>
                            </p:tav>
                          </p:tavLst>
                        </p:anim>
                      </p:childTnLst>
                    </p:cTn>
                  </p:par>
                  <p:par>
                    <p:cTn id="23" presetID="10" presetClass="entr" presetSubtype="0" fill="hold" grpId="0" nodeType="afterEffect">
                      <p:stCondLst>
                        <p:cond delay="120"/>
                      </p:stCondLst>
                      <p:childTnLst>
                        <p:set>
                          <p:cBhvr>
                            <p:cTn id="24" dur="1" fill="hold">
                              <p:stCondLst>
                                <p:cond delay="0"/>
                              </p:stCondLst>
                            </p:cTn>
                            <p:tgtEl>
                              <p:spTgt spid="1956659902"/>
                            </p:tgtEl>
                            <p:attrNameLst>
                              <p:attrName>style.visibility</p:attrName>
                            </p:attrNameLst>
                          </p:cBhvr>
                          <p:to>
                            <p:strVal val="visible"/>
                          </p:to>
                        </p:set>
                        <p:animEffect transition="in" filter="fade">
                          <p:cBhvr>
                            <p:cTn id="25" dur="400"/>
                            <p:tgtEl>
                              <p:spTgt spid="1956659902"/>
                            </p:tgtEl>
                          </p:cBhvr>
                        </p:animEffect>
                        <p:anim calcmode="lin" valueType="num">
                          <p:cBhvr additive="base">
                            <p:cTn id="26" dur="400" fill="hold"/>
                            <p:tgtEl>
                              <p:spTgt spid="1956659902"/>
                            </p:tgtEl>
                            <p:attrNameLst>
                              <p:attrName>ppt_y</p:attrName>
                            </p:attrNameLst>
                          </p:cBhvr>
                          <p:tavLst>
                            <p:tav tm="0">
                              <p:val>
                                <p:fltVal val="0.045999999999999999"/>
                              </p:val>
                            </p:tav>
                            <p:tav tm="100000">
                              <p:val>
                                <p:fltVal val="0"/>
                              </p:val>
                            </p:tav>
                          </p:tavLst>
                        </p:anim>
                      </p:childTnLst>
                    </p:cTn>
                  </p:par>
                  <p:par>
                    <p:cTn id="27" presetID="10" presetClass="entr" presetSubtype="0" fill="hold" grpId="0" nodeType="afterEffect">
                      <p:stCondLst>
                        <p:cond delay="120"/>
                      </p:stCondLst>
                      <p:childTnLst>
                        <p:set>
                          <p:cBhvr>
                            <p:cTn id="28" dur="1" fill="hold">
                              <p:stCondLst>
                                <p:cond delay="0"/>
                              </p:stCondLst>
                            </p:cTn>
                            <p:tgtEl>
                              <p:spTgt spid="1328538258"/>
                            </p:tgtEl>
                            <p:attrNameLst>
                              <p:attrName>style.visibility</p:attrName>
                            </p:attrNameLst>
                          </p:cBhvr>
                          <p:to>
                            <p:strVal val="visible"/>
                          </p:to>
                        </p:set>
                        <p:animEffect transition="in" filter="fade">
                          <p:cBhvr>
                            <p:cTn id="29" dur="400"/>
                            <p:tgtEl>
                              <p:spTgt spid="1328538258"/>
                            </p:tgtEl>
                          </p:cBhvr>
                        </p:animEffect>
                        <p:anim calcmode="lin" valueType="num">
                          <p:cBhvr additive="base">
                            <p:cTn id="30" dur="400" fill="hold"/>
                            <p:tgtEl>
                              <p:spTgt spid="1328538258"/>
                            </p:tgtEl>
                            <p:attrNameLst>
                              <p:attrName>ppt_y</p:attrName>
                            </p:attrNameLst>
                          </p:cBhvr>
                          <p:tavLst>
                            <p:tav tm="0">
                              <p:val>
                                <p:fltVal val="0.045999999999999999"/>
                              </p:val>
                            </p:tav>
                            <p:tav tm="100000">
                              <p:val>
                                <p:fltVal val="0"/>
                              </p:val>
                            </p:tav>
                          </p:tavLst>
                        </p:anim>
                      </p:childTnLst>
                    </p:cTn>
                  </p:par>
                  <p:par>
                    <p:cTn id="31" presetID="10" presetClass="entr" presetSubtype="0" fill="hold" grpId="0" nodeType="afterEffect">
                      <p:stCondLst>
                        <p:cond delay="120"/>
                      </p:stCondLst>
                      <p:childTnLst>
                        <p:set>
                          <p:cBhvr>
                            <p:cTn id="32" dur="1" fill="hold">
                              <p:stCondLst>
                                <p:cond delay="0"/>
                              </p:stCondLst>
                            </p:cTn>
                            <p:tgtEl>
                              <p:spTgt spid="85586277"/>
                            </p:tgtEl>
                            <p:attrNameLst>
                              <p:attrName>style.visibility</p:attrName>
                            </p:attrNameLst>
                          </p:cBhvr>
                          <p:to>
                            <p:strVal val="visible"/>
                          </p:to>
                        </p:set>
                        <p:animEffect transition="in" filter="fade">
                          <p:cBhvr>
                            <p:cTn id="33" dur="400"/>
                            <p:tgtEl>
                              <p:spTgt spid="85586277"/>
                            </p:tgtEl>
                          </p:cBhvr>
                        </p:animEffect>
                        <p:anim calcmode="lin" valueType="num">
                          <p:cBhvr additive="base">
                            <p:cTn id="34" dur="400" fill="hold"/>
                            <p:tgtEl>
                              <p:spTgt spid="85586277"/>
                            </p:tgtEl>
                            <p:attrNameLst>
                              <p:attrName>ppt_y</p:attrName>
                            </p:attrNameLst>
                          </p:cBhvr>
                          <p:tavLst>
                            <p:tav tm="0">
                              <p:val>
                                <p:fltVal val="0.045999999999999999"/>
                              </p:val>
                            </p:tav>
                            <p:tav tm="100000">
                              <p:val>
                                <p:fltVal val="0"/>
                              </p:val>
                            </p:tav>
                          </p:tavLst>
                        </p:anim>
                      </p:childTnLst>
                    </p:cTn>
                  </p:par>
                  <p:par>
                    <p:cTn id="35" presetID="10" presetClass="entr" presetSubtype="0" fill="hold" grpId="0" nodeType="afterEffect">
                      <p:stCondLst>
                        <p:cond delay="120"/>
                      </p:stCondLst>
                      <p:childTnLst>
                        <p:set>
                          <p:cBhvr>
                            <p:cTn id="36" dur="1" fill="hold">
                              <p:stCondLst>
                                <p:cond delay="0"/>
                              </p:stCondLst>
                            </p:cTn>
                            <p:tgtEl>
                              <p:spTgt spid="425600093"/>
                            </p:tgtEl>
                            <p:attrNameLst>
                              <p:attrName>style.visibility</p:attrName>
                            </p:attrNameLst>
                          </p:cBhvr>
                          <p:to>
                            <p:strVal val="visible"/>
                          </p:to>
                        </p:set>
                        <p:animEffect transition="in" filter="fade">
                          <p:cBhvr>
                            <p:cTn id="37" dur="400"/>
                            <p:tgtEl>
                              <p:spTgt spid="425600093"/>
                            </p:tgtEl>
                          </p:cBhvr>
                        </p:animEffect>
                        <p:anim calcmode="lin" valueType="num">
                          <p:cBhvr additive="base">
                            <p:cTn id="38" dur="400" fill="hold"/>
                            <p:tgtEl>
                              <p:spTgt spid="425600093"/>
                            </p:tgtEl>
                            <p:attrNameLst>
                              <p:attrName>ppt_y</p:attrName>
                            </p:attrNameLst>
                          </p:cBhvr>
                          <p:tavLst>
                            <p:tav tm="0">
                              <p:val>
                                <p:fltVal val="0.045999999999999999"/>
                              </p:val>
                            </p:tav>
                            <p:tav tm="100000">
                              <p:val>
                                <p:fltVal val="0"/>
                              </p:val>
                            </p:tav>
                          </p:tavLst>
                        </p:anim>
                      </p:childTnLst>
                    </p:cTn>
                  </p:par>
                  <p:par>
                    <p:cTn id="39" presetID="10" presetClass="entr" presetSubtype="0" fill="hold" grpId="0" nodeType="afterEffect">
                      <p:stCondLst>
                        <p:cond delay="120"/>
                      </p:stCondLst>
                      <p:childTnLst>
                        <p:set>
                          <p:cBhvr>
                            <p:cTn id="40" dur="1" fill="hold">
                              <p:stCondLst>
                                <p:cond delay="0"/>
                              </p:stCondLst>
                            </p:cTn>
                            <p:tgtEl>
                              <p:spTgt spid="141984048"/>
                            </p:tgtEl>
                            <p:attrNameLst>
                              <p:attrName>style.visibility</p:attrName>
                            </p:attrNameLst>
                          </p:cBhvr>
                          <p:to>
                            <p:strVal val="visible"/>
                          </p:to>
                        </p:set>
                        <p:animEffect transition="in" filter="fade">
                          <p:cBhvr>
                            <p:cTn id="41" dur="400"/>
                            <p:tgtEl>
                              <p:spTgt spid="141984048"/>
                            </p:tgtEl>
                          </p:cBhvr>
                        </p:animEffect>
                        <p:anim calcmode="lin" valueType="num">
                          <p:cBhvr additive="base">
                            <p:cTn id="42" dur="400" fill="hold"/>
                            <p:tgtEl>
                              <p:spTgt spid="141984048"/>
                            </p:tgtEl>
                            <p:attrNameLst>
                              <p:attrName>ppt_y</p:attrName>
                            </p:attrNameLst>
                          </p:cBhvr>
                          <p:tavLst>
                            <p:tav tm="0">
                              <p:val>
                                <p:fltVal val="0.045999999999999999"/>
                              </p:val>
                            </p:tav>
                            <p:tav tm="100000">
                              <p:val>
                                <p:fltVal val="0"/>
                              </p:val>
                            </p:tav>
                          </p:tavLst>
                        </p:anim>
                      </p:childTnLst>
                    </p:cTn>
                  </p:par>
                  <p:par>
                    <p:cTn id="43" presetID="10" presetClass="entr" presetSubtype="0" fill="hold" grpId="0" nodeType="afterEffect">
                      <p:stCondLst>
                        <p:cond delay="120"/>
                      </p:stCondLst>
                      <p:childTnLst>
                        <p:set>
                          <p:cBhvr>
                            <p:cTn id="44" dur="1" fill="hold">
                              <p:stCondLst>
                                <p:cond delay="0"/>
                              </p:stCondLst>
                            </p:cTn>
                            <p:tgtEl>
                              <p:spTgt spid="96721821"/>
                            </p:tgtEl>
                            <p:attrNameLst>
                              <p:attrName>style.visibility</p:attrName>
                            </p:attrNameLst>
                          </p:cBhvr>
                          <p:to>
                            <p:strVal val="visible"/>
                          </p:to>
                        </p:set>
                        <p:animEffect transition="in" filter="fade">
                          <p:cBhvr>
                            <p:cTn id="45" dur="400"/>
                            <p:tgtEl>
                              <p:spTgt spid="96721821"/>
                            </p:tgtEl>
                          </p:cBhvr>
                        </p:animEffect>
                        <p:anim calcmode="lin" valueType="num">
                          <p:cBhvr additive="base">
                            <p:cTn id="46" dur="400" fill="hold"/>
                            <p:tgtEl>
                              <p:spTgt spid="96721821"/>
                            </p:tgtEl>
                            <p:attrNameLst>
                              <p:attrName>ppt_y</p:attrName>
                            </p:attrNameLst>
                          </p:cBhvr>
                          <p:tavLst>
                            <p:tav tm="0">
                              <p:val>
                                <p:fltVal val="0.045999999999999999"/>
                              </p:val>
                            </p:tav>
                            <p:tav tm="100000">
                              <p:val>
                                <p:fltVal val="0"/>
                              </p:val>
                            </p:tav>
                          </p:tavLst>
                        </p:anim>
                      </p:childTnLst>
                    </p:cTn>
                  </p:par>
                  <p:par>
                    <p:cTn id="47" presetID="10" presetClass="entr" presetSubtype="0" fill="hold" grpId="0" nodeType="afterEffect">
                      <p:stCondLst>
                        <p:cond delay="120"/>
                      </p:stCondLst>
                      <p:childTnLst>
                        <p:set>
                          <p:cBhvr>
                            <p:cTn id="48" dur="1" fill="hold">
                              <p:stCondLst>
                                <p:cond delay="0"/>
                              </p:stCondLst>
                            </p:cTn>
                            <p:tgtEl>
                              <p:spTgt spid="1804104103"/>
                            </p:tgtEl>
                            <p:attrNameLst>
                              <p:attrName>style.visibility</p:attrName>
                            </p:attrNameLst>
                          </p:cBhvr>
                          <p:to>
                            <p:strVal val="visible"/>
                          </p:to>
                        </p:set>
                        <p:animEffect transition="in" filter="fade">
                          <p:cBhvr>
                            <p:cTn id="49" dur="400"/>
                            <p:tgtEl>
                              <p:spTgt spid="1804104103"/>
                            </p:tgtEl>
                          </p:cBhvr>
                        </p:animEffect>
                        <p:anim calcmode="lin" valueType="num">
                          <p:cBhvr additive="base">
                            <p:cTn id="50" dur="400" fill="hold"/>
                            <p:tgtEl>
                              <p:spTgt spid="1804104103"/>
                            </p:tgtEl>
                            <p:attrNameLst>
                              <p:attrName>ppt_y</p:attrName>
                            </p:attrNameLst>
                          </p:cBhvr>
                          <p:tavLst>
                            <p:tav tm="0">
                              <p:val>
                                <p:fltVal val="0.045999999999999999"/>
                              </p:val>
                            </p:tav>
                            <p:tav tm="100000">
                              <p:val>
                                <p:fltVal val="0"/>
                              </p:val>
                            </p:tav>
                          </p:tavLst>
                        </p:anim>
                      </p:childTnLst>
                    </p:cTn>
                  </p:par>
                  <p:par>
                    <p:cTn id="51" presetID="10" presetClass="entr" presetSubtype="0" fill="hold" grpId="0" nodeType="afterEffect">
                      <p:stCondLst>
                        <p:cond delay="120"/>
                      </p:stCondLst>
                      <p:childTnLst>
                        <p:set>
                          <p:cBhvr>
                            <p:cTn id="52" dur="1" fill="hold">
                              <p:stCondLst>
                                <p:cond delay="0"/>
                              </p:stCondLst>
                            </p:cTn>
                            <p:tgtEl>
                              <p:spTgt spid="665266641"/>
                            </p:tgtEl>
                            <p:attrNameLst>
                              <p:attrName>style.visibility</p:attrName>
                            </p:attrNameLst>
                          </p:cBhvr>
                          <p:to>
                            <p:strVal val="visible"/>
                          </p:to>
                        </p:set>
                        <p:animEffect transition="in" filter="fade">
                          <p:cBhvr>
                            <p:cTn id="53" dur="400"/>
                            <p:tgtEl>
                              <p:spTgt spid="665266641"/>
                            </p:tgtEl>
                          </p:cBhvr>
                        </p:animEffect>
                        <p:anim calcmode="lin" valueType="num">
                          <p:cBhvr additive="base">
                            <p:cTn id="54" dur="400" fill="hold"/>
                            <p:tgtEl>
                              <p:spTgt spid="665266641"/>
                            </p:tgtEl>
                            <p:attrNameLst>
                              <p:attrName>ppt_y</p:attrName>
                            </p:attrNameLst>
                          </p:cBhvr>
                          <p:tavLst>
                            <p:tav tm="0">
                              <p:val>
                                <p:fltVal val="0.045999999999999999"/>
                              </p:val>
                            </p:tav>
                            <p:tav tm="100000">
                              <p:val>
                                <p:fltVal val="0"/>
                              </p:val>
                            </p:tav>
                          </p:tavLst>
                        </p:anim>
                      </p:childTnLst>
                    </p:cTn>
                  </p:par>
                  <p:par>
                    <p:cTn id="55" presetID="10" presetClass="entr" presetSubtype="0" fill="hold" grpId="0" nodeType="afterEffect">
                      <p:stCondLst>
                        <p:cond delay="120"/>
                      </p:stCondLst>
                      <p:childTnLst>
                        <p:set>
                          <p:cBhvr>
                            <p:cTn id="56" dur="1" fill="hold">
                              <p:stCondLst>
                                <p:cond delay="0"/>
                              </p:stCondLst>
                            </p:cTn>
                            <p:tgtEl>
                              <p:spTgt spid="1859429617"/>
                            </p:tgtEl>
                            <p:attrNameLst>
                              <p:attrName>style.visibility</p:attrName>
                            </p:attrNameLst>
                          </p:cBhvr>
                          <p:to>
                            <p:strVal val="visible"/>
                          </p:to>
                        </p:set>
                        <p:animEffect transition="in" filter="fade">
                          <p:cBhvr>
                            <p:cTn id="57" dur="400"/>
                            <p:tgtEl>
                              <p:spTgt spid="1859429617"/>
                            </p:tgtEl>
                          </p:cBhvr>
                        </p:animEffect>
                        <p:anim calcmode="lin" valueType="num">
                          <p:cBhvr additive="base">
                            <p:cTn id="58" dur="400" fill="hold"/>
                            <p:tgtEl>
                              <p:spTgt spid="1859429617"/>
                            </p:tgtEl>
                            <p:attrNameLst>
                              <p:attrName>ppt_y</p:attrName>
                            </p:attrNameLst>
                          </p:cBhvr>
                          <p:tavLst>
                            <p:tav tm="0">
                              <p:val>
                                <p:fltVal val="0.045999999999999999"/>
                              </p:val>
                            </p:tav>
                            <p:tav tm="100000">
                              <p:val>
                                <p:fltVal val="0"/>
                              </p:val>
                            </p:tav>
                          </p:tavLst>
                        </p:anim>
                      </p:childTnLst>
                    </p:cTn>
                  </p:par>
                  <p:par>
                    <p:cTn id="59" presetID="10" presetClass="entr" presetSubtype="0" fill="hold" grpId="0" nodeType="afterEffect">
                      <p:stCondLst>
                        <p:cond delay="120"/>
                      </p:stCondLst>
                      <p:childTnLst>
                        <p:set>
                          <p:cBhvr>
                            <p:cTn id="60" dur="1" fill="hold">
                              <p:stCondLst>
                                <p:cond delay="0"/>
                              </p:stCondLst>
                            </p:cTn>
                            <p:tgtEl>
                              <p:spTgt spid="803491252"/>
                            </p:tgtEl>
                            <p:attrNameLst>
                              <p:attrName>style.visibility</p:attrName>
                            </p:attrNameLst>
                          </p:cBhvr>
                          <p:to>
                            <p:strVal val="visible"/>
                          </p:to>
                        </p:set>
                        <p:animEffect transition="in" filter="fade">
                          <p:cBhvr>
                            <p:cTn id="61" dur="400"/>
                            <p:tgtEl>
                              <p:spTgt spid="803491252"/>
                            </p:tgtEl>
                          </p:cBhvr>
                        </p:animEffect>
                        <p:anim calcmode="lin" valueType="num">
                          <p:cBhvr additive="base">
                            <p:cTn id="62" dur="400" fill="hold"/>
                            <p:tgtEl>
                              <p:spTgt spid="803491252"/>
                            </p:tgtEl>
                            <p:attrNameLst>
                              <p:attrName>ppt_y</p:attrName>
                            </p:attrNameLst>
                          </p:cBhvr>
                          <p:tavLst>
                            <p:tav tm="0">
                              <p:val>
                                <p:fltVal val="0.045999999999999999"/>
                              </p:val>
                            </p:tav>
                            <p:tav tm="100000">
                              <p:val>
                                <p:fltVal val="0"/>
                              </p:val>
                            </p:tav>
                          </p:tavLst>
                        </p:anim>
                      </p:childTnLst>
                    </p:cTn>
                  </p:par>
                  <p:par>
                    <p:cTn id="63" presetID="10" presetClass="entr" presetSubtype="0" fill="hold" grpId="0" nodeType="afterEffect">
                      <p:stCondLst>
                        <p:cond delay="120"/>
                      </p:stCondLst>
                      <p:childTnLst>
                        <p:set>
                          <p:cBhvr>
                            <p:cTn id="64" dur="1" fill="hold">
                              <p:stCondLst>
                                <p:cond delay="0"/>
                              </p:stCondLst>
                            </p:cTn>
                            <p:tgtEl>
                              <p:spTgt spid="579626201"/>
                            </p:tgtEl>
                            <p:attrNameLst>
                              <p:attrName>style.visibility</p:attrName>
                            </p:attrNameLst>
                          </p:cBhvr>
                          <p:to>
                            <p:strVal val="visible"/>
                          </p:to>
                        </p:set>
                        <p:animEffect transition="in" filter="fade">
                          <p:cBhvr>
                            <p:cTn id="65" dur="400"/>
                            <p:tgtEl>
                              <p:spTgt spid="579626201"/>
                            </p:tgtEl>
                          </p:cBhvr>
                        </p:animEffect>
                        <p:anim calcmode="lin" valueType="num">
                          <p:cBhvr additive="base">
                            <p:cTn id="66" dur="400" fill="hold"/>
                            <p:tgtEl>
                              <p:spTgt spid="579626201"/>
                            </p:tgtEl>
                            <p:attrNameLst>
                              <p:attrName>ppt_y</p:attrName>
                            </p:attrNameLst>
                          </p:cBhvr>
                          <p:tavLst>
                            <p:tav tm="0">
                              <p:val>
                                <p:fltVal val="0.045999999999999999"/>
                              </p:val>
                            </p:tav>
                            <p:tav tm="100000">
                              <p:val>
                                <p:fltVal val="0"/>
                              </p:val>
                            </p:tav>
                          </p:tavLst>
                        </p:anim>
                      </p:childTnLst>
                    </p:cTn>
                  </p:par>
                  <p:par>
                    <p:cTn id="67" presetID="10" presetClass="entr" presetSubtype="0" fill="hold" grpId="0" nodeType="afterEffect">
                      <p:stCondLst>
                        <p:cond delay="120"/>
                      </p:stCondLst>
                      <p:childTnLst>
                        <p:set>
                          <p:cBhvr>
                            <p:cTn id="68" dur="1" fill="hold">
                              <p:stCondLst>
                                <p:cond delay="0"/>
                              </p:stCondLst>
                            </p:cTn>
                            <p:tgtEl>
                              <p:spTgt spid="662853322"/>
                            </p:tgtEl>
                            <p:attrNameLst>
                              <p:attrName>style.visibility</p:attrName>
                            </p:attrNameLst>
                          </p:cBhvr>
                          <p:to>
                            <p:strVal val="visible"/>
                          </p:to>
                        </p:set>
                        <p:animEffect transition="in" filter="fade">
                          <p:cBhvr>
                            <p:cTn id="69" dur="400"/>
                            <p:tgtEl>
                              <p:spTgt spid="662853322"/>
                            </p:tgtEl>
                          </p:cBhvr>
                        </p:animEffect>
                        <p:anim calcmode="lin" valueType="num">
                          <p:cBhvr additive="base">
                            <p:cTn id="70" dur="400" fill="hold"/>
                            <p:tgtEl>
                              <p:spTgt spid="662853322"/>
                            </p:tgtEl>
                            <p:attrNameLst>
                              <p:attrName>ppt_y</p:attrName>
                            </p:attrNameLst>
                          </p:cBhvr>
                          <p:tavLst>
                            <p:tav tm="0">
                              <p:val>
                                <p:fltVal val="0.045999999999999999"/>
                              </p:val>
                            </p:tav>
                            <p:tav tm="100000">
                              <p:val>
                                <p:fltVal val="0"/>
                              </p:val>
                            </p:tav>
                          </p:tavLst>
                        </p:anim>
                      </p:childTnLst>
                    </p:cTn>
                  </p:par>
                </p:childTnLst>
              </p:cTn>
            </p:par>
          </p:childTnLst>
        </p:cTn>
      </p:par>
    </p:tnLst>
    <p:bldLst>
      <p:bldP spid="1162551192" grpId="0" animBg="1"/>
      <p:bldP spid="1228391788" grpId="0" animBg="1"/>
      <p:bldP spid="1393342997" grpId="0" animBg="1"/>
      <p:bldP spid="2141926879" grpId="0" animBg="1"/>
      <p:bldP spid="1181398494" grpId="0" animBg="1"/>
      <p:bldP spid="1956659902" grpId="0" animBg="1"/>
      <p:bldP spid="1328538258" grpId="0" animBg="1"/>
      <p:bldP spid="85586277" grpId="0" animBg="1"/>
      <p:bldP spid="425600093" grpId="0" animBg="1"/>
      <p:bldP spid="141984048" grpId="0" animBg="1"/>
      <p:bldP spid="96721821" grpId="0" animBg="1"/>
      <p:bldP spid="1804104103" grpId="0" animBg="1"/>
      <p:bldP spid="665266641" grpId="0" animBg="1"/>
      <p:bldP spid="1859429617" grpId="0" animBg="1"/>
      <p:bldP spid="803491252" grpId="0" animBg="1"/>
      <p:bldP spid="579626201" grpId="0" animBg="1"/>
      <p:bldP spid="662853322" grpId="0" animBg="1"/>
    </p:bldLst>
  </p:timing>
</p:sld>
</file>

<file path=ppt/slides/slide2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942856768" name="Eyebrow"/>
          <p:cNvSpPr txBox="1"/>
          <p:nvPr/>
        </p:nvSpPr>
        <p:spPr bwMode="auto">
          <a:xfrm>
            <a:off x="914400" y="584200"/>
            <a:ext cx="9144000" cy="254000"/>
          </a:xfrm>
          <a:prstGeom prst="rect">
            <a:avLst/>
          </a:prstGeom>
          <a:noFill/>
          <a:ln>
            <a:noFill/>
          </a:ln>
        </p:spPr>
        <p:txBody>
          <a:bodyPr wrap="square" lIns="0" tIns="0" rIns="0" bIns="0" anchor="t">
            <a:normAutofit/>
          </a:bodyPr>
          <a:lstStyle/>
          <a:p>
            <a:pPr>
              <a:buNone/>
              <a:defRPr/>
            </a:pPr>
            <a:r>
              <a:rPr lang="fr-FR" sz="1400" b="1" spc="240">
                <a:solidFill>
                  <a:srgbClr val="64748B"/>
                </a:solidFill>
              </a:rPr>
              <a:t>05 · MACHINE LEARNING</a:t>
            </a:r>
            <a:endParaRPr/>
          </a:p>
        </p:txBody>
      </p:sp>
      <p:sp>
        <p:nvSpPr>
          <p:cNvPr id="1392314077" name="Titre"/>
          <p:cNvSpPr txBox="1"/>
          <p:nvPr/>
        </p:nvSpPr>
        <p:spPr bwMode="auto">
          <a:xfrm>
            <a:off x="914400" y="863599"/>
            <a:ext cx="10363200" cy="508000"/>
          </a:xfrm>
          <a:prstGeom prst="rect">
            <a:avLst/>
          </a:prstGeom>
          <a:noFill/>
          <a:ln>
            <a:noFill/>
          </a:ln>
        </p:spPr>
        <p:txBody>
          <a:bodyPr wrap="square" lIns="0" tIns="0" rIns="0" bIns="0" anchor="t">
            <a:normAutofit/>
          </a:bodyPr>
          <a:lstStyle/>
          <a:p>
            <a:pPr>
              <a:buNone/>
              <a:defRPr/>
            </a:pPr>
            <a:r>
              <a:rPr lang="fr-FR" sz="3000">
                <a:solidFill>
                  <a:srgbClr val="0B1F3A"/>
                </a:solidFill>
                <a:latin typeface="Segoe UI Semibold"/>
              </a:rPr>
              <a:t>Comparaison des cinq modèles</a:t>
            </a:r>
            <a:endParaRPr/>
          </a:p>
        </p:txBody>
      </p:sp>
      <p:sp>
        <p:nvSpPr>
          <p:cNvPr id="1165676793" name="Filet"/>
          <p:cNvSpPr/>
          <p:nvPr/>
        </p:nvSpPr>
        <p:spPr bwMode="auto">
          <a:xfrm>
            <a:off x="914400" y="1473200"/>
            <a:ext cx="685800" cy="50800"/>
          </a:xfrm>
          <a:prstGeom prst="rect">
            <a:avLst/>
          </a:prstGeom>
          <a:solidFill>
            <a:srgbClr val="2563EB"/>
          </a:solidFill>
          <a:ln>
            <a:noFill/>
          </a:ln>
        </p:spPr>
        <p:txBody>
          <a:bodyPr wrap="square" lIns="0" tIns="0" rIns="0" bIns="0" anchor="t">
            <a:normAutofit/>
          </a:bodyPr>
          <a:lstStyle/>
          <a:p>
            <a:pPr>
              <a:defRPr/>
            </a:pPr>
            <a:endParaRPr/>
          </a:p>
        </p:txBody>
      </p:sp>
      <p:graphicFrame>
        <p:nvGraphicFramePr>
          <p:cNvPr id="1617709908" name="TableModeles"/>
          <p:cNvGraphicFramePr>
            <a:graphicFrameLocks xmlns:a="http://schemas.openxmlformats.org/drawingml/2006/main" noGrp="1"/>
          </p:cNvGraphicFramePr>
          <p:nvPr/>
        </p:nvGraphicFramePr>
        <p:xfrm rot="0">
          <a:off x="914400" y="2133600"/>
          <a:ext cx="5918200" cy="3581400"/>
        </p:xfrm>
        <a:graphic>
          <a:graphicData uri="http://schemas.openxmlformats.org/drawingml/2006/table">
            <a:tbl>
              <a:tblPr firstRow="1" firstCol="0" lastRow="0" lastCol="0" bandRow="0" bandCol="0"/>
              <a:tblGrid>
                <a:gridCol w="3505199"/>
                <a:gridCol w="2413000"/>
              </a:tblGrid>
              <a:tr h="533400">
                <a:tc>
                  <a:txBody>
                    <a:bodyPr/>
                    <a:p>
                      <a:pPr algn="l">
                        <a:defRPr/>
                      </a:pPr>
                      <a:r>
                        <a:rPr lang="fr-FR" sz="1400" b="1">
                          <a:solidFill>
                            <a:srgbClr val="FFFFFF"/>
                          </a:solidFill>
                          <a:latin typeface="Segoe UI Semibold"/>
                        </a:rPr>
                        <a:t>Modèle</a:t>
                      </a:r>
                      <a:endParaRPr/>
                    </a:p>
                  </a:txBody>
                  <a:tcPr marL="100584" marR="100584" marT="32004" marB="32004" anchor="ctr">
                    <a:lnL w="0" algn="ctr">
                      <a:noFill/>
                    </a:lnL>
                    <a:lnR w="0" algn="ctr">
                      <a:noFill/>
                    </a:lnR>
                    <a:lnT w="0" algn="ctr">
                      <a:noFill/>
                    </a:lnT>
                    <a:lnB w="6350" algn="ctr">
                      <a:solidFill>
                        <a:srgbClr val="E2E8F0"/>
                      </a:solidFill>
                    </a:lnB>
                    <a:solidFill>
                      <a:srgbClr val="0B1F3A"/>
                    </a:solidFill>
                  </a:tcPr>
                </a:tc>
                <a:tc>
                  <a:txBody>
                    <a:bodyPr/>
                    <a:p>
                      <a:pPr algn="r">
                        <a:defRPr/>
                      </a:pPr>
                      <a:r>
                        <a:rPr lang="fr-FR" sz="1400" b="1">
                          <a:solidFill>
                            <a:srgbClr val="FFFFFF"/>
                          </a:solidFill>
                          <a:latin typeface="Segoe UI Semibold"/>
                        </a:rPr>
                        <a:t>Précision (test)</a:t>
                      </a:r>
                      <a:endParaRPr/>
                    </a:p>
                  </a:txBody>
                  <a:tcPr marL="100584" marR="100584" marT="32004" marB="32004" anchor="ctr">
                    <a:lnL w="0" algn="ctr">
                      <a:noFill/>
                    </a:lnL>
                    <a:lnR w="0" algn="ctr">
                      <a:noFill/>
                    </a:lnR>
                    <a:lnT w="0" algn="ctr">
                      <a:noFill/>
                    </a:lnT>
                    <a:lnB w="6350" algn="ctr">
                      <a:solidFill>
                        <a:srgbClr val="E2E8F0"/>
                      </a:solidFill>
                    </a:lnB>
                    <a:solidFill>
                      <a:srgbClr val="0B1F3A"/>
                    </a:solidFill>
                  </a:tcPr>
                </a:tc>
              </a:tr>
              <a:tr h="609600">
                <a:tc>
                  <a:txBody>
                    <a:bodyPr/>
                    <a:p>
                      <a:pPr algn="l">
                        <a:defRPr/>
                      </a:pPr>
                      <a:r>
                        <a:rPr lang="fr-FR" sz="1400">
                          <a:solidFill>
                            <a:srgbClr val="0B1F3A"/>
                          </a:solidFill>
                          <a:latin typeface="Segoe UI Semibold"/>
                        </a:rPr>
                        <a:t>Régression logistique</a:t>
                      </a:r>
                      <a:endParaRPr/>
                    </a:p>
                  </a:txBody>
                  <a:tcPr marL="100584" marR="100584" marT="32004" marB="32004" anchor="ctr">
                    <a:lnL w="0" algn="ctr">
                      <a:noFill/>
                    </a:lnL>
                    <a:lnR w="0" algn="ctr">
                      <a:noFill/>
                    </a:lnR>
                    <a:lnT w="6350" algn="ctr">
                      <a:solidFill>
                        <a:srgbClr val="E2E8F0"/>
                      </a:solidFill>
                    </a:lnT>
                    <a:lnB w="6350" algn="ctr">
                      <a:solidFill>
                        <a:srgbClr val="E2E8F0"/>
                      </a:solidFill>
                    </a:lnB>
                    <a:noFill/>
                  </a:tcPr>
                </a:tc>
                <a:tc>
                  <a:txBody>
                    <a:bodyPr/>
                    <a:p>
                      <a:pPr algn="r">
                        <a:defRPr/>
                      </a:pPr>
                      <a:r>
                        <a:rPr lang="fr-FR" sz="1400">
                          <a:solidFill>
                            <a:srgbClr val="0B1F3A"/>
                          </a:solidFill>
                        </a:rPr>
                        <a:t>76,76 %</a:t>
                      </a:r>
                      <a:endParaRPr/>
                    </a:p>
                  </a:txBody>
                  <a:tcPr marL="100584" marR="100584" marT="32004" marB="32004" anchor="ctr">
                    <a:lnL w="0" algn="ctr">
                      <a:noFill/>
                    </a:lnL>
                    <a:lnR w="0" algn="ctr">
                      <a:noFill/>
                    </a:lnR>
                    <a:lnT w="6350" algn="ctr">
                      <a:solidFill>
                        <a:srgbClr val="E2E8F0"/>
                      </a:solidFill>
                    </a:lnT>
                    <a:lnB w="6350" algn="ctr">
                      <a:solidFill>
                        <a:srgbClr val="E2E8F0"/>
                      </a:solidFill>
                    </a:lnB>
                    <a:noFill/>
                  </a:tcPr>
                </a:tc>
              </a:tr>
              <a:tr h="609600">
                <a:tc>
                  <a:txBody>
                    <a:bodyPr/>
                    <a:p>
                      <a:pPr algn="l">
                        <a:defRPr/>
                      </a:pPr>
                      <a:r>
                        <a:rPr lang="fr-FR" sz="1400" b="1">
                          <a:solidFill>
                            <a:srgbClr val="2563EB"/>
                          </a:solidFill>
                          <a:latin typeface="Segoe UI Semibold"/>
                        </a:rPr>
                        <a:t>XGBoost</a:t>
                      </a:r>
                      <a:endParaRPr/>
                    </a:p>
                  </a:txBody>
                  <a:tcPr marL="100584" marR="100584" marT="32004" marB="32004" anchor="ctr">
                    <a:lnL w="0" algn="ctr">
                      <a:noFill/>
                    </a:lnL>
                    <a:lnR w="0" algn="ctr">
                      <a:noFill/>
                    </a:lnR>
                    <a:lnT w="6350" algn="ctr">
                      <a:solidFill>
                        <a:srgbClr val="E2E8F0"/>
                      </a:solidFill>
                    </a:lnT>
                    <a:lnB w="6350" algn="ctr">
                      <a:solidFill>
                        <a:srgbClr val="E2E8F0"/>
                      </a:solidFill>
                    </a:lnB>
                    <a:solidFill>
                      <a:srgbClr val="E8EEFB"/>
                    </a:solidFill>
                  </a:tcPr>
                </a:tc>
                <a:tc>
                  <a:txBody>
                    <a:bodyPr/>
                    <a:p>
                      <a:pPr algn="r">
                        <a:defRPr/>
                      </a:pPr>
                      <a:r>
                        <a:rPr lang="fr-FR" sz="1400" b="1">
                          <a:solidFill>
                            <a:srgbClr val="2563EB"/>
                          </a:solidFill>
                        </a:rPr>
                        <a:t>76,67 %</a:t>
                      </a:r>
                      <a:endParaRPr/>
                    </a:p>
                  </a:txBody>
                  <a:tcPr marL="100584" marR="100584" marT="32004" marB="32004" anchor="ctr">
                    <a:lnL w="0" algn="ctr">
                      <a:noFill/>
                    </a:lnL>
                    <a:lnR w="0" algn="ctr">
                      <a:noFill/>
                    </a:lnR>
                    <a:lnT w="6350" algn="ctr">
                      <a:solidFill>
                        <a:srgbClr val="E2E8F0"/>
                      </a:solidFill>
                    </a:lnT>
                    <a:lnB w="6350" algn="ctr">
                      <a:solidFill>
                        <a:srgbClr val="E2E8F0"/>
                      </a:solidFill>
                    </a:lnB>
                    <a:solidFill>
                      <a:srgbClr val="E8EEFB"/>
                    </a:solidFill>
                  </a:tcPr>
                </a:tc>
              </a:tr>
              <a:tr h="609600">
                <a:tc>
                  <a:txBody>
                    <a:bodyPr/>
                    <a:p>
                      <a:pPr algn="l">
                        <a:defRPr/>
                      </a:pPr>
                      <a:r>
                        <a:rPr lang="fr-FR" sz="1400">
                          <a:solidFill>
                            <a:srgbClr val="0B1F3A"/>
                          </a:solidFill>
                          <a:latin typeface="Segoe UI Semibold"/>
                        </a:rPr>
                        <a:t>Gradient Boosting</a:t>
                      </a:r>
                      <a:endParaRPr/>
                    </a:p>
                  </a:txBody>
                  <a:tcPr marL="100584" marR="100584" marT="32004" marB="32004" anchor="ctr">
                    <a:lnL w="0" algn="ctr">
                      <a:noFill/>
                    </a:lnL>
                    <a:lnR w="0" algn="ctr">
                      <a:noFill/>
                    </a:lnR>
                    <a:lnT w="6350" algn="ctr">
                      <a:solidFill>
                        <a:srgbClr val="E2E8F0"/>
                      </a:solidFill>
                    </a:lnT>
                    <a:lnB w="6350" algn="ctr">
                      <a:solidFill>
                        <a:srgbClr val="E2E8F0"/>
                      </a:solidFill>
                    </a:lnB>
                    <a:noFill/>
                  </a:tcPr>
                </a:tc>
                <a:tc>
                  <a:txBody>
                    <a:bodyPr/>
                    <a:p>
                      <a:pPr algn="r">
                        <a:defRPr/>
                      </a:pPr>
                      <a:r>
                        <a:rPr lang="fr-FR" sz="1400">
                          <a:solidFill>
                            <a:srgbClr val="0B1F3A"/>
                          </a:solidFill>
                        </a:rPr>
                        <a:t>75,48 %</a:t>
                      </a:r>
                      <a:endParaRPr/>
                    </a:p>
                  </a:txBody>
                  <a:tcPr marL="100584" marR="100584" marT="32004" marB="32004" anchor="ctr">
                    <a:lnL w="0" algn="ctr">
                      <a:noFill/>
                    </a:lnL>
                    <a:lnR w="0" algn="ctr">
                      <a:noFill/>
                    </a:lnR>
                    <a:lnT w="6350" algn="ctr">
                      <a:solidFill>
                        <a:srgbClr val="E2E8F0"/>
                      </a:solidFill>
                    </a:lnT>
                    <a:lnB w="6350" algn="ctr">
                      <a:solidFill>
                        <a:srgbClr val="E2E8F0"/>
                      </a:solidFill>
                    </a:lnB>
                    <a:noFill/>
                  </a:tcPr>
                </a:tc>
              </a:tr>
              <a:tr h="609600">
                <a:tc>
                  <a:txBody>
                    <a:bodyPr/>
                    <a:p>
                      <a:pPr algn="l">
                        <a:defRPr/>
                      </a:pPr>
                      <a:r>
                        <a:rPr lang="fr-FR" sz="1400">
                          <a:solidFill>
                            <a:srgbClr val="0B1F3A"/>
                          </a:solidFill>
                          <a:latin typeface="Segoe UI Semibold"/>
                        </a:rPr>
                        <a:t>Random Forest</a:t>
                      </a:r>
                      <a:endParaRPr/>
                    </a:p>
                  </a:txBody>
                  <a:tcPr marL="100584" marR="100584" marT="32004" marB="32004" anchor="ctr">
                    <a:lnL w="0" algn="ctr">
                      <a:noFill/>
                    </a:lnL>
                    <a:lnR w="0" algn="ctr">
                      <a:noFill/>
                    </a:lnR>
                    <a:lnT w="6350" algn="ctr">
                      <a:solidFill>
                        <a:srgbClr val="E2E8F0"/>
                      </a:solidFill>
                    </a:lnT>
                    <a:lnB w="6350" algn="ctr">
                      <a:solidFill>
                        <a:srgbClr val="E2E8F0"/>
                      </a:solidFill>
                    </a:lnB>
                    <a:noFill/>
                  </a:tcPr>
                </a:tc>
                <a:tc>
                  <a:txBody>
                    <a:bodyPr/>
                    <a:p>
                      <a:pPr algn="r">
                        <a:defRPr/>
                      </a:pPr>
                      <a:r>
                        <a:rPr lang="fr-FR" sz="1400">
                          <a:solidFill>
                            <a:srgbClr val="0B1F3A"/>
                          </a:solidFill>
                        </a:rPr>
                        <a:t>72,57 %</a:t>
                      </a:r>
                      <a:endParaRPr/>
                    </a:p>
                  </a:txBody>
                  <a:tcPr marL="100584" marR="100584" marT="32004" marB="32004" anchor="ctr">
                    <a:lnL w="0" algn="ctr">
                      <a:noFill/>
                    </a:lnL>
                    <a:lnR w="0" algn="ctr">
                      <a:noFill/>
                    </a:lnR>
                    <a:lnT w="6350" algn="ctr">
                      <a:solidFill>
                        <a:srgbClr val="E2E8F0"/>
                      </a:solidFill>
                    </a:lnT>
                    <a:lnB w="6350" algn="ctr">
                      <a:solidFill>
                        <a:srgbClr val="E2E8F0"/>
                      </a:solidFill>
                    </a:lnB>
                    <a:noFill/>
                  </a:tcPr>
                </a:tc>
              </a:tr>
              <a:tr h="609600">
                <a:tc>
                  <a:txBody>
                    <a:bodyPr/>
                    <a:p>
                      <a:pPr algn="l">
                        <a:defRPr/>
                      </a:pPr>
                      <a:r>
                        <a:rPr lang="fr-FR" sz="1400">
                          <a:solidFill>
                            <a:srgbClr val="0B1F3A"/>
                          </a:solidFill>
                          <a:latin typeface="Segoe UI Semibold"/>
                        </a:rPr>
                        <a:t>SVM</a:t>
                      </a:r>
                      <a:endParaRPr/>
                    </a:p>
                  </a:txBody>
                  <a:tcPr marL="100584" marR="100584" marT="32004" marB="32004" anchor="ctr">
                    <a:lnL w="0" algn="ctr">
                      <a:noFill/>
                    </a:lnL>
                    <a:lnR w="0" algn="ctr">
                      <a:noFill/>
                    </a:lnR>
                    <a:lnT w="6350" algn="ctr">
                      <a:solidFill>
                        <a:srgbClr val="E2E8F0"/>
                      </a:solidFill>
                    </a:lnT>
                    <a:lnB w="6350" algn="ctr">
                      <a:solidFill>
                        <a:srgbClr val="E2E8F0"/>
                      </a:solidFill>
                    </a:lnB>
                    <a:noFill/>
                  </a:tcPr>
                </a:tc>
                <a:tc>
                  <a:txBody>
                    <a:bodyPr/>
                    <a:p>
                      <a:pPr algn="r">
                        <a:defRPr/>
                      </a:pPr>
                      <a:r>
                        <a:rPr lang="fr-FR" sz="1400">
                          <a:solidFill>
                            <a:srgbClr val="0B1F3A"/>
                          </a:solidFill>
                        </a:rPr>
                        <a:t>66,69 %</a:t>
                      </a:r>
                      <a:endParaRPr/>
                    </a:p>
                  </a:txBody>
                  <a:tcPr marL="100584" marR="100584" marT="32004" marB="32004" anchor="ctr">
                    <a:lnL w="0" algn="ctr">
                      <a:noFill/>
                    </a:lnL>
                    <a:lnR w="0" algn="ctr">
                      <a:noFill/>
                    </a:lnR>
                    <a:lnT w="6350" algn="ctr">
                      <a:solidFill>
                        <a:srgbClr val="E2E8F0"/>
                      </a:solidFill>
                    </a:lnT>
                    <a:lnB w="6350" algn="ctr">
                      <a:solidFill>
                        <a:srgbClr val="E2E8F0"/>
                      </a:solidFill>
                    </a:lnB>
                    <a:noFill/>
                  </a:tcPr>
                </a:tc>
              </a:tr>
            </a:tbl>
          </a:graphicData>
        </a:graphic>
      </p:graphicFrame>
      <p:sp>
        <p:nvSpPr>
          <p:cNvPr id="17935993" name="Page"/>
          <p:cNvSpPr txBox="1"/>
          <p:nvPr/>
        </p:nvSpPr>
        <p:spPr bwMode="auto">
          <a:xfrm>
            <a:off x="10515600" y="6451600"/>
            <a:ext cx="914400" cy="254000"/>
          </a:xfrm>
          <a:prstGeom prst="rect">
            <a:avLst/>
          </a:prstGeom>
          <a:noFill/>
          <a:ln>
            <a:noFill/>
          </a:ln>
        </p:spPr>
        <p:txBody>
          <a:bodyPr wrap="square" lIns="0" tIns="0" rIns="0" bIns="0" anchor="t">
            <a:normAutofit/>
          </a:bodyPr>
          <a:lstStyle/>
          <a:p>
            <a:pPr algn="r">
              <a:buNone/>
              <a:defRPr/>
            </a:pPr>
            <a:r>
              <a:rPr lang="fr-FR" sz="1400">
                <a:solidFill>
                  <a:srgbClr val="64748B"/>
                </a:solidFill>
              </a:rPr>
              <a:t>21</a:t>
            </a:r>
            <a:endParaRPr/>
          </a:p>
        </p:txBody>
      </p:sp>
      <p:sp>
        <p:nvSpPr>
          <p:cNvPr id="1851879585" name="NoteModeles"/>
          <p:cNvSpPr txBox="1"/>
          <p:nvPr/>
        </p:nvSpPr>
        <p:spPr bwMode="auto">
          <a:xfrm>
            <a:off x="914400" y="5842000"/>
            <a:ext cx="10363200" cy="609600"/>
          </a:xfrm>
          <a:prstGeom prst="rect">
            <a:avLst/>
          </a:prstGeom>
          <a:noFill/>
          <a:ln>
            <a:noFill/>
          </a:ln>
        </p:spPr>
        <p:txBody>
          <a:bodyPr wrap="square" lIns="0" tIns="0" rIns="0" bIns="0" anchor="t">
            <a:normAutofit/>
          </a:bodyPr>
          <a:lstStyle/>
          <a:p>
            <a:pPr>
              <a:lnSpc>
                <a:spcPts val="1800"/>
              </a:lnSpc>
              <a:buNone/>
              <a:defRPr/>
            </a:pPr>
            <a:r>
              <a:rPr lang="fr-FR" sz="1400">
                <a:solidFill>
                  <a:srgbClr val="334155"/>
                </a:solidFill>
              </a:rPr>
              <a:t>La régression logistique est à parité (76,76 %), mais XGBoost est retenu pour son interprétabilité (importance des variables) et sa capacité à capturer les relations non-linéaires.</a:t>
            </a:r>
            <a:endParaRPr/>
          </a:p>
        </p:txBody>
      </p:sp>
      <p:pic>
        <p:nvPicPr>
          <p:cNvPr id="653381268" name=""/>
          <p:cNvPicPr>
            <a:picLocks noChangeAspect="1"/>
          </p:cNvPicPr>
          <p:nvPr/>
        </p:nvPicPr>
        <p:blipFill rotWithShape="1">
          <a:blip r:embed="rId3"/>
          <a:stretch/>
        </p:blipFill>
        <p:spPr bwMode="auto">
          <a:xfrm flipH="0" flipV="0">
            <a:off x="6900436" y="1416049"/>
            <a:ext cx="4529563" cy="4305299"/>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med" p14:dur="500" advClick="1">
        <p:fade thruBlk="0"/>
      </p:transition>
    </mc:Choice>
    <mc:Fallback>
      <p:transition spd="med" advClick="1">
        <p:fade thruBlk="0"/>
      </p:transition>
    </mc:Fallback>
  </mc:AlternateContent>
  <p:timing>
    <p:tnLst>
      <p:par>
        <p:cTn id="1" dur="indefinite" restart="never" nodeType="tmRoot">
          <p:childTnLst>
            <p:par>
              <p:cTn id="2" fill="hold">
                <p:stCondLst>
                  <p:cond delay="0"/>
                </p:stCondLst>
                <p:childTnLst>
                  <p:par>
                    <p:cTn id="3" presetID="10" presetClass="entr" presetSubtype="0" fill="hold" grpId="0" nodeType="afterEffect">
                      <p:stCondLst>
                        <p:cond delay="500"/>
                      </p:stCondLst>
                      <p:childTnLst>
                        <p:set>
                          <p:cBhvr>
                            <p:cTn id="4" dur="1" fill="hold">
                              <p:stCondLst>
                                <p:cond delay="0"/>
                              </p:stCondLst>
                            </p:cTn>
                            <p:tgtEl>
                              <p:spTgt spid="942856768"/>
                            </p:tgtEl>
                            <p:attrNameLst>
                              <p:attrName>style.visibility</p:attrName>
                            </p:attrNameLst>
                          </p:cBhvr>
                          <p:to>
                            <p:strVal val="visible"/>
                          </p:to>
                        </p:set>
                        <p:animEffect transition="in" filter="fade">
                          <p:cBhvr>
                            <p:cTn id="5" dur="400"/>
                            <p:tgtEl>
                              <p:spTgt spid="942856768"/>
                            </p:tgtEl>
                          </p:cBhvr>
                        </p:animEffect>
                        <p:anim calcmode="lin" valueType="num">
                          <p:cBhvr additive="base">
                            <p:cTn id="6" dur="400" fill="hold"/>
                            <p:tgtEl>
                              <p:spTgt spid="942856768"/>
                            </p:tgtEl>
                            <p:attrNameLst>
                              <p:attrName>ppt_y</p:attrName>
                            </p:attrNameLst>
                          </p:cBhvr>
                          <p:tavLst>
                            <p:tav tm="0">
                              <p:val>
                                <p:fltVal val="0.045999999999999999"/>
                              </p:val>
                            </p:tav>
                            <p:tav tm="100000">
                              <p:val>
                                <p:fltVal val="0"/>
                              </p:val>
                            </p:tav>
                          </p:tavLst>
                        </p:anim>
                      </p:childTnLst>
                    </p:cTn>
                  </p:par>
                  <p:par>
                    <p:cTn id="7" presetID="10" presetClass="entr" presetSubtype="0" fill="hold" grpId="0" nodeType="afterEffect">
                      <p:stCondLst>
                        <p:cond delay="150"/>
                      </p:stCondLst>
                      <p:childTnLst>
                        <p:set>
                          <p:cBhvr>
                            <p:cTn id="8" dur="1" fill="hold">
                              <p:stCondLst>
                                <p:cond delay="0"/>
                              </p:stCondLst>
                            </p:cTn>
                            <p:tgtEl>
                              <p:spTgt spid="1392314077"/>
                            </p:tgtEl>
                            <p:attrNameLst>
                              <p:attrName>style.visibility</p:attrName>
                            </p:attrNameLst>
                          </p:cBhvr>
                          <p:to>
                            <p:strVal val="visible"/>
                          </p:to>
                        </p:set>
                        <p:animEffect transition="in" filter="fade">
                          <p:cBhvr>
                            <p:cTn id="9" dur="400"/>
                            <p:tgtEl>
                              <p:spTgt spid="1392314077"/>
                            </p:tgtEl>
                          </p:cBhvr>
                        </p:animEffect>
                        <p:anim calcmode="lin" valueType="num">
                          <p:cBhvr additive="base">
                            <p:cTn id="10" dur="400" fill="hold"/>
                            <p:tgtEl>
                              <p:spTgt spid="1392314077"/>
                            </p:tgtEl>
                            <p:attrNameLst>
                              <p:attrName>ppt_y</p:attrName>
                            </p:attrNameLst>
                          </p:cBhvr>
                          <p:tavLst>
                            <p:tav tm="0">
                              <p:val>
                                <p:fltVal val="0.045999999999999999"/>
                              </p:val>
                            </p:tav>
                            <p:tav tm="100000">
                              <p:val>
                                <p:fltVal val="0"/>
                              </p:val>
                            </p:tav>
                          </p:tavLst>
                        </p:anim>
                      </p:childTnLst>
                    </p:cTn>
                  </p:par>
                  <p:par>
                    <p:cTn id="11" presetID="10" presetClass="entr" presetSubtype="0" fill="hold" grpId="0" nodeType="afterEffect">
                      <p:stCondLst>
                        <p:cond delay="150"/>
                      </p:stCondLst>
                      <p:childTnLst>
                        <p:set>
                          <p:cBhvr>
                            <p:cTn id="12" dur="1" fill="hold">
                              <p:stCondLst>
                                <p:cond delay="0"/>
                              </p:stCondLst>
                            </p:cTn>
                            <p:tgtEl>
                              <p:spTgt spid="1165676793"/>
                            </p:tgtEl>
                            <p:attrNameLst>
                              <p:attrName>style.visibility</p:attrName>
                            </p:attrNameLst>
                          </p:cBhvr>
                          <p:to>
                            <p:strVal val="visible"/>
                          </p:to>
                        </p:set>
                        <p:animEffect transition="in" filter="fade">
                          <p:cBhvr>
                            <p:cTn id="13" dur="400"/>
                            <p:tgtEl>
                              <p:spTgt spid="1165676793"/>
                            </p:tgtEl>
                          </p:cBhvr>
                        </p:animEffect>
                        <p:anim calcmode="lin" valueType="num">
                          <p:cBhvr additive="base">
                            <p:cTn id="14" dur="400" fill="hold"/>
                            <p:tgtEl>
                              <p:spTgt spid="1165676793"/>
                            </p:tgtEl>
                            <p:attrNameLst>
                              <p:attrName>ppt_y</p:attrName>
                            </p:attrNameLst>
                          </p:cBhvr>
                          <p:tavLst>
                            <p:tav tm="0">
                              <p:val>
                                <p:fltVal val="0.045999999999999999"/>
                              </p:val>
                            </p:tav>
                            <p:tav tm="100000">
                              <p:val>
                                <p:fltVal val="0"/>
                              </p:val>
                            </p:tav>
                          </p:tavLst>
                        </p:anim>
                      </p:childTnLst>
                    </p:cTn>
                  </p:par>
                  <p:par>
                    <p:cTn id="15" presetID="10" presetClass="entr" presetSubtype="0" fill="hold" grpId="0" nodeType="afterEffect">
                      <p:stCondLst>
                        <p:cond delay="150"/>
                      </p:stCondLst>
                      <p:childTnLst>
                        <p:set>
                          <p:cBhvr>
                            <p:cTn id="16" dur="1" fill="hold">
                              <p:stCondLst>
                                <p:cond delay="0"/>
                              </p:stCondLst>
                            </p:cTn>
                            <p:tgtEl>
                              <p:spTgt spid="1617709908"/>
                            </p:tgtEl>
                            <p:attrNameLst>
                              <p:attrName>style.visibility</p:attrName>
                            </p:attrNameLst>
                          </p:cBhvr>
                          <p:to>
                            <p:strVal val="visible"/>
                          </p:to>
                        </p:set>
                        <p:animEffect transition="in" filter="fade">
                          <p:cBhvr>
                            <p:cTn id="17" dur="400"/>
                            <p:tgtEl>
                              <p:spTgt spid="1617709908"/>
                            </p:tgtEl>
                          </p:cBhvr>
                        </p:animEffect>
                        <p:anim calcmode="lin" valueType="num">
                          <p:cBhvr additive="base">
                            <p:cTn id="18" dur="400" fill="hold"/>
                            <p:tgtEl>
                              <p:spTgt spid="1617709908"/>
                            </p:tgtEl>
                            <p:attrNameLst>
                              <p:attrName>ppt_y</p:attrName>
                            </p:attrNameLst>
                          </p:cBhvr>
                          <p:tavLst>
                            <p:tav tm="0">
                              <p:val>
                                <p:fltVal val="0.045999999999999999"/>
                              </p:val>
                            </p:tav>
                            <p:tav tm="100000">
                              <p:val>
                                <p:fltVal val="0"/>
                              </p:val>
                            </p:tav>
                          </p:tavLst>
                        </p:anim>
                      </p:childTnLst>
                    </p:cTn>
                  </p:par>
                  <p:par>
                    <p:cTn id="23" presetID="10" presetClass="entr" presetSubtype="0" fill="hold" grpId="0" nodeType="afterEffect">
                      <p:stCondLst>
                        <p:cond delay="150"/>
                      </p:stCondLst>
                      <p:childTnLst>
                        <p:set>
                          <p:cBhvr>
                            <p:cTn id="24" dur="1" fill="hold">
                              <p:stCondLst>
                                <p:cond delay="0"/>
                              </p:stCondLst>
                            </p:cTn>
                            <p:tgtEl>
                              <p:spTgt spid="17935993"/>
                            </p:tgtEl>
                            <p:attrNameLst>
                              <p:attrName>style.visibility</p:attrName>
                            </p:attrNameLst>
                          </p:cBhvr>
                          <p:to>
                            <p:strVal val="visible"/>
                          </p:to>
                        </p:set>
                        <p:animEffect transition="in" filter="fade">
                          <p:cBhvr>
                            <p:cTn id="25" dur="400"/>
                            <p:tgtEl>
                              <p:spTgt spid="17935993"/>
                            </p:tgtEl>
                          </p:cBhvr>
                        </p:animEffect>
                        <p:anim calcmode="lin" valueType="num">
                          <p:cBhvr additive="base">
                            <p:cTn id="26" dur="400" fill="hold"/>
                            <p:tgtEl>
                              <p:spTgt spid="17935993"/>
                            </p:tgtEl>
                            <p:attrNameLst>
                              <p:attrName>ppt_y</p:attrName>
                            </p:attrNameLst>
                          </p:cBhvr>
                          <p:tavLst>
                            <p:tav tm="0">
                              <p:val>
                                <p:fltVal val="0.045999999999999999"/>
                              </p:val>
                            </p:tav>
                            <p:tav tm="100000">
                              <p:val>
                                <p:fltVal val="0"/>
                              </p:val>
                            </p:tav>
                          </p:tavLst>
                        </p:anim>
                      </p:childTnLst>
                    </p:cTn>
                  </p:par>
                </p:childTnLst>
              </p:cTn>
            </p:par>
          </p:childTnLst>
        </p:cTn>
      </p:par>
    </p:tnLst>
    <p:bldLst>
      <p:bldP spid="942856768" grpId="0" animBg="1"/>
      <p:bldP spid="1392314077" grpId="0" animBg="1"/>
      <p:bldP spid="1165676793" grpId="0" animBg="1"/>
      <p:bldP spid="1617709908" grpId="0" animBg="1"/>
      <p:bldP spid="17935993" grpId="0" animBg="1"/>
    </p:bldLst>
  </p:timing>
</p:sld>
</file>

<file path=ppt/slides/slide2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119786807" name="Eyebrow"/>
          <p:cNvSpPr txBox="1"/>
          <p:nvPr/>
        </p:nvSpPr>
        <p:spPr bwMode="auto">
          <a:xfrm>
            <a:off x="914400" y="584200"/>
            <a:ext cx="9144000" cy="254000"/>
          </a:xfrm>
          <a:prstGeom prst="rect">
            <a:avLst/>
          </a:prstGeom>
          <a:noFill/>
          <a:ln>
            <a:noFill/>
          </a:ln>
        </p:spPr>
        <p:txBody>
          <a:bodyPr wrap="square" lIns="0" tIns="0" rIns="0" bIns="0" anchor="t">
            <a:normAutofit/>
          </a:bodyPr>
          <a:lstStyle/>
          <a:p>
            <a:pPr>
              <a:buNone/>
              <a:defRPr/>
            </a:pPr>
            <a:r>
              <a:rPr lang="fr-FR" sz="1400" b="1" spc="240">
                <a:solidFill>
                  <a:srgbClr val="64748B"/>
                </a:solidFill>
              </a:rPr>
              <a:t>05 · MACHINE LEARNING</a:t>
            </a:r>
            <a:endParaRPr/>
          </a:p>
        </p:txBody>
      </p:sp>
      <p:sp>
        <p:nvSpPr>
          <p:cNvPr id="200967879" name="Titre"/>
          <p:cNvSpPr txBox="1"/>
          <p:nvPr/>
        </p:nvSpPr>
        <p:spPr bwMode="auto">
          <a:xfrm>
            <a:off x="914400" y="863599"/>
            <a:ext cx="10363200" cy="508000"/>
          </a:xfrm>
          <a:prstGeom prst="rect">
            <a:avLst/>
          </a:prstGeom>
          <a:noFill/>
          <a:ln>
            <a:noFill/>
          </a:ln>
        </p:spPr>
        <p:txBody>
          <a:bodyPr wrap="square" lIns="0" tIns="0" rIns="0" bIns="0" anchor="t">
            <a:normAutofit/>
          </a:bodyPr>
          <a:lstStyle/>
          <a:p>
            <a:pPr>
              <a:buNone/>
              <a:defRPr/>
            </a:pPr>
            <a:r>
              <a:rPr lang="fr-FR" sz="3000">
                <a:solidFill>
                  <a:srgbClr val="0B1F3A"/>
                </a:solidFill>
                <a:latin typeface="Segoe UI Semibold"/>
              </a:rPr>
              <a:t>Modèle retenu : XGBoost</a:t>
            </a:r>
            <a:endParaRPr/>
          </a:p>
        </p:txBody>
      </p:sp>
      <p:sp>
        <p:nvSpPr>
          <p:cNvPr id="359580571" name="Filet"/>
          <p:cNvSpPr/>
          <p:nvPr/>
        </p:nvSpPr>
        <p:spPr bwMode="auto">
          <a:xfrm>
            <a:off x="914400" y="1473200"/>
            <a:ext cx="685800" cy="50800"/>
          </a:xfrm>
          <a:prstGeom prst="rect">
            <a:avLst/>
          </a:prstGeom>
          <a:solidFill>
            <a:srgbClr val="2563EB"/>
          </a:solidFill>
          <a:ln>
            <a:noFill/>
          </a:ln>
        </p:spPr>
        <p:txBody>
          <a:bodyPr wrap="square" lIns="0" tIns="0" rIns="0" bIns="0" anchor="t">
            <a:normAutofit/>
          </a:bodyPr>
          <a:lstStyle/>
          <a:p>
            <a:pPr>
              <a:defRPr/>
            </a:pPr>
            <a:endParaRPr/>
          </a:p>
        </p:txBody>
      </p:sp>
      <p:sp>
        <p:nvSpPr>
          <p:cNvPr id="1308494655" name="stat"/>
          <p:cNvSpPr/>
          <p:nvPr/>
        </p:nvSpPr>
        <p:spPr bwMode="auto">
          <a:xfrm>
            <a:off x="787399" y="2158999"/>
            <a:ext cx="2921000" cy="1651000"/>
          </a:xfrm>
          <a:prstGeom prst="roundRect">
            <a:avLst>
              <a:gd name="adj" fmla="val 9000"/>
            </a:avLst>
          </a:prstGeom>
          <a:solidFill>
            <a:srgbClr val="FFFFFF"/>
          </a:solidFill>
          <a:ln w="9525">
            <a:solidFill>
              <a:srgbClr val="E2E8F0"/>
            </a:solidFill>
          </a:ln>
        </p:spPr>
        <p:txBody>
          <a:bodyPr wrap="square" lIns="177800" tIns="177800" rIns="177800" bIns="177800" anchor="ctr">
            <a:normAutofit/>
          </a:bodyPr>
          <a:lstStyle/>
          <a:p>
            <a:pPr algn="ctr">
              <a:buNone/>
              <a:defRPr/>
            </a:pPr>
            <a:r>
              <a:rPr lang="fr-FR" sz="4000" b="1">
                <a:solidFill>
                  <a:srgbClr val="2563EB"/>
                </a:solidFill>
                <a:latin typeface="Segoe UI Semibold"/>
              </a:rPr>
              <a:t>76,67 %</a:t>
            </a:r>
            <a:endParaRPr/>
          </a:p>
          <a:p>
            <a:pPr algn="ctr">
              <a:spcBef>
                <a:spcPts val="400"/>
              </a:spcBef>
              <a:buNone/>
              <a:defRPr/>
            </a:pPr>
            <a:r>
              <a:rPr lang="fr-FR" sz="1400">
                <a:solidFill>
                  <a:srgbClr val="64748B"/>
                </a:solidFill>
              </a:rPr>
              <a:t>Précision (test)</a:t>
            </a:r>
            <a:endParaRPr/>
          </a:p>
        </p:txBody>
      </p:sp>
      <p:sp>
        <p:nvSpPr>
          <p:cNvPr id="1838912676" name="stat"/>
          <p:cNvSpPr/>
          <p:nvPr/>
        </p:nvSpPr>
        <p:spPr bwMode="auto">
          <a:xfrm>
            <a:off x="3835399" y="2158999"/>
            <a:ext cx="2921000" cy="1651000"/>
          </a:xfrm>
          <a:prstGeom prst="roundRect">
            <a:avLst>
              <a:gd name="adj" fmla="val 9000"/>
            </a:avLst>
          </a:prstGeom>
          <a:solidFill>
            <a:srgbClr val="FFFFFF"/>
          </a:solidFill>
          <a:ln w="9525">
            <a:solidFill>
              <a:srgbClr val="E2E8F0"/>
            </a:solidFill>
          </a:ln>
        </p:spPr>
        <p:txBody>
          <a:bodyPr wrap="square" lIns="177800" tIns="177800" rIns="177800" bIns="177800" anchor="ctr">
            <a:normAutofit/>
          </a:bodyPr>
          <a:lstStyle/>
          <a:p>
            <a:pPr algn="ctr">
              <a:buNone/>
              <a:defRPr/>
            </a:pPr>
            <a:r>
              <a:rPr lang="fr-FR" sz="4000" b="1">
                <a:solidFill>
                  <a:srgbClr val="0B1F3A"/>
                </a:solidFill>
                <a:latin typeface="Segoe UI Semibold"/>
              </a:rPr>
              <a:t>76,59 %</a:t>
            </a:r>
            <a:endParaRPr/>
          </a:p>
          <a:p>
            <a:pPr algn="ctr">
              <a:spcBef>
                <a:spcPts val="400"/>
              </a:spcBef>
              <a:buNone/>
              <a:defRPr/>
            </a:pPr>
            <a:r>
              <a:rPr lang="fr-FR" sz="1400">
                <a:solidFill>
                  <a:srgbClr val="64748B"/>
                </a:solidFill>
              </a:rPr>
              <a:t>Validation croisée</a:t>
            </a:r>
            <a:endParaRPr/>
          </a:p>
        </p:txBody>
      </p:sp>
      <p:sp>
        <p:nvSpPr>
          <p:cNvPr id="820455868" name="Bullets"/>
          <p:cNvSpPr txBox="1"/>
          <p:nvPr/>
        </p:nvSpPr>
        <p:spPr bwMode="auto">
          <a:xfrm>
            <a:off x="914400" y="4064000"/>
            <a:ext cx="5969000" cy="2032000"/>
          </a:xfrm>
          <a:prstGeom prst="rect">
            <a:avLst/>
          </a:prstGeom>
          <a:noFill/>
          <a:ln>
            <a:noFill/>
          </a:ln>
        </p:spPr>
        <p:txBody>
          <a:bodyPr wrap="square" lIns="0" tIns="0" rIns="0" bIns="0" anchor="t">
            <a:normAutofit/>
          </a:bodyPr>
          <a:lstStyle/>
          <a:p>
            <a:pPr marL="285750" indent="-285750">
              <a:lnSpc>
                <a:spcPts val="2100"/>
              </a:lnSpc>
              <a:spcBef>
                <a:spcPts val="800"/>
              </a:spcBef>
              <a:buClr>
                <a:srgbClr val="2563EB"/>
              </a:buClr>
              <a:buFont typeface="Arial"/>
              <a:buChar char="•"/>
              <a:defRPr/>
            </a:pPr>
            <a:r>
              <a:rPr lang="fr-FR" sz="1600">
                <a:solidFill>
                  <a:srgbClr val="0B1F3A"/>
                </a:solidFill>
              </a:rPr>
              <a:t>Écart test / validation de seulement 0,08 point.</a:t>
            </a:r>
            <a:endParaRPr/>
          </a:p>
          <a:p>
            <a:pPr marL="285750" indent="-285750">
              <a:lnSpc>
                <a:spcPts val="2100"/>
              </a:lnSpc>
              <a:spcBef>
                <a:spcPts val="800"/>
              </a:spcBef>
              <a:buClr>
                <a:srgbClr val="2563EB"/>
              </a:buClr>
              <a:buFont typeface="Arial"/>
              <a:buChar char="•"/>
              <a:defRPr/>
            </a:pPr>
            <a:r>
              <a:rPr lang="fr-FR" sz="1600">
                <a:solidFill>
                  <a:srgbClr val="0B1F3A"/>
                </a:solidFill>
              </a:rPr>
              <a:t>Aucun signe de surapprentissage.</a:t>
            </a:r>
            <a:endParaRPr/>
          </a:p>
          <a:p>
            <a:pPr marL="285750" indent="-285750">
              <a:lnSpc>
                <a:spcPts val="2100"/>
              </a:lnSpc>
              <a:spcBef>
                <a:spcPts val="800"/>
              </a:spcBef>
              <a:buClr>
                <a:srgbClr val="2563EB"/>
              </a:buClr>
              <a:buFont typeface="Arial"/>
              <a:buChar char="•"/>
              <a:defRPr/>
            </a:pPr>
            <a:r>
              <a:rPr lang="fr-FR" sz="1600">
                <a:solidFill>
                  <a:srgbClr val="0B1F3A"/>
                </a:solidFill>
              </a:rPr>
              <a:t>Modèle stable et capable de généraliser.</a:t>
            </a:r>
            <a:endParaRPr/>
          </a:p>
        </p:txBody>
      </p:sp>
      <p:sp>
        <p:nvSpPr>
          <p:cNvPr id="856418785" name="Page"/>
          <p:cNvSpPr txBox="1"/>
          <p:nvPr/>
        </p:nvSpPr>
        <p:spPr bwMode="auto">
          <a:xfrm>
            <a:off x="10515600" y="6451600"/>
            <a:ext cx="914400" cy="254000"/>
          </a:xfrm>
          <a:prstGeom prst="rect">
            <a:avLst/>
          </a:prstGeom>
          <a:noFill/>
          <a:ln>
            <a:noFill/>
          </a:ln>
        </p:spPr>
        <p:txBody>
          <a:bodyPr wrap="square" lIns="0" tIns="0" rIns="0" bIns="0" anchor="t">
            <a:normAutofit/>
          </a:bodyPr>
          <a:lstStyle/>
          <a:p>
            <a:pPr algn="r">
              <a:buNone/>
              <a:defRPr/>
            </a:pPr>
            <a:r>
              <a:rPr lang="fr-FR" sz="1400">
                <a:solidFill>
                  <a:srgbClr val="64748B"/>
                </a:solidFill>
              </a:rPr>
              <a:t>22</a:t>
            </a:r>
            <a:endParaRPr/>
          </a:p>
        </p:txBody>
      </p:sp>
      <p:pic>
        <p:nvPicPr>
          <p:cNvPr id="740593509" name=""/>
          <p:cNvPicPr>
            <a:picLocks noChangeAspect="1"/>
          </p:cNvPicPr>
          <p:nvPr/>
        </p:nvPicPr>
        <p:blipFill rotWithShape="1">
          <a:blip r:embed="rId3"/>
          <a:stretch/>
        </p:blipFill>
        <p:spPr bwMode="auto">
          <a:xfrm flipH="0" flipV="0">
            <a:off x="6883399" y="1056883"/>
            <a:ext cx="4939373" cy="4952999"/>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med" p14:dur="500" advClick="1">
        <p:fade thruBlk="0"/>
      </p:transition>
    </mc:Choice>
    <mc:Fallback>
      <p:transition spd="med" advClick="1">
        <p:fade thruBlk="0"/>
      </p:transition>
    </mc:Fallback>
  </mc:AlternateContent>
  <p:timing>
    <p:tnLst>
      <p:par>
        <p:cTn id="1" dur="indefinite" restart="never" nodeType="tmRoot">
          <p:childTnLst>
            <p:par>
              <p:cTn id="2" fill="hold">
                <p:stCondLst>
                  <p:cond delay="0"/>
                </p:stCondLst>
                <p:childTnLst>
                  <p:par>
                    <p:cTn id="3" presetID="10" presetClass="entr" presetSubtype="0" fill="hold" grpId="0" nodeType="afterEffect">
                      <p:stCondLst>
                        <p:cond delay="500"/>
                      </p:stCondLst>
                      <p:childTnLst>
                        <p:set>
                          <p:cBhvr>
                            <p:cTn id="4" dur="1" fill="hold">
                              <p:stCondLst>
                                <p:cond delay="0"/>
                              </p:stCondLst>
                            </p:cTn>
                            <p:tgtEl>
                              <p:spTgt spid="1119786807"/>
                            </p:tgtEl>
                            <p:attrNameLst>
                              <p:attrName>style.visibility</p:attrName>
                            </p:attrNameLst>
                          </p:cBhvr>
                          <p:to>
                            <p:strVal val="visible"/>
                          </p:to>
                        </p:set>
                        <p:animEffect transition="in" filter="fade">
                          <p:cBhvr>
                            <p:cTn id="5" dur="400"/>
                            <p:tgtEl>
                              <p:spTgt spid="1119786807"/>
                            </p:tgtEl>
                          </p:cBhvr>
                        </p:animEffect>
                        <p:anim calcmode="lin" valueType="num">
                          <p:cBhvr additive="base">
                            <p:cTn id="6" dur="400" fill="hold"/>
                            <p:tgtEl>
                              <p:spTgt spid="1119786807"/>
                            </p:tgtEl>
                            <p:attrNameLst>
                              <p:attrName>ppt_y</p:attrName>
                            </p:attrNameLst>
                          </p:cBhvr>
                          <p:tavLst>
                            <p:tav tm="0">
                              <p:val>
                                <p:fltVal val="0.045999999999999999"/>
                              </p:val>
                            </p:tav>
                            <p:tav tm="100000">
                              <p:val>
                                <p:fltVal val="0"/>
                              </p:val>
                            </p:tav>
                          </p:tavLst>
                        </p:anim>
                      </p:childTnLst>
                    </p:cTn>
                  </p:par>
                  <p:par>
                    <p:cTn id="7" presetID="10" presetClass="entr" presetSubtype="0" fill="hold" grpId="0" nodeType="afterEffect">
                      <p:stCondLst>
                        <p:cond delay="150"/>
                      </p:stCondLst>
                      <p:childTnLst>
                        <p:set>
                          <p:cBhvr>
                            <p:cTn id="8" dur="1" fill="hold">
                              <p:stCondLst>
                                <p:cond delay="0"/>
                              </p:stCondLst>
                            </p:cTn>
                            <p:tgtEl>
                              <p:spTgt spid="200967879"/>
                            </p:tgtEl>
                            <p:attrNameLst>
                              <p:attrName>style.visibility</p:attrName>
                            </p:attrNameLst>
                          </p:cBhvr>
                          <p:to>
                            <p:strVal val="visible"/>
                          </p:to>
                        </p:set>
                        <p:animEffect transition="in" filter="fade">
                          <p:cBhvr>
                            <p:cTn id="9" dur="400"/>
                            <p:tgtEl>
                              <p:spTgt spid="200967879"/>
                            </p:tgtEl>
                          </p:cBhvr>
                        </p:animEffect>
                        <p:anim calcmode="lin" valueType="num">
                          <p:cBhvr additive="base">
                            <p:cTn id="10" dur="400" fill="hold"/>
                            <p:tgtEl>
                              <p:spTgt spid="200967879"/>
                            </p:tgtEl>
                            <p:attrNameLst>
                              <p:attrName>ppt_y</p:attrName>
                            </p:attrNameLst>
                          </p:cBhvr>
                          <p:tavLst>
                            <p:tav tm="0">
                              <p:val>
                                <p:fltVal val="0.045999999999999999"/>
                              </p:val>
                            </p:tav>
                            <p:tav tm="100000">
                              <p:val>
                                <p:fltVal val="0"/>
                              </p:val>
                            </p:tav>
                          </p:tavLst>
                        </p:anim>
                      </p:childTnLst>
                    </p:cTn>
                  </p:par>
                  <p:par>
                    <p:cTn id="11" presetID="10" presetClass="entr" presetSubtype="0" fill="hold" grpId="0" nodeType="afterEffect">
                      <p:stCondLst>
                        <p:cond delay="150"/>
                      </p:stCondLst>
                      <p:childTnLst>
                        <p:set>
                          <p:cBhvr>
                            <p:cTn id="12" dur="1" fill="hold">
                              <p:stCondLst>
                                <p:cond delay="0"/>
                              </p:stCondLst>
                            </p:cTn>
                            <p:tgtEl>
                              <p:spTgt spid="359580571"/>
                            </p:tgtEl>
                            <p:attrNameLst>
                              <p:attrName>style.visibility</p:attrName>
                            </p:attrNameLst>
                          </p:cBhvr>
                          <p:to>
                            <p:strVal val="visible"/>
                          </p:to>
                        </p:set>
                        <p:animEffect transition="in" filter="fade">
                          <p:cBhvr>
                            <p:cTn id="13" dur="400"/>
                            <p:tgtEl>
                              <p:spTgt spid="359580571"/>
                            </p:tgtEl>
                          </p:cBhvr>
                        </p:animEffect>
                        <p:anim calcmode="lin" valueType="num">
                          <p:cBhvr additive="base">
                            <p:cTn id="14" dur="400" fill="hold"/>
                            <p:tgtEl>
                              <p:spTgt spid="359580571"/>
                            </p:tgtEl>
                            <p:attrNameLst>
                              <p:attrName>ppt_y</p:attrName>
                            </p:attrNameLst>
                          </p:cBhvr>
                          <p:tavLst>
                            <p:tav tm="0">
                              <p:val>
                                <p:fltVal val="0.045999999999999999"/>
                              </p:val>
                            </p:tav>
                            <p:tav tm="100000">
                              <p:val>
                                <p:fltVal val="0"/>
                              </p:val>
                            </p:tav>
                          </p:tavLst>
                        </p:anim>
                      </p:childTnLst>
                    </p:cTn>
                  </p:par>
                  <p:par>
                    <p:cTn id="15" presetID="10" presetClass="entr" presetSubtype="0" fill="hold" grpId="0" nodeType="afterEffect">
                      <p:stCondLst>
                        <p:cond delay="150"/>
                      </p:stCondLst>
                      <p:childTnLst>
                        <p:set>
                          <p:cBhvr>
                            <p:cTn id="16" dur="1" fill="hold">
                              <p:stCondLst>
                                <p:cond delay="0"/>
                              </p:stCondLst>
                            </p:cTn>
                            <p:tgtEl>
                              <p:spTgt spid="1308494655"/>
                            </p:tgtEl>
                            <p:attrNameLst>
                              <p:attrName>style.visibility</p:attrName>
                            </p:attrNameLst>
                          </p:cBhvr>
                          <p:to>
                            <p:strVal val="visible"/>
                          </p:to>
                        </p:set>
                        <p:animEffect transition="in" filter="fade">
                          <p:cBhvr>
                            <p:cTn id="17" dur="400"/>
                            <p:tgtEl>
                              <p:spTgt spid="1308494655"/>
                            </p:tgtEl>
                          </p:cBhvr>
                        </p:animEffect>
                        <p:anim calcmode="lin" valueType="num">
                          <p:cBhvr additive="base">
                            <p:cTn id="18" dur="400" fill="hold"/>
                            <p:tgtEl>
                              <p:spTgt spid="1308494655"/>
                            </p:tgtEl>
                            <p:attrNameLst>
                              <p:attrName>ppt_y</p:attrName>
                            </p:attrNameLst>
                          </p:cBhvr>
                          <p:tavLst>
                            <p:tav tm="0">
                              <p:val>
                                <p:fltVal val="0.045999999999999999"/>
                              </p:val>
                            </p:tav>
                            <p:tav tm="100000">
                              <p:val>
                                <p:fltVal val="0"/>
                              </p:val>
                            </p:tav>
                          </p:tavLst>
                        </p:anim>
                      </p:childTnLst>
                    </p:cTn>
                  </p:par>
                  <p:par>
                    <p:cTn id="19" presetID="10" presetClass="entr" presetSubtype="0" fill="hold" grpId="0" nodeType="afterEffect">
                      <p:stCondLst>
                        <p:cond delay="150"/>
                      </p:stCondLst>
                      <p:childTnLst>
                        <p:set>
                          <p:cBhvr>
                            <p:cTn id="20" dur="1" fill="hold">
                              <p:stCondLst>
                                <p:cond delay="0"/>
                              </p:stCondLst>
                            </p:cTn>
                            <p:tgtEl>
                              <p:spTgt spid="1838912676"/>
                            </p:tgtEl>
                            <p:attrNameLst>
                              <p:attrName>style.visibility</p:attrName>
                            </p:attrNameLst>
                          </p:cBhvr>
                          <p:to>
                            <p:strVal val="visible"/>
                          </p:to>
                        </p:set>
                        <p:animEffect transition="in" filter="fade">
                          <p:cBhvr>
                            <p:cTn id="21" dur="400"/>
                            <p:tgtEl>
                              <p:spTgt spid="1838912676"/>
                            </p:tgtEl>
                          </p:cBhvr>
                        </p:animEffect>
                        <p:anim calcmode="lin" valueType="num">
                          <p:cBhvr additive="base">
                            <p:cTn id="22" dur="400" fill="hold"/>
                            <p:tgtEl>
                              <p:spTgt spid="1838912676"/>
                            </p:tgtEl>
                            <p:attrNameLst>
                              <p:attrName>ppt_y</p:attrName>
                            </p:attrNameLst>
                          </p:cBhvr>
                          <p:tavLst>
                            <p:tav tm="0">
                              <p:val>
                                <p:fltVal val="0.045999999999999999"/>
                              </p:val>
                            </p:tav>
                            <p:tav tm="100000">
                              <p:val>
                                <p:fltVal val="0"/>
                              </p:val>
                            </p:tav>
                          </p:tavLst>
                        </p:anim>
                      </p:childTnLst>
                    </p:cTn>
                  </p:par>
                  <p:par>
                    <p:cTn id="23" presetID="10" presetClass="entr" presetSubtype="0" fill="hold" grpId="0" nodeType="afterEffect">
                      <p:stCondLst>
                        <p:cond delay="150"/>
                      </p:stCondLst>
                      <p:childTnLst>
                        <p:set>
                          <p:cBhvr>
                            <p:cTn id="24" dur="1" fill="hold">
                              <p:stCondLst>
                                <p:cond delay="0"/>
                              </p:stCondLst>
                            </p:cTn>
                            <p:tgtEl>
                              <p:spTgt spid="820455868"/>
                            </p:tgtEl>
                            <p:attrNameLst>
                              <p:attrName>style.visibility</p:attrName>
                            </p:attrNameLst>
                          </p:cBhvr>
                          <p:to>
                            <p:strVal val="visible"/>
                          </p:to>
                        </p:set>
                        <p:animEffect transition="in" filter="fade">
                          <p:cBhvr>
                            <p:cTn id="25" dur="400"/>
                            <p:tgtEl>
                              <p:spTgt spid="820455868"/>
                            </p:tgtEl>
                          </p:cBhvr>
                        </p:animEffect>
                        <p:anim calcmode="lin" valueType="num">
                          <p:cBhvr additive="base">
                            <p:cTn id="26" dur="400" fill="hold"/>
                            <p:tgtEl>
                              <p:spTgt spid="820455868"/>
                            </p:tgtEl>
                            <p:attrNameLst>
                              <p:attrName>ppt_y</p:attrName>
                            </p:attrNameLst>
                          </p:cBhvr>
                          <p:tavLst>
                            <p:tav tm="0">
                              <p:val>
                                <p:fltVal val="0.045999999999999999"/>
                              </p:val>
                            </p:tav>
                            <p:tav tm="100000">
                              <p:val>
                                <p:fltVal val="0"/>
                              </p:val>
                            </p:tav>
                          </p:tavLst>
                        </p:anim>
                      </p:childTnLst>
                    </p:cTn>
                  </p:par>
                  <p:par>
                    <p:cTn id="31" presetID="10" presetClass="entr" presetSubtype="0" fill="hold" grpId="0" nodeType="afterEffect">
                      <p:stCondLst>
                        <p:cond delay="150"/>
                      </p:stCondLst>
                      <p:childTnLst>
                        <p:set>
                          <p:cBhvr>
                            <p:cTn id="32" dur="1" fill="hold">
                              <p:stCondLst>
                                <p:cond delay="0"/>
                              </p:stCondLst>
                            </p:cTn>
                            <p:tgtEl>
                              <p:spTgt spid="856418785"/>
                            </p:tgtEl>
                            <p:attrNameLst>
                              <p:attrName>style.visibility</p:attrName>
                            </p:attrNameLst>
                          </p:cBhvr>
                          <p:to>
                            <p:strVal val="visible"/>
                          </p:to>
                        </p:set>
                        <p:animEffect transition="in" filter="fade">
                          <p:cBhvr>
                            <p:cTn id="33" dur="400"/>
                            <p:tgtEl>
                              <p:spTgt spid="856418785"/>
                            </p:tgtEl>
                          </p:cBhvr>
                        </p:animEffect>
                        <p:anim calcmode="lin" valueType="num">
                          <p:cBhvr additive="base">
                            <p:cTn id="34" dur="400" fill="hold"/>
                            <p:tgtEl>
                              <p:spTgt spid="856418785"/>
                            </p:tgtEl>
                            <p:attrNameLst>
                              <p:attrName>ppt_y</p:attrName>
                            </p:attrNameLst>
                          </p:cBhvr>
                          <p:tavLst>
                            <p:tav tm="0">
                              <p:val>
                                <p:fltVal val="0.045999999999999999"/>
                              </p:val>
                            </p:tav>
                            <p:tav tm="100000">
                              <p:val>
                                <p:fltVal val="0"/>
                              </p:val>
                            </p:tav>
                          </p:tavLst>
                        </p:anim>
                      </p:childTnLst>
                    </p:cTn>
                  </p:par>
                </p:childTnLst>
              </p:cTn>
            </p:par>
          </p:childTnLst>
        </p:cTn>
      </p:par>
    </p:tnLst>
    <p:bldLst>
      <p:bldP spid="1119786807" grpId="0" animBg="1"/>
      <p:bldP spid="200967879" grpId="0" animBg="1"/>
      <p:bldP spid="359580571" grpId="0" animBg="1"/>
      <p:bldP spid="1308494655" grpId="0" animBg="1"/>
      <p:bldP spid="1838912676" grpId="0" animBg="1"/>
      <p:bldP spid="820455868" grpId="0" animBg="1"/>
      <p:bldP spid="856418785" grpId="0" animBg="1"/>
    </p:bldLst>
  </p:timing>
</p:sld>
</file>

<file path=ppt/slides/slide2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167304717" name="Eyebrow"/>
          <p:cNvSpPr txBox="1"/>
          <p:nvPr/>
        </p:nvSpPr>
        <p:spPr bwMode="auto">
          <a:xfrm>
            <a:off x="914400" y="584200"/>
            <a:ext cx="9144000" cy="254000"/>
          </a:xfrm>
          <a:prstGeom prst="rect">
            <a:avLst/>
          </a:prstGeom>
          <a:noFill/>
          <a:ln>
            <a:noFill/>
          </a:ln>
        </p:spPr>
        <p:txBody>
          <a:bodyPr wrap="square" lIns="0" tIns="0" rIns="0" bIns="0" anchor="t">
            <a:normAutofit/>
          </a:bodyPr>
          <a:lstStyle/>
          <a:p>
            <a:pPr>
              <a:buNone/>
              <a:defRPr/>
            </a:pPr>
            <a:r>
              <a:rPr lang="fr-FR" sz="1400" b="1" spc="240">
                <a:solidFill>
                  <a:srgbClr val="64748B"/>
                </a:solidFill>
              </a:rPr>
              <a:t>05 · MACHINE LEARNING</a:t>
            </a:r>
            <a:endParaRPr/>
          </a:p>
        </p:txBody>
      </p:sp>
      <p:sp>
        <p:nvSpPr>
          <p:cNvPr id="323822963" name="Titre"/>
          <p:cNvSpPr txBox="1"/>
          <p:nvPr/>
        </p:nvSpPr>
        <p:spPr bwMode="auto">
          <a:xfrm>
            <a:off x="914400" y="863599"/>
            <a:ext cx="10363200" cy="508000"/>
          </a:xfrm>
          <a:prstGeom prst="rect">
            <a:avLst/>
          </a:prstGeom>
          <a:noFill/>
          <a:ln>
            <a:noFill/>
          </a:ln>
        </p:spPr>
        <p:txBody>
          <a:bodyPr wrap="square" lIns="0" tIns="0" rIns="0" bIns="0" anchor="t">
            <a:normAutofit/>
          </a:bodyPr>
          <a:lstStyle/>
          <a:p>
            <a:pPr>
              <a:buNone/>
              <a:defRPr/>
            </a:pPr>
            <a:r>
              <a:rPr lang="fr-FR" sz="3000">
                <a:solidFill>
                  <a:srgbClr val="0B1F3A"/>
                </a:solidFill>
                <a:latin typeface="Segoe UI Semibold"/>
              </a:rPr>
              <a:t>Courbes d'apprentissage</a:t>
            </a:r>
            <a:endParaRPr/>
          </a:p>
        </p:txBody>
      </p:sp>
      <p:sp>
        <p:nvSpPr>
          <p:cNvPr id="1758888860" name="Filet"/>
          <p:cNvSpPr/>
          <p:nvPr/>
        </p:nvSpPr>
        <p:spPr bwMode="auto">
          <a:xfrm>
            <a:off x="914400" y="1473200"/>
            <a:ext cx="685800" cy="50800"/>
          </a:xfrm>
          <a:prstGeom prst="rect">
            <a:avLst/>
          </a:prstGeom>
          <a:solidFill>
            <a:srgbClr val="2563EB"/>
          </a:solidFill>
          <a:ln>
            <a:noFill/>
          </a:ln>
        </p:spPr>
        <p:txBody>
          <a:bodyPr wrap="square" lIns="0" tIns="0" rIns="0" bIns="0" anchor="t">
            <a:normAutofit/>
          </a:bodyPr>
          <a:lstStyle/>
          <a:p>
            <a:pPr>
              <a:defRPr/>
            </a:pPr>
            <a:endParaRPr/>
          </a:p>
        </p:txBody>
      </p:sp>
      <p:sp>
        <p:nvSpPr>
          <p:cNvPr id="1767667885" name="stat"/>
          <p:cNvSpPr/>
          <p:nvPr/>
        </p:nvSpPr>
        <p:spPr bwMode="auto">
          <a:xfrm>
            <a:off x="7188200" y="2006600"/>
            <a:ext cx="1981200" cy="1651000"/>
          </a:xfrm>
          <a:prstGeom prst="roundRect">
            <a:avLst>
              <a:gd name="adj" fmla="val 9000"/>
            </a:avLst>
          </a:prstGeom>
          <a:solidFill>
            <a:srgbClr val="FFFFFF"/>
          </a:solidFill>
          <a:ln w="9525">
            <a:solidFill>
              <a:srgbClr val="E2E8F0"/>
            </a:solidFill>
          </a:ln>
        </p:spPr>
        <p:txBody>
          <a:bodyPr wrap="square" lIns="152400" tIns="152400" rIns="152400" bIns="152400" anchor="ctr">
            <a:normAutofit/>
          </a:bodyPr>
          <a:lstStyle/>
          <a:p>
            <a:pPr algn="ctr">
              <a:buNone/>
              <a:defRPr/>
            </a:pPr>
            <a:r>
              <a:rPr lang="fr-FR" sz="3200" b="1">
                <a:solidFill>
                  <a:srgbClr val="0B1F3A"/>
                </a:solidFill>
                <a:latin typeface="Segoe UI Semibold"/>
              </a:rPr>
              <a:t>82,3 %</a:t>
            </a:r>
            <a:endParaRPr/>
          </a:p>
          <a:p>
            <a:pPr algn="ctr">
              <a:spcBef>
                <a:spcPts val="400"/>
              </a:spcBef>
              <a:buNone/>
              <a:defRPr/>
            </a:pPr>
            <a:r>
              <a:rPr lang="fr-FR" sz="1400">
                <a:solidFill>
                  <a:srgbClr val="64748B"/>
                </a:solidFill>
              </a:rPr>
              <a:t>Entraînement</a:t>
            </a:r>
            <a:endParaRPr/>
          </a:p>
        </p:txBody>
      </p:sp>
      <p:sp>
        <p:nvSpPr>
          <p:cNvPr id="1207685278" name="stat"/>
          <p:cNvSpPr/>
          <p:nvPr/>
        </p:nvSpPr>
        <p:spPr bwMode="auto">
          <a:xfrm>
            <a:off x="9296400" y="2006600"/>
            <a:ext cx="1981200" cy="1651000"/>
          </a:xfrm>
          <a:prstGeom prst="roundRect">
            <a:avLst>
              <a:gd name="adj" fmla="val 9000"/>
            </a:avLst>
          </a:prstGeom>
          <a:solidFill>
            <a:srgbClr val="FFFFFF"/>
          </a:solidFill>
          <a:ln w="9525">
            <a:solidFill>
              <a:srgbClr val="E2E8F0"/>
            </a:solidFill>
          </a:ln>
        </p:spPr>
        <p:txBody>
          <a:bodyPr wrap="square" lIns="152400" tIns="152400" rIns="152400" bIns="152400" anchor="ctr">
            <a:normAutofit/>
          </a:bodyPr>
          <a:lstStyle/>
          <a:p>
            <a:pPr algn="ctr">
              <a:buNone/>
              <a:defRPr/>
            </a:pPr>
            <a:r>
              <a:rPr lang="fr-FR" sz="3200" b="1">
                <a:solidFill>
                  <a:srgbClr val="2563EB"/>
                </a:solidFill>
                <a:latin typeface="Segoe UI Semibold"/>
              </a:rPr>
              <a:t>75,8 %</a:t>
            </a:r>
            <a:endParaRPr/>
          </a:p>
          <a:p>
            <a:pPr algn="ctr">
              <a:spcBef>
                <a:spcPts val="400"/>
              </a:spcBef>
              <a:buNone/>
              <a:defRPr/>
            </a:pPr>
            <a:r>
              <a:rPr lang="fr-FR" sz="1400">
                <a:solidFill>
                  <a:srgbClr val="64748B"/>
                </a:solidFill>
              </a:rPr>
              <a:t>Validation</a:t>
            </a:r>
            <a:endParaRPr/>
          </a:p>
        </p:txBody>
      </p:sp>
      <p:sp>
        <p:nvSpPr>
          <p:cNvPr id="568458905" name="Bullets"/>
          <p:cNvSpPr txBox="1"/>
          <p:nvPr/>
        </p:nvSpPr>
        <p:spPr bwMode="auto">
          <a:xfrm>
            <a:off x="7188200" y="3911600"/>
            <a:ext cx="4089400" cy="1905000"/>
          </a:xfrm>
          <a:prstGeom prst="rect">
            <a:avLst/>
          </a:prstGeom>
          <a:noFill/>
          <a:ln>
            <a:noFill/>
          </a:ln>
        </p:spPr>
        <p:txBody>
          <a:bodyPr wrap="square" lIns="0" tIns="0" rIns="0" bIns="0" anchor="t">
            <a:normAutofit/>
          </a:bodyPr>
          <a:lstStyle/>
          <a:p>
            <a:pPr marL="285750" indent="-285750">
              <a:lnSpc>
                <a:spcPts val="2100"/>
              </a:lnSpc>
              <a:spcBef>
                <a:spcPts val="800"/>
              </a:spcBef>
              <a:buClr>
                <a:srgbClr val="2563EB"/>
              </a:buClr>
              <a:buFont typeface="Arial"/>
              <a:buChar char="•"/>
              <a:defRPr/>
            </a:pPr>
            <a:r>
              <a:rPr lang="fr-FR" sz="1600">
                <a:solidFill>
                  <a:srgbClr val="0B1F3A"/>
                </a:solidFill>
              </a:rPr>
              <a:t>Entraînement 82,3 % vs validation 75,8 %.</a:t>
            </a:r>
            <a:endParaRPr/>
          </a:p>
          <a:p>
            <a:pPr marL="285750" indent="-285750">
              <a:lnSpc>
                <a:spcPts val="2100"/>
              </a:lnSpc>
              <a:spcBef>
                <a:spcPts val="800"/>
              </a:spcBef>
              <a:buClr>
                <a:srgbClr val="2563EB"/>
              </a:buClr>
              <a:buFont typeface="Arial"/>
              <a:buChar char="•"/>
              <a:defRPr/>
            </a:pPr>
            <a:r>
              <a:rPr lang="fr-FR" sz="1600">
                <a:solidFill>
                  <a:srgbClr val="0B1F3A"/>
                </a:solidFill>
              </a:rPr>
              <a:t>Écart maîtrisé sur 100 itérations.</a:t>
            </a:r>
            <a:endParaRPr/>
          </a:p>
          <a:p>
            <a:pPr marL="285750" indent="-285750">
              <a:lnSpc>
                <a:spcPts val="2100"/>
              </a:lnSpc>
              <a:spcBef>
                <a:spcPts val="800"/>
              </a:spcBef>
              <a:buClr>
                <a:srgbClr val="2563EB"/>
              </a:buClr>
              <a:buFont typeface="Arial"/>
              <a:buChar char="•"/>
              <a:defRPr/>
            </a:pPr>
            <a:r>
              <a:rPr lang="fr-FR" sz="1600">
                <a:solidFill>
                  <a:srgbClr val="0B1F3A"/>
                </a:solidFill>
              </a:rPr>
              <a:t>Généralisation stable, sans divergence.</a:t>
            </a:r>
            <a:endParaRPr/>
          </a:p>
        </p:txBody>
      </p:sp>
      <p:sp>
        <p:nvSpPr>
          <p:cNvPr id="1615800480" name="Page"/>
          <p:cNvSpPr txBox="1"/>
          <p:nvPr/>
        </p:nvSpPr>
        <p:spPr bwMode="auto">
          <a:xfrm>
            <a:off x="10515600" y="6451600"/>
            <a:ext cx="914400" cy="254000"/>
          </a:xfrm>
          <a:prstGeom prst="rect">
            <a:avLst/>
          </a:prstGeom>
          <a:noFill/>
          <a:ln>
            <a:noFill/>
          </a:ln>
        </p:spPr>
        <p:txBody>
          <a:bodyPr wrap="square" lIns="0" tIns="0" rIns="0" bIns="0" anchor="t">
            <a:normAutofit/>
          </a:bodyPr>
          <a:lstStyle/>
          <a:p>
            <a:pPr algn="r">
              <a:buNone/>
              <a:defRPr/>
            </a:pPr>
            <a:r>
              <a:rPr lang="fr-FR" sz="1400">
                <a:solidFill>
                  <a:srgbClr val="64748B"/>
                </a:solidFill>
              </a:rPr>
              <a:t>23</a:t>
            </a:r>
            <a:endParaRPr/>
          </a:p>
        </p:txBody>
      </p:sp>
      <p:pic>
        <p:nvPicPr>
          <p:cNvPr id="726076334" name=""/>
          <p:cNvPicPr>
            <a:picLocks noChangeAspect="1"/>
          </p:cNvPicPr>
          <p:nvPr/>
        </p:nvPicPr>
        <p:blipFill rotWithShape="1">
          <a:blip r:embed="rId3"/>
          <a:stretch/>
        </p:blipFill>
        <p:spPr bwMode="auto">
          <a:xfrm flipH="0" flipV="0">
            <a:off x="134197" y="1630797"/>
            <a:ext cx="6926075" cy="2714168"/>
          </a:xfrm>
          <a:prstGeom prst="rect">
            <a:avLst/>
          </a:prstGeom>
        </p:spPr>
      </p:pic>
      <p:pic>
        <p:nvPicPr>
          <p:cNvPr id="585744910" name=""/>
          <p:cNvPicPr>
            <a:picLocks noChangeAspect="1"/>
          </p:cNvPicPr>
          <p:nvPr/>
        </p:nvPicPr>
        <p:blipFill rotWithShape="1">
          <a:blip r:embed="rId4"/>
          <a:stretch/>
        </p:blipFill>
        <p:spPr bwMode="auto">
          <a:xfrm flipH="0" flipV="0">
            <a:off x="134197" y="4123150"/>
            <a:ext cx="6926075" cy="2582449"/>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med" p14:dur="500" advClick="1">
        <p:fade thruBlk="0"/>
      </p:transition>
    </mc:Choice>
    <mc:Fallback>
      <p:transition spd="med" advClick="1">
        <p:fade thruBlk="0"/>
      </p:transition>
    </mc:Fallback>
  </mc:AlternateContent>
  <p:timing>
    <p:tnLst>
      <p:par>
        <p:cTn id="1" dur="indefinite" restart="never" nodeType="tmRoot">
          <p:childTnLst>
            <p:par>
              <p:cTn id="2" fill="hold">
                <p:stCondLst>
                  <p:cond delay="0"/>
                </p:stCondLst>
                <p:childTnLst>
                  <p:par>
                    <p:cTn id="3" presetID="10" presetClass="entr" presetSubtype="0" fill="hold" grpId="0" nodeType="afterEffect">
                      <p:stCondLst>
                        <p:cond delay="500"/>
                      </p:stCondLst>
                      <p:childTnLst>
                        <p:set>
                          <p:cBhvr>
                            <p:cTn id="4" dur="1" fill="hold">
                              <p:stCondLst>
                                <p:cond delay="0"/>
                              </p:stCondLst>
                            </p:cTn>
                            <p:tgtEl>
                              <p:spTgt spid="1167304717"/>
                            </p:tgtEl>
                            <p:attrNameLst>
                              <p:attrName>style.visibility</p:attrName>
                            </p:attrNameLst>
                          </p:cBhvr>
                          <p:to>
                            <p:strVal val="visible"/>
                          </p:to>
                        </p:set>
                        <p:animEffect transition="in" filter="fade">
                          <p:cBhvr>
                            <p:cTn id="5" dur="400"/>
                            <p:tgtEl>
                              <p:spTgt spid="1167304717"/>
                            </p:tgtEl>
                          </p:cBhvr>
                        </p:animEffect>
                        <p:anim calcmode="lin" valueType="num">
                          <p:cBhvr additive="base">
                            <p:cTn id="6" dur="400" fill="hold"/>
                            <p:tgtEl>
                              <p:spTgt spid="1167304717"/>
                            </p:tgtEl>
                            <p:attrNameLst>
                              <p:attrName>ppt_y</p:attrName>
                            </p:attrNameLst>
                          </p:cBhvr>
                          <p:tavLst>
                            <p:tav tm="0">
                              <p:val>
                                <p:fltVal val="0.045999999999999999"/>
                              </p:val>
                            </p:tav>
                            <p:tav tm="100000">
                              <p:val>
                                <p:fltVal val="0"/>
                              </p:val>
                            </p:tav>
                          </p:tavLst>
                        </p:anim>
                      </p:childTnLst>
                    </p:cTn>
                  </p:par>
                  <p:par>
                    <p:cTn id="7" presetID="10" presetClass="entr" presetSubtype="0" fill="hold" grpId="0" nodeType="afterEffect">
                      <p:stCondLst>
                        <p:cond delay="150"/>
                      </p:stCondLst>
                      <p:childTnLst>
                        <p:set>
                          <p:cBhvr>
                            <p:cTn id="8" dur="1" fill="hold">
                              <p:stCondLst>
                                <p:cond delay="0"/>
                              </p:stCondLst>
                            </p:cTn>
                            <p:tgtEl>
                              <p:spTgt spid="323822963"/>
                            </p:tgtEl>
                            <p:attrNameLst>
                              <p:attrName>style.visibility</p:attrName>
                            </p:attrNameLst>
                          </p:cBhvr>
                          <p:to>
                            <p:strVal val="visible"/>
                          </p:to>
                        </p:set>
                        <p:animEffect transition="in" filter="fade">
                          <p:cBhvr>
                            <p:cTn id="9" dur="400"/>
                            <p:tgtEl>
                              <p:spTgt spid="323822963"/>
                            </p:tgtEl>
                          </p:cBhvr>
                        </p:animEffect>
                        <p:anim calcmode="lin" valueType="num">
                          <p:cBhvr additive="base">
                            <p:cTn id="10" dur="400" fill="hold"/>
                            <p:tgtEl>
                              <p:spTgt spid="323822963"/>
                            </p:tgtEl>
                            <p:attrNameLst>
                              <p:attrName>ppt_y</p:attrName>
                            </p:attrNameLst>
                          </p:cBhvr>
                          <p:tavLst>
                            <p:tav tm="0">
                              <p:val>
                                <p:fltVal val="0.045999999999999999"/>
                              </p:val>
                            </p:tav>
                            <p:tav tm="100000">
                              <p:val>
                                <p:fltVal val="0"/>
                              </p:val>
                            </p:tav>
                          </p:tavLst>
                        </p:anim>
                      </p:childTnLst>
                    </p:cTn>
                  </p:par>
                  <p:par>
                    <p:cTn id="11" presetID="10" presetClass="entr" presetSubtype="0" fill="hold" grpId="0" nodeType="afterEffect">
                      <p:stCondLst>
                        <p:cond delay="150"/>
                      </p:stCondLst>
                      <p:childTnLst>
                        <p:set>
                          <p:cBhvr>
                            <p:cTn id="12" dur="1" fill="hold">
                              <p:stCondLst>
                                <p:cond delay="0"/>
                              </p:stCondLst>
                            </p:cTn>
                            <p:tgtEl>
                              <p:spTgt spid="1758888860"/>
                            </p:tgtEl>
                            <p:attrNameLst>
                              <p:attrName>style.visibility</p:attrName>
                            </p:attrNameLst>
                          </p:cBhvr>
                          <p:to>
                            <p:strVal val="visible"/>
                          </p:to>
                        </p:set>
                        <p:animEffect transition="in" filter="fade">
                          <p:cBhvr>
                            <p:cTn id="13" dur="400"/>
                            <p:tgtEl>
                              <p:spTgt spid="1758888860"/>
                            </p:tgtEl>
                          </p:cBhvr>
                        </p:animEffect>
                        <p:anim calcmode="lin" valueType="num">
                          <p:cBhvr additive="base">
                            <p:cTn id="14" dur="400" fill="hold"/>
                            <p:tgtEl>
                              <p:spTgt spid="1758888860"/>
                            </p:tgtEl>
                            <p:attrNameLst>
                              <p:attrName>ppt_y</p:attrName>
                            </p:attrNameLst>
                          </p:cBhvr>
                          <p:tavLst>
                            <p:tav tm="0">
                              <p:val>
                                <p:fltVal val="0.045999999999999999"/>
                              </p:val>
                            </p:tav>
                            <p:tav tm="100000">
                              <p:val>
                                <p:fltVal val="0"/>
                              </p:val>
                            </p:tav>
                          </p:tavLst>
                        </p:anim>
                      </p:childTnLst>
                    </p:cTn>
                  </p:par>
                  <p:par>
                    <p:cTn id="19" presetID="10" presetClass="entr" presetSubtype="0" fill="hold" grpId="0" nodeType="afterEffect">
                      <p:stCondLst>
                        <p:cond delay="150"/>
                      </p:stCondLst>
                      <p:childTnLst>
                        <p:set>
                          <p:cBhvr>
                            <p:cTn id="20" dur="1" fill="hold">
                              <p:stCondLst>
                                <p:cond delay="0"/>
                              </p:stCondLst>
                            </p:cTn>
                            <p:tgtEl>
                              <p:spTgt spid="1767667885"/>
                            </p:tgtEl>
                            <p:attrNameLst>
                              <p:attrName>style.visibility</p:attrName>
                            </p:attrNameLst>
                          </p:cBhvr>
                          <p:to>
                            <p:strVal val="visible"/>
                          </p:to>
                        </p:set>
                        <p:animEffect transition="in" filter="fade">
                          <p:cBhvr>
                            <p:cTn id="21" dur="400"/>
                            <p:tgtEl>
                              <p:spTgt spid="1767667885"/>
                            </p:tgtEl>
                          </p:cBhvr>
                        </p:animEffect>
                        <p:anim calcmode="lin" valueType="num">
                          <p:cBhvr additive="base">
                            <p:cTn id="22" dur="400" fill="hold"/>
                            <p:tgtEl>
                              <p:spTgt spid="1767667885"/>
                            </p:tgtEl>
                            <p:attrNameLst>
                              <p:attrName>ppt_y</p:attrName>
                            </p:attrNameLst>
                          </p:cBhvr>
                          <p:tavLst>
                            <p:tav tm="0">
                              <p:val>
                                <p:fltVal val="0.045999999999999999"/>
                              </p:val>
                            </p:tav>
                            <p:tav tm="100000">
                              <p:val>
                                <p:fltVal val="0"/>
                              </p:val>
                            </p:tav>
                          </p:tavLst>
                        </p:anim>
                      </p:childTnLst>
                    </p:cTn>
                  </p:par>
                  <p:par>
                    <p:cTn id="23" presetID="10" presetClass="entr" presetSubtype="0" fill="hold" grpId="0" nodeType="afterEffect">
                      <p:stCondLst>
                        <p:cond delay="150"/>
                      </p:stCondLst>
                      <p:childTnLst>
                        <p:set>
                          <p:cBhvr>
                            <p:cTn id="24" dur="1" fill="hold">
                              <p:stCondLst>
                                <p:cond delay="0"/>
                              </p:stCondLst>
                            </p:cTn>
                            <p:tgtEl>
                              <p:spTgt spid="1207685278"/>
                            </p:tgtEl>
                            <p:attrNameLst>
                              <p:attrName>style.visibility</p:attrName>
                            </p:attrNameLst>
                          </p:cBhvr>
                          <p:to>
                            <p:strVal val="visible"/>
                          </p:to>
                        </p:set>
                        <p:animEffect transition="in" filter="fade">
                          <p:cBhvr>
                            <p:cTn id="25" dur="400"/>
                            <p:tgtEl>
                              <p:spTgt spid="1207685278"/>
                            </p:tgtEl>
                          </p:cBhvr>
                        </p:animEffect>
                        <p:anim calcmode="lin" valueType="num">
                          <p:cBhvr additive="base">
                            <p:cTn id="26" dur="400" fill="hold"/>
                            <p:tgtEl>
                              <p:spTgt spid="1207685278"/>
                            </p:tgtEl>
                            <p:attrNameLst>
                              <p:attrName>ppt_y</p:attrName>
                            </p:attrNameLst>
                          </p:cBhvr>
                          <p:tavLst>
                            <p:tav tm="0">
                              <p:val>
                                <p:fltVal val="0.045999999999999999"/>
                              </p:val>
                            </p:tav>
                            <p:tav tm="100000">
                              <p:val>
                                <p:fltVal val="0"/>
                              </p:val>
                            </p:tav>
                          </p:tavLst>
                        </p:anim>
                      </p:childTnLst>
                    </p:cTn>
                  </p:par>
                  <p:par>
                    <p:cTn id="27" presetID="10" presetClass="entr" presetSubtype="0" fill="hold" grpId="0" nodeType="afterEffect">
                      <p:stCondLst>
                        <p:cond delay="150"/>
                      </p:stCondLst>
                      <p:childTnLst>
                        <p:set>
                          <p:cBhvr>
                            <p:cTn id="28" dur="1" fill="hold">
                              <p:stCondLst>
                                <p:cond delay="0"/>
                              </p:stCondLst>
                            </p:cTn>
                            <p:tgtEl>
                              <p:spTgt spid="568458905"/>
                            </p:tgtEl>
                            <p:attrNameLst>
                              <p:attrName>style.visibility</p:attrName>
                            </p:attrNameLst>
                          </p:cBhvr>
                          <p:to>
                            <p:strVal val="visible"/>
                          </p:to>
                        </p:set>
                        <p:animEffect transition="in" filter="fade">
                          <p:cBhvr>
                            <p:cTn id="29" dur="400"/>
                            <p:tgtEl>
                              <p:spTgt spid="568458905"/>
                            </p:tgtEl>
                          </p:cBhvr>
                        </p:animEffect>
                        <p:anim calcmode="lin" valueType="num">
                          <p:cBhvr additive="base">
                            <p:cTn id="30" dur="400" fill="hold"/>
                            <p:tgtEl>
                              <p:spTgt spid="568458905"/>
                            </p:tgtEl>
                            <p:attrNameLst>
                              <p:attrName>ppt_y</p:attrName>
                            </p:attrNameLst>
                          </p:cBhvr>
                          <p:tavLst>
                            <p:tav tm="0">
                              <p:val>
                                <p:fltVal val="0.045999999999999999"/>
                              </p:val>
                            </p:tav>
                            <p:tav tm="100000">
                              <p:val>
                                <p:fltVal val="0"/>
                              </p:val>
                            </p:tav>
                          </p:tavLst>
                        </p:anim>
                      </p:childTnLst>
                    </p:cTn>
                  </p:par>
                  <p:par>
                    <p:cTn id="31" presetID="10" presetClass="entr" presetSubtype="0" fill="hold" grpId="0" nodeType="afterEffect">
                      <p:stCondLst>
                        <p:cond delay="150"/>
                      </p:stCondLst>
                      <p:childTnLst>
                        <p:set>
                          <p:cBhvr>
                            <p:cTn id="32" dur="1" fill="hold">
                              <p:stCondLst>
                                <p:cond delay="0"/>
                              </p:stCondLst>
                            </p:cTn>
                            <p:tgtEl>
                              <p:spTgt spid="1615800480"/>
                            </p:tgtEl>
                            <p:attrNameLst>
                              <p:attrName>style.visibility</p:attrName>
                            </p:attrNameLst>
                          </p:cBhvr>
                          <p:to>
                            <p:strVal val="visible"/>
                          </p:to>
                        </p:set>
                        <p:animEffect transition="in" filter="fade">
                          <p:cBhvr>
                            <p:cTn id="33" dur="400"/>
                            <p:tgtEl>
                              <p:spTgt spid="1615800480"/>
                            </p:tgtEl>
                          </p:cBhvr>
                        </p:animEffect>
                        <p:anim calcmode="lin" valueType="num">
                          <p:cBhvr additive="base">
                            <p:cTn id="34" dur="400" fill="hold"/>
                            <p:tgtEl>
                              <p:spTgt spid="1615800480"/>
                            </p:tgtEl>
                            <p:attrNameLst>
                              <p:attrName>ppt_y</p:attrName>
                            </p:attrNameLst>
                          </p:cBhvr>
                          <p:tavLst>
                            <p:tav tm="0">
                              <p:val>
                                <p:fltVal val="0.045999999999999999"/>
                              </p:val>
                            </p:tav>
                            <p:tav tm="100000">
                              <p:val>
                                <p:fltVal val="0"/>
                              </p:val>
                            </p:tav>
                          </p:tavLst>
                        </p:anim>
                      </p:childTnLst>
                    </p:cTn>
                  </p:par>
                </p:childTnLst>
              </p:cTn>
            </p:par>
          </p:childTnLst>
        </p:cTn>
      </p:par>
    </p:tnLst>
    <p:bldLst>
      <p:bldP spid="1167304717" grpId="0" animBg="1"/>
      <p:bldP spid="323822963" grpId="0" animBg="1"/>
      <p:bldP spid="1758888860" grpId="0" animBg="1"/>
      <p:bldP spid="1767667885" grpId="0" animBg="1"/>
      <p:bldP spid="1207685278" grpId="0" animBg="1"/>
      <p:bldP spid="568458905" grpId="0" animBg="1"/>
      <p:bldP spid="1615800480" grpId="0" animBg="1"/>
    </p:bldLst>
  </p:timing>
</p:sld>
</file>

<file path=ppt/slides/slide2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586454131" name="Eyebrow"/>
          <p:cNvSpPr txBox="1"/>
          <p:nvPr/>
        </p:nvSpPr>
        <p:spPr bwMode="auto">
          <a:xfrm>
            <a:off x="914400" y="584200"/>
            <a:ext cx="9144000" cy="254000"/>
          </a:xfrm>
          <a:prstGeom prst="rect">
            <a:avLst/>
          </a:prstGeom>
          <a:noFill/>
          <a:ln>
            <a:noFill/>
          </a:ln>
        </p:spPr>
        <p:txBody>
          <a:bodyPr wrap="square" lIns="0" tIns="0" rIns="0" bIns="0" anchor="t">
            <a:normAutofit/>
          </a:bodyPr>
          <a:lstStyle/>
          <a:p>
            <a:pPr>
              <a:buNone/>
              <a:defRPr/>
            </a:pPr>
            <a:r>
              <a:rPr lang="fr-FR" sz="1400" b="1" spc="240">
                <a:solidFill>
                  <a:srgbClr val="64748B"/>
                </a:solidFill>
              </a:rPr>
              <a:t>06 · CONCLUSION</a:t>
            </a:r>
            <a:endParaRPr/>
          </a:p>
        </p:txBody>
      </p:sp>
      <p:sp>
        <p:nvSpPr>
          <p:cNvPr id="1141535767" name="Titre"/>
          <p:cNvSpPr txBox="1"/>
          <p:nvPr/>
        </p:nvSpPr>
        <p:spPr bwMode="auto">
          <a:xfrm>
            <a:off x="914400" y="863599"/>
            <a:ext cx="10363200" cy="508000"/>
          </a:xfrm>
          <a:prstGeom prst="rect">
            <a:avLst/>
          </a:prstGeom>
          <a:noFill/>
          <a:ln>
            <a:noFill/>
          </a:ln>
        </p:spPr>
        <p:txBody>
          <a:bodyPr wrap="square" lIns="0" tIns="0" rIns="0" bIns="0" anchor="t">
            <a:normAutofit/>
          </a:bodyPr>
          <a:lstStyle/>
          <a:p>
            <a:pPr>
              <a:buNone/>
              <a:defRPr/>
            </a:pPr>
            <a:r>
              <a:rPr lang="fr-FR" sz="3000">
                <a:solidFill>
                  <a:srgbClr val="0B1F3A"/>
                </a:solidFill>
                <a:latin typeface="Segoe UI Semibold"/>
              </a:rPr>
              <a:t>Résultats sur la Nouvelle-Aquitaine</a:t>
            </a:r>
            <a:endParaRPr/>
          </a:p>
        </p:txBody>
      </p:sp>
      <p:sp>
        <p:nvSpPr>
          <p:cNvPr id="1666727678" name="Filet"/>
          <p:cNvSpPr/>
          <p:nvPr/>
        </p:nvSpPr>
        <p:spPr bwMode="auto">
          <a:xfrm>
            <a:off x="914400" y="1473200"/>
            <a:ext cx="685800" cy="50800"/>
          </a:xfrm>
          <a:prstGeom prst="rect">
            <a:avLst/>
          </a:prstGeom>
          <a:solidFill>
            <a:srgbClr val="2563EB"/>
          </a:solidFill>
          <a:ln>
            <a:noFill/>
          </a:ln>
        </p:spPr>
        <p:txBody>
          <a:bodyPr wrap="square" lIns="0" tIns="0" rIns="0" bIns="0" anchor="t">
            <a:normAutofit/>
          </a:bodyPr>
          <a:lstStyle/>
          <a:p>
            <a:pPr>
              <a:defRPr/>
            </a:pPr>
            <a:endParaRPr/>
          </a:p>
        </p:txBody>
      </p:sp>
      <p:sp>
        <p:nvSpPr>
          <p:cNvPr id="795018376" name="Hero"/>
          <p:cNvSpPr txBox="1"/>
          <p:nvPr/>
        </p:nvSpPr>
        <p:spPr bwMode="auto">
          <a:xfrm>
            <a:off x="7814501" y="1981199"/>
            <a:ext cx="4089400" cy="1016000"/>
          </a:xfrm>
          <a:prstGeom prst="rect">
            <a:avLst/>
          </a:prstGeom>
          <a:noFill/>
          <a:ln>
            <a:noFill/>
          </a:ln>
        </p:spPr>
        <p:txBody>
          <a:bodyPr wrap="square" lIns="0" tIns="0" rIns="0" bIns="0" anchor="t">
            <a:normAutofit/>
          </a:bodyPr>
          <a:lstStyle/>
          <a:p>
            <a:pPr>
              <a:buNone/>
              <a:defRPr/>
            </a:pPr>
            <a:r>
              <a:rPr lang="fr-FR" sz="6000" b="1">
                <a:solidFill>
                  <a:srgbClr val="2563EB"/>
                </a:solidFill>
                <a:latin typeface="Segoe UI Semibold"/>
              </a:rPr>
              <a:t>10/12</a:t>
            </a:r>
            <a:endParaRPr/>
          </a:p>
        </p:txBody>
      </p:sp>
      <p:sp>
        <p:nvSpPr>
          <p:cNvPr id="244560582" name="HeroLab"/>
          <p:cNvSpPr txBox="1"/>
          <p:nvPr/>
        </p:nvSpPr>
        <p:spPr bwMode="auto">
          <a:xfrm>
            <a:off x="7814501" y="3047999"/>
            <a:ext cx="4089400" cy="304800"/>
          </a:xfrm>
          <a:prstGeom prst="rect">
            <a:avLst/>
          </a:prstGeom>
          <a:noFill/>
          <a:ln>
            <a:noFill/>
          </a:ln>
        </p:spPr>
        <p:txBody>
          <a:bodyPr wrap="square" lIns="0" tIns="0" rIns="0" bIns="0" anchor="t">
            <a:normAutofit/>
          </a:bodyPr>
          <a:lstStyle/>
          <a:p>
            <a:pPr>
              <a:buNone/>
              <a:defRPr/>
            </a:pPr>
            <a:r>
              <a:rPr lang="fr-FR" sz="1500">
                <a:solidFill>
                  <a:srgbClr val="64748B"/>
                </a:solidFill>
              </a:rPr>
              <a:t>Départements correctement prédits (83 %)</a:t>
            </a:r>
            <a:endParaRPr/>
          </a:p>
        </p:txBody>
      </p:sp>
      <p:sp>
        <p:nvSpPr>
          <p:cNvPr id="644164300" name="Bullets"/>
          <p:cNvSpPr txBox="1"/>
          <p:nvPr/>
        </p:nvSpPr>
        <p:spPr bwMode="auto">
          <a:xfrm>
            <a:off x="7814501" y="3530599"/>
            <a:ext cx="4089400" cy="2540000"/>
          </a:xfrm>
          <a:prstGeom prst="rect">
            <a:avLst/>
          </a:prstGeom>
          <a:noFill/>
          <a:ln>
            <a:noFill/>
          </a:ln>
        </p:spPr>
        <p:txBody>
          <a:bodyPr wrap="square" lIns="0" tIns="0" rIns="0" bIns="0" anchor="t">
            <a:normAutofit/>
          </a:bodyPr>
          <a:lstStyle/>
          <a:p>
            <a:pPr marL="285750" indent="-285750">
              <a:lnSpc>
                <a:spcPts val="2100"/>
              </a:lnSpc>
              <a:spcBef>
                <a:spcPts val="800"/>
              </a:spcBef>
              <a:buClr>
                <a:srgbClr val="2563EB"/>
              </a:buClr>
              <a:buFont typeface="Arial"/>
              <a:buChar char="•"/>
              <a:defRPr/>
            </a:pPr>
            <a:r>
              <a:rPr lang="fr-FR" sz="1600">
                <a:solidFill>
                  <a:srgbClr val="0B1F3A"/>
                </a:solidFill>
              </a:rPr>
              <a:t>2 erreurs : Gironde et Lot-et-Garonne.</a:t>
            </a:r>
            <a:endParaRPr/>
          </a:p>
          <a:p>
            <a:pPr marL="285750" indent="-285750">
              <a:lnSpc>
                <a:spcPts val="2100"/>
              </a:lnSpc>
              <a:spcBef>
                <a:spcPts val="800"/>
              </a:spcBef>
              <a:buClr>
                <a:srgbClr val="2563EB"/>
              </a:buClr>
              <a:buFont typeface="Arial"/>
              <a:buChar char="•"/>
              <a:defRPr/>
            </a:pPr>
            <a:r>
              <a:rPr lang="fr-FR" sz="1600">
                <a:solidFill>
                  <a:srgbClr val="0B1F3A"/>
                </a:solidFill>
              </a:rPr>
              <a:t>Zones atypiques : métropole bordelaise, dynamique rurale spécifique.</a:t>
            </a:r>
            <a:endParaRPr/>
          </a:p>
          <a:p>
            <a:pPr marL="285750" indent="-285750">
              <a:lnSpc>
                <a:spcPts val="2100"/>
              </a:lnSpc>
              <a:spcBef>
                <a:spcPts val="800"/>
              </a:spcBef>
              <a:buClr>
                <a:srgbClr val="2563EB"/>
              </a:buClr>
              <a:buFont typeface="Arial"/>
              <a:buChar char="•"/>
              <a:defRPr/>
            </a:pPr>
            <a:r>
              <a:rPr lang="fr-FR" sz="1600">
                <a:solidFill>
                  <a:srgbClr val="0B1F3A"/>
                </a:solidFill>
              </a:rPr>
              <a:t>Analyse honnête : marge de progrès identifiée.</a:t>
            </a:r>
            <a:endParaRPr/>
          </a:p>
        </p:txBody>
      </p:sp>
      <p:sp>
        <p:nvSpPr>
          <p:cNvPr id="1849953820" name="Page"/>
          <p:cNvSpPr txBox="1"/>
          <p:nvPr/>
        </p:nvSpPr>
        <p:spPr bwMode="auto">
          <a:xfrm>
            <a:off x="10515600" y="6451600"/>
            <a:ext cx="914400" cy="254000"/>
          </a:xfrm>
          <a:prstGeom prst="rect">
            <a:avLst/>
          </a:prstGeom>
          <a:noFill/>
          <a:ln>
            <a:noFill/>
          </a:ln>
        </p:spPr>
        <p:txBody>
          <a:bodyPr wrap="square" lIns="0" tIns="0" rIns="0" bIns="0" anchor="t">
            <a:normAutofit/>
          </a:bodyPr>
          <a:lstStyle/>
          <a:p>
            <a:pPr algn="r">
              <a:buNone/>
              <a:defRPr/>
            </a:pPr>
            <a:r>
              <a:rPr lang="fr-FR" sz="1400">
                <a:solidFill>
                  <a:srgbClr val="64748B"/>
                </a:solidFill>
              </a:rPr>
              <a:t>24</a:t>
            </a:r>
            <a:endParaRPr/>
          </a:p>
        </p:txBody>
      </p:sp>
      <p:pic>
        <p:nvPicPr>
          <p:cNvPr id="661257134" name=""/>
          <p:cNvPicPr>
            <a:picLocks noChangeAspect="1"/>
          </p:cNvPicPr>
          <p:nvPr/>
        </p:nvPicPr>
        <p:blipFill rotWithShape="1">
          <a:blip r:embed="rId3"/>
          <a:stretch/>
        </p:blipFill>
        <p:spPr bwMode="auto">
          <a:xfrm flipH="0" flipV="0">
            <a:off x="27431" y="1527174"/>
            <a:ext cx="7606951" cy="4924424"/>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med" p14:dur="500" advClick="1">
        <p:fade thruBlk="0"/>
      </p:transition>
    </mc:Choice>
    <mc:Fallback>
      <p:transition spd="med" advClick="1">
        <p:fade thruBlk="0"/>
      </p:transition>
    </mc:Fallback>
  </mc:AlternateContent>
  <p:timing>
    <p:tnLst>
      <p:par>
        <p:cTn id="1" dur="indefinite" restart="never" nodeType="tmRoot">
          <p:childTnLst>
            <p:par>
              <p:cTn id="2" fill="hold">
                <p:stCondLst>
                  <p:cond delay="0"/>
                </p:stCondLst>
                <p:childTnLst>
                  <p:par>
                    <p:cTn id="3" presetID="10" presetClass="entr" presetSubtype="0" fill="hold" grpId="0" nodeType="afterEffect">
                      <p:stCondLst>
                        <p:cond delay="500"/>
                      </p:stCondLst>
                      <p:childTnLst>
                        <p:set>
                          <p:cBhvr>
                            <p:cTn id="4" dur="1" fill="hold">
                              <p:stCondLst>
                                <p:cond delay="0"/>
                              </p:stCondLst>
                            </p:cTn>
                            <p:tgtEl>
                              <p:spTgt spid="1586454131"/>
                            </p:tgtEl>
                            <p:attrNameLst>
                              <p:attrName>style.visibility</p:attrName>
                            </p:attrNameLst>
                          </p:cBhvr>
                          <p:to>
                            <p:strVal val="visible"/>
                          </p:to>
                        </p:set>
                        <p:animEffect transition="in" filter="fade">
                          <p:cBhvr>
                            <p:cTn id="5" dur="400"/>
                            <p:tgtEl>
                              <p:spTgt spid="1586454131"/>
                            </p:tgtEl>
                          </p:cBhvr>
                        </p:animEffect>
                        <p:anim calcmode="lin" valueType="num">
                          <p:cBhvr additive="base">
                            <p:cTn id="6" dur="400" fill="hold"/>
                            <p:tgtEl>
                              <p:spTgt spid="1586454131"/>
                            </p:tgtEl>
                            <p:attrNameLst>
                              <p:attrName>ppt_y</p:attrName>
                            </p:attrNameLst>
                          </p:cBhvr>
                          <p:tavLst>
                            <p:tav tm="0">
                              <p:val>
                                <p:fltVal val="0.045999999999999999"/>
                              </p:val>
                            </p:tav>
                            <p:tav tm="100000">
                              <p:val>
                                <p:fltVal val="0"/>
                              </p:val>
                            </p:tav>
                          </p:tavLst>
                        </p:anim>
                      </p:childTnLst>
                    </p:cTn>
                  </p:par>
                  <p:par>
                    <p:cTn id="7" presetID="10" presetClass="entr" presetSubtype="0" fill="hold" grpId="0" nodeType="afterEffect">
                      <p:stCondLst>
                        <p:cond delay="150"/>
                      </p:stCondLst>
                      <p:childTnLst>
                        <p:set>
                          <p:cBhvr>
                            <p:cTn id="8" dur="1" fill="hold">
                              <p:stCondLst>
                                <p:cond delay="0"/>
                              </p:stCondLst>
                            </p:cTn>
                            <p:tgtEl>
                              <p:spTgt spid="1141535767"/>
                            </p:tgtEl>
                            <p:attrNameLst>
                              <p:attrName>style.visibility</p:attrName>
                            </p:attrNameLst>
                          </p:cBhvr>
                          <p:to>
                            <p:strVal val="visible"/>
                          </p:to>
                        </p:set>
                        <p:animEffect transition="in" filter="fade">
                          <p:cBhvr>
                            <p:cTn id="9" dur="400"/>
                            <p:tgtEl>
                              <p:spTgt spid="1141535767"/>
                            </p:tgtEl>
                          </p:cBhvr>
                        </p:animEffect>
                        <p:anim calcmode="lin" valueType="num">
                          <p:cBhvr additive="base">
                            <p:cTn id="10" dur="400" fill="hold"/>
                            <p:tgtEl>
                              <p:spTgt spid="1141535767"/>
                            </p:tgtEl>
                            <p:attrNameLst>
                              <p:attrName>ppt_y</p:attrName>
                            </p:attrNameLst>
                          </p:cBhvr>
                          <p:tavLst>
                            <p:tav tm="0">
                              <p:val>
                                <p:fltVal val="0.045999999999999999"/>
                              </p:val>
                            </p:tav>
                            <p:tav tm="100000">
                              <p:val>
                                <p:fltVal val="0"/>
                              </p:val>
                            </p:tav>
                          </p:tavLst>
                        </p:anim>
                      </p:childTnLst>
                    </p:cTn>
                  </p:par>
                  <p:par>
                    <p:cTn id="11" presetID="10" presetClass="entr" presetSubtype="0" fill="hold" grpId="0" nodeType="afterEffect">
                      <p:stCondLst>
                        <p:cond delay="150"/>
                      </p:stCondLst>
                      <p:childTnLst>
                        <p:set>
                          <p:cBhvr>
                            <p:cTn id="12" dur="1" fill="hold">
                              <p:stCondLst>
                                <p:cond delay="0"/>
                              </p:stCondLst>
                            </p:cTn>
                            <p:tgtEl>
                              <p:spTgt spid="1666727678"/>
                            </p:tgtEl>
                            <p:attrNameLst>
                              <p:attrName>style.visibility</p:attrName>
                            </p:attrNameLst>
                          </p:cBhvr>
                          <p:to>
                            <p:strVal val="visible"/>
                          </p:to>
                        </p:set>
                        <p:animEffect transition="in" filter="fade">
                          <p:cBhvr>
                            <p:cTn id="13" dur="400"/>
                            <p:tgtEl>
                              <p:spTgt spid="1666727678"/>
                            </p:tgtEl>
                          </p:cBhvr>
                        </p:animEffect>
                        <p:anim calcmode="lin" valueType="num">
                          <p:cBhvr additive="base">
                            <p:cTn id="14" dur="400" fill="hold"/>
                            <p:tgtEl>
                              <p:spTgt spid="1666727678"/>
                            </p:tgtEl>
                            <p:attrNameLst>
                              <p:attrName>ppt_y</p:attrName>
                            </p:attrNameLst>
                          </p:cBhvr>
                          <p:tavLst>
                            <p:tav tm="0">
                              <p:val>
                                <p:fltVal val="0.045999999999999999"/>
                              </p:val>
                            </p:tav>
                            <p:tav tm="100000">
                              <p:val>
                                <p:fltVal val="0"/>
                              </p:val>
                            </p:tav>
                          </p:tavLst>
                        </p:anim>
                      </p:childTnLst>
                    </p:cTn>
                  </p:par>
                  <p:par>
                    <p:cTn id="19" presetID="10" presetClass="entr" presetSubtype="0" fill="hold" grpId="0" nodeType="afterEffect">
                      <p:stCondLst>
                        <p:cond delay="150"/>
                      </p:stCondLst>
                      <p:childTnLst>
                        <p:set>
                          <p:cBhvr>
                            <p:cTn id="20" dur="1" fill="hold">
                              <p:stCondLst>
                                <p:cond delay="0"/>
                              </p:stCondLst>
                            </p:cTn>
                            <p:tgtEl>
                              <p:spTgt spid="795018376"/>
                            </p:tgtEl>
                            <p:attrNameLst>
                              <p:attrName>style.visibility</p:attrName>
                            </p:attrNameLst>
                          </p:cBhvr>
                          <p:to>
                            <p:strVal val="visible"/>
                          </p:to>
                        </p:set>
                        <p:animEffect transition="in" filter="fade">
                          <p:cBhvr>
                            <p:cTn id="21" dur="400"/>
                            <p:tgtEl>
                              <p:spTgt spid="795018376"/>
                            </p:tgtEl>
                          </p:cBhvr>
                        </p:animEffect>
                        <p:anim calcmode="lin" valueType="num">
                          <p:cBhvr additive="base">
                            <p:cTn id="22" dur="400" fill="hold"/>
                            <p:tgtEl>
                              <p:spTgt spid="795018376"/>
                            </p:tgtEl>
                            <p:attrNameLst>
                              <p:attrName>ppt_y</p:attrName>
                            </p:attrNameLst>
                          </p:cBhvr>
                          <p:tavLst>
                            <p:tav tm="0">
                              <p:val>
                                <p:fltVal val="0.045999999999999999"/>
                              </p:val>
                            </p:tav>
                            <p:tav tm="100000">
                              <p:val>
                                <p:fltVal val="0"/>
                              </p:val>
                            </p:tav>
                          </p:tavLst>
                        </p:anim>
                      </p:childTnLst>
                    </p:cTn>
                  </p:par>
                  <p:par>
                    <p:cTn id="23" presetID="10" presetClass="entr" presetSubtype="0" fill="hold" grpId="0" nodeType="afterEffect">
                      <p:stCondLst>
                        <p:cond delay="150"/>
                      </p:stCondLst>
                      <p:childTnLst>
                        <p:set>
                          <p:cBhvr>
                            <p:cTn id="24" dur="1" fill="hold">
                              <p:stCondLst>
                                <p:cond delay="0"/>
                              </p:stCondLst>
                            </p:cTn>
                            <p:tgtEl>
                              <p:spTgt spid="244560582"/>
                            </p:tgtEl>
                            <p:attrNameLst>
                              <p:attrName>style.visibility</p:attrName>
                            </p:attrNameLst>
                          </p:cBhvr>
                          <p:to>
                            <p:strVal val="visible"/>
                          </p:to>
                        </p:set>
                        <p:animEffect transition="in" filter="fade">
                          <p:cBhvr>
                            <p:cTn id="25" dur="400"/>
                            <p:tgtEl>
                              <p:spTgt spid="244560582"/>
                            </p:tgtEl>
                          </p:cBhvr>
                        </p:animEffect>
                        <p:anim calcmode="lin" valueType="num">
                          <p:cBhvr additive="base">
                            <p:cTn id="26" dur="400" fill="hold"/>
                            <p:tgtEl>
                              <p:spTgt spid="244560582"/>
                            </p:tgtEl>
                            <p:attrNameLst>
                              <p:attrName>ppt_y</p:attrName>
                            </p:attrNameLst>
                          </p:cBhvr>
                          <p:tavLst>
                            <p:tav tm="0">
                              <p:val>
                                <p:fltVal val="0.045999999999999999"/>
                              </p:val>
                            </p:tav>
                            <p:tav tm="100000">
                              <p:val>
                                <p:fltVal val="0"/>
                              </p:val>
                            </p:tav>
                          </p:tavLst>
                        </p:anim>
                      </p:childTnLst>
                    </p:cTn>
                  </p:par>
                  <p:par>
                    <p:cTn id="27" presetID="10" presetClass="entr" presetSubtype="0" fill="hold" grpId="0" nodeType="afterEffect">
                      <p:stCondLst>
                        <p:cond delay="150"/>
                      </p:stCondLst>
                      <p:childTnLst>
                        <p:set>
                          <p:cBhvr>
                            <p:cTn id="28" dur="1" fill="hold">
                              <p:stCondLst>
                                <p:cond delay="0"/>
                              </p:stCondLst>
                            </p:cTn>
                            <p:tgtEl>
                              <p:spTgt spid="644164300"/>
                            </p:tgtEl>
                            <p:attrNameLst>
                              <p:attrName>style.visibility</p:attrName>
                            </p:attrNameLst>
                          </p:cBhvr>
                          <p:to>
                            <p:strVal val="visible"/>
                          </p:to>
                        </p:set>
                        <p:animEffect transition="in" filter="fade">
                          <p:cBhvr>
                            <p:cTn id="29" dur="400"/>
                            <p:tgtEl>
                              <p:spTgt spid="644164300"/>
                            </p:tgtEl>
                          </p:cBhvr>
                        </p:animEffect>
                        <p:anim calcmode="lin" valueType="num">
                          <p:cBhvr additive="base">
                            <p:cTn id="30" dur="400" fill="hold"/>
                            <p:tgtEl>
                              <p:spTgt spid="644164300"/>
                            </p:tgtEl>
                            <p:attrNameLst>
                              <p:attrName>ppt_y</p:attrName>
                            </p:attrNameLst>
                          </p:cBhvr>
                          <p:tavLst>
                            <p:tav tm="0">
                              <p:val>
                                <p:fltVal val="0.045999999999999999"/>
                              </p:val>
                            </p:tav>
                            <p:tav tm="100000">
                              <p:val>
                                <p:fltVal val="0"/>
                              </p:val>
                            </p:tav>
                          </p:tavLst>
                        </p:anim>
                      </p:childTnLst>
                    </p:cTn>
                  </p:par>
                  <p:par>
                    <p:cTn id="31" presetID="10" presetClass="entr" presetSubtype="0" fill="hold" grpId="0" nodeType="afterEffect">
                      <p:stCondLst>
                        <p:cond delay="150"/>
                      </p:stCondLst>
                      <p:childTnLst>
                        <p:set>
                          <p:cBhvr>
                            <p:cTn id="32" dur="1" fill="hold">
                              <p:stCondLst>
                                <p:cond delay="0"/>
                              </p:stCondLst>
                            </p:cTn>
                            <p:tgtEl>
                              <p:spTgt spid="1849953820"/>
                            </p:tgtEl>
                            <p:attrNameLst>
                              <p:attrName>style.visibility</p:attrName>
                            </p:attrNameLst>
                          </p:cBhvr>
                          <p:to>
                            <p:strVal val="visible"/>
                          </p:to>
                        </p:set>
                        <p:animEffect transition="in" filter="fade">
                          <p:cBhvr>
                            <p:cTn id="33" dur="400"/>
                            <p:tgtEl>
                              <p:spTgt spid="1849953820"/>
                            </p:tgtEl>
                          </p:cBhvr>
                        </p:animEffect>
                        <p:anim calcmode="lin" valueType="num">
                          <p:cBhvr additive="base">
                            <p:cTn id="34" dur="400" fill="hold"/>
                            <p:tgtEl>
                              <p:spTgt spid="1849953820"/>
                            </p:tgtEl>
                            <p:attrNameLst>
                              <p:attrName>ppt_y</p:attrName>
                            </p:attrNameLst>
                          </p:cBhvr>
                          <p:tavLst>
                            <p:tav tm="0">
                              <p:val>
                                <p:fltVal val="0.045999999999999999"/>
                              </p:val>
                            </p:tav>
                            <p:tav tm="100000">
                              <p:val>
                                <p:fltVal val="0"/>
                              </p:val>
                            </p:tav>
                          </p:tavLst>
                        </p:anim>
                      </p:childTnLst>
                    </p:cTn>
                  </p:par>
                </p:childTnLst>
              </p:cTn>
            </p:par>
          </p:childTnLst>
        </p:cTn>
      </p:par>
    </p:tnLst>
    <p:bldLst>
      <p:bldP spid="1586454131" grpId="0" animBg="1"/>
      <p:bldP spid="1141535767" grpId="0" animBg="1"/>
      <p:bldP spid="1666727678" grpId="0" animBg="1"/>
      <p:bldP spid="795018376" grpId="0" animBg="1"/>
      <p:bldP spid="244560582" grpId="0" animBg="1"/>
      <p:bldP spid="644164300" grpId="0" animBg="1"/>
      <p:bldP spid="1849953820" grpId="0" animBg="1"/>
    </p:bldLst>
  </p:timing>
</p:sld>
</file>

<file path=ppt/slides/slide2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100574353" name="Eyebrow"/>
          <p:cNvSpPr txBox="1"/>
          <p:nvPr/>
        </p:nvSpPr>
        <p:spPr bwMode="auto">
          <a:xfrm>
            <a:off x="914400" y="584200"/>
            <a:ext cx="9144000" cy="254000"/>
          </a:xfrm>
          <a:prstGeom prst="rect">
            <a:avLst/>
          </a:prstGeom>
          <a:noFill/>
          <a:ln>
            <a:noFill/>
          </a:ln>
        </p:spPr>
        <p:txBody>
          <a:bodyPr wrap="square" lIns="0" tIns="0" rIns="0" bIns="0" anchor="t">
            <a:normAutofit/>
          </a:bodyPr>
          <a:lstStyle/>
          <a:p>
            <a:pPr>
              <a:buNone/>
              <a:defRPr/>
            </a:pPr>
            <a:r>
              <a:rPr lang="fr-FR" sz="1400" b="1" spc="240">
                <a:solidFill>
                  <a:srgbClr val="64748B"/>
                </a:solidFill>
              </a:rPr>
              <a:t>06 · CONCLUSION</a:t>
            </a:r>
            <a:endParaRPr/>
          </a:p>
        </p:txBody>
      </p:sp>
      <p:sp>
        <p:nvSpPr>
          <p:cNvPr id="1157139345" name="Titre"/>
          <p:cNvSpPr txBox="1"/>
          <p:nvPr/>
        </p:nvSpPr>
        <p:spPr bwMode="auto">
          <a:xfrm>
            <a:off x="914400" y="863599"/>
            <a:ext cx="10363200" cy="508000"/>
          </a:xfrm>
          <a:prstGeom prst="rect">
            <a:avLst/>
          </a:prstGeom>
          <a:noFill/>
          <a:ln>
            <a:noFill/>
          </a:ln>
        </p:spPr>
        <p:txBody>
          <a:bodyPr wrap="square" lIns="0" tIns="0" rIns="0" bIns="0" anchor="t">
            <a:normAutofit/>
          </a:bodyPr>
          <a:lstStyle/>
          <a:p>
            <a:pPr>
              <a:buNone/>
              <a:defRPr/>
            </a:pPr>
            <a:r>
              <a:rPr lang="fr-FR" sz="3000">
                <a:solidFill>
                  <a:srgbClr val="0B1F3A"/>
                </a:solidFill>
                <a:latin typeface="Segoe UI Semibold"/>
              </a:rPr>
              <a:t>Projections à 1, 2 et 3 ans</a:t>
            </a:r>
            <a:endParaRPr/>
          </a:p>
        </p:txBody>
      </p:sp>
      <p:sp>
        <p:nvSpPr>
          <p:cNvPr id="199566050" name="Filet"/>
          <p:cNvSpPr/>
          <p:nvPr/>
        </p:nvSpPr>
        <p:spPr bwMode="auto">
          <a:xfrm>
            <a:off x="914400" y="1473200"/>
            <a:ext cx="685800" cy="50800"/>
          </a:xfrm>
          <a:prstGeom prst="rect">
            <a:avLst/>
          </a:prstGeom>
          <a:solidFill>
            <a:srgbClr val="2563EB"/>
          </a:solidFill>
          <a:ln>
            <a:noFill/>
          </a:ln>
        </p:spPr>
        <p:txBody>
          <a:bodyPr wrap="square" lIns="0" tIns="0" rIns="0" bIns="0" anchor="t">
            <a:normAutofit/>
          </a:bodyPr>
          <a:lstStyle/>
          <a:p>
            <a:pPr>
              <a:defRPr/>
            </a:pPr>
            <a:endParaRPr/>
          </a:p>
        </p:txBody>
      </p:sp>
      <p:sp>
        <p:nvSpPr>
          <p:cNvPr id="1509193197" name="Scen0"/>
          <p:cNvSpPr/>
          <p:nvPr/>
        </p:nvSpPr>
        <p:spPr bwMode="auto">
          <a:xfrm>
            <a:off x="7710117" y="1904999"/>
            <a:ext cx="4089400" cy="1219200"/>
          </a:xfrm>
          <a:prstGeom prst="roundRect">
            <a:avLst>
              <a:gd name="adj" fmla="val 9000"/>
            </a:avLst>
          </a:prstGeom>
          <a:solidFill>
            <a:srgbClr val="FFFFFF"/>
          </a:solidFill>
          <a:ln w="9525">
            <a:solidFill>
              <a:srgbClr val="E2E8F0"/>
            </a:solidFill>
          </a:ln>
        </p:spPr>
        <p:txBody>
          <a:bodyPr wrap="square" lIns="203200" tIns="203200" rIns="203200" bIns="203200" anchor="ctr">
            <a:normAutofit/>
          </a:bodyPr>
          <a:lstStyle/>
          <a:p>
            <a:pPr>
              <a:buNone/>
              <a:defRPr/>
            </a:pPr>
            <a:r>
              <a:rPr lang="fr-FR" sz="1800">
                <a:solidFill>
                  <a:srgbClr val="2563EB"/>
                </a:solidFill>
                <a:latin typeface="Segoe UI Semibold"/>
              </a:rPr>
              <a:t>Optimiste</a:t>
            </a:r>
            <a:endParaRPr/>
          </a:p>
          <a:p>
            <a:pPr>
              <a:spcBef>
                <a:spcPts val="400"/>
              </a:spcBef>
              <a:buNone/>
              <a:defRPr/>
            </a:pPr>
            <a:r>
              <a:rPr lang="fr-FR" sz="1400">
                <a:solidFill>
                  <a:srgbClr val="64748B"/>
                </a:solidFill>
              </a:rPr>
              <a:t>Amélioration socio-économique, dynamique favorable.</a:t>
            </a:r>
            <a:endParaRPr/>
          </a:p>
        </p:txBody>
      </p:sp>
      <p:sp>
        <p:nvSpPr>
          <p:cNvPr id="184863924" name="Scen1"/>
          <p:cNvSpPr/>
          <p:nvPr/>
        </p:nvSpPr>
        <p:spPr bwMode="auto">
          <a:xfrm>
            <a:off x="7710117" y="3251199"/>
            <a:ext cx="4089400" cy="1219200"/>
          </a:xfrm>
          <a:prstGeom prst="roundRect">
            <a:avLst>
              <a:gd name="adj" fmla="val 9000"/>
            </a:avLst>
          </a:prstGeom>
          <a:solidFill>
            <a:srgbClr val="FFFFFF"/>
          </a:solidFill>
          <a:ln w="9525">
            <a:solidFill>
              <a:srgbClr val="E2E8F0"/>
            </a:solidFill>
          </a:ln>
        </p:spPr>
        <p:txBody>
          <a:bodyPr wrap="square" lIns="203200" tIns="203200" rIns="203200" bIns="203200" anchor="ctr">
            <a:normAutofit/>
          </a:bodyPr>
          <a:lstStyle/>
          <a:p>
            <a:pPr>
              <a:buNone/>
              <a:defRPr/>
            </a:pPr>
            <a:r>
              <a:rPr lang="fr-FR" sz="1800">
                <a:solidFill>
                  <a:srgbClr val="64748B"/>
                </a:solidFill>
                <a:latin typeface="Segoe UI Semibold"/>
              </a:rPr>
              <a:t>Neutre</a:t>
            </a:r>
            <a:endParaRPr/>
          </a:p>
          <a:p>
            <a:pPr>
              <a:spcBef>
                <a:spcPts val="400"/>
              </a:spcBef>
              <a:buNone/>
              <a:defRPr/>
            </a:pPr>
            <a:r>
              <a:rPr lang="fr-FR" sz="1400">
                <a:solidFill>
                  <a:srgbClr val="64748B"/>
                </a:solidFill>
              </a:rPr>
              <a:t>Prolongement des tendances actuelles.</a:t>
            </a:r>
            <a:endParaRPr/>
          </a:p>
        </p:txBody>
      </p:sp>
      <p:sp>
        <p:nvSpPr>
          <p:cNvPr id="1613181637" name="Scen2"/>
          <p:cNvSpPr/>
          <p:nvPr/>
        </p:nvSpPr>
        <p:spPr bwMode="auto">
          <a:xfrm>
            <a:off x="7762309" y="4597399"/>
            <a:ext cx="4089400" cy="1219200"/>
          </a:xfrm>
          <a:prstGeom prst="roundRect">
            <a:avLst>
              <a:gd name="adj" fmla="val 9000"/>
            </a:avLst>
          </a:prstGeom>
          <a:solidFill>
            <a:srgbClr val="FFFFFF"/>
          </a:solidFill>
          <a:ln w="9525">
            <a:solidFill>
              <a:srgbClr val="E2E8F0"/>
            </a:solidFill>
          </a:ln>
        </p:spPr>
        <p:txBody>
          <a:bodyPr wrap="square" lIns="203200" tIns="203200" rIns="203200" bIns="203200" anchor="ctr">
            <a:normAutofit/>
          </a:bodyPr>
          <a:lstStyle/>
          <a:p>
            <a:pPr>
              <a:buNone/>
              <a:defRPr/>
            </a:pPr>
            <a:r>
              <a:rPr lang="fr-FR" sz="1800">
                <a:solidFill>
                  <a:srgbClr val="0B1F3A"/>
                </a:solidFill>
                <a:latin typeface="Segoe UI Semibold"/>
              </a:rPr>
              <a:t>Pessimiste</a:t>
            </a:r>
            <a:endParaRPr/>
          </a:p>
          <a:p>
            <a:pPr>
              <a:spcBef>
                <a:spcPts val="400"/>
              </a:spcBef>
              <a:buNone/>
              <a:defRPr/>
            </a:pPr>
            <a:r>
              <a:rPr lang="fr-FR" sz="1400">
                <a:solidFill>
                  <a:srgbClr val="64748B"/>
                </a:solidFill>
              </a:rPr>
              <a:t>Dégradation des indicateurs, risques accrus.</a:t>
            </a:r>
            <a:endParaRPr/>
          </a:p>
        </p:txBody>
      </p:sp>
      <p:sp>
        <p:nvSpPr>
          <p:cNvPr id="1089923807" name="Page"/>
          <p:cNvSpPr txBox="1"/>
          <p:nvPr/>
        </p:nvSpPr>
        <p:spPr bwMode="auto">
          <a:xfrm>
            <a:off x="10515600" y="6451600"/>
            <a:ext cx="914400" cy="254000"/>
          </a:xfrm>
          <a:prstGeom prst="rect">
            <a:avLst/>
          </a:prstGeom>
          <a:noFill/>
          <a:ln>
            <a:noFill/>
          </a:ln>
        </p:spPr>
        <p:txBody>
          <a:bodyPr wrap="square" lIns="0" tIns="0" rIns="0" bIns="0" anchor="t">
            <a:normAutofit/>
          </a:bodyPr>
          <a:lstStyle/>
          <a:p>
            <a:pPr algn="r">
              <a:buNone/>
              <a:defRPr/>
            </a:pPr>
            <a:r>
              <a:rPr lang="fr-FR" sz="1400">
                <a:solidFill>
                  <a:srgbClr val="64748B"/>
                </a:solidFill>
              </a:rPr>
              <a:t>25</a:t>
            </a:r>
            <a:endParaRPr/>
          </a:p>
        </p:txBody>
      </p:sp>
      <p:pic>
        <p:nvPicPr>
          <p:cNvPr id="1866440124" name=""/>
          <p:cNvPicPr>
            <a:picLocks noChangeAspect="1"/>
          </p:cNvPicPr>
          <p:nvPr/>
        </p:nvPicPr>
        <p:blipFill rotWithShape="1">
          <a:blip r:embed="rId3"/>
          <a:stretch/>
        </p:blipFill>
        <p:spPr bwMode="auto">
          <a:xfrm flipH="0" flipV="0">
            <a:off x="79623" y="1670135"/>
            <a:ext cx="7567808" cy="4908462"/>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med" p14:dur="500" advClick="1">
        <p:fade thruBlk="0"/>
      </p:transition>
    </mc:Choice>
    <mc:Fallback>
      <p:transition spd="med" advClick="1">
        <p:fade thruBlk="0"/>
      </p:transition>
    </mc:Fallback>
  </mc:AlternateContent>
  <p:timing>
    <p:tnLst>
      <p:par>
        <p:cTn id="1" dur="indefinite" restart="never" nodeType="tmRoot">
          <p:childTnLst>
            <p:par>
              <p:cTn id="2" fill="hold">
                <p:stCondLst>
                  <p:cond delay="0"/>
                </p:stCondLst>
                <p:childTnLst>
                  <p:par>
                    <p:cTn id="3" presetID="10" presetClass="entr" presetSubtype="0" fill="hold" grpId="0" nodeType="afterEffect">
                      <p:stCondLst>
                        <p:cond delay="500"/>
                      </p:stCondLst>
                      <p:childTnLst>
                        <p:set>
                          <p:cBhvr>
                            <p:cTn id="4" dur="1" fill="hold">
                              <p:stCondLst>
                                <p:cond delay="0"/>
                              </p:stCondLst>
                            </p:cTn>
                            <p:tgtEl>
                              <p:spTgt spid="1100574353"/>
                            </p:tgtEl>
                            <p:attrNameLst>
                              <p:attrName>style.visibility</p:attrName>
                            </p:attrNameLst>
                          </p:cBhvr>
                          <p:to>
                            <p:strVal val="visible"/>
                          </p:to>
                        </p:set>
                        <p:animEffect transition="in" filter="fade">
                          <p:cBhvr>
                            <p:cTn id="5" dur="400"/>
                            <p:tgtEl>
                              <p:spTgt spid="1100574353"/>
                            </p:tgtEl>
                          </p:cBhvr>
                        </p:animEffect>
                        <p:anim calcmode="lin" valueType="num">
                          <p:cBhvr additive="base">
                            <p:cTn id="6" dur="400" fill="hold"/>
                            <p:tgtEl>
                              <p:spTgt spid="1100574353"/>
                            </p:tgtEl>
                            <p:attrNameLst>
                              <p:attrName>ppt_y</p:attrName>
                            </p:attrNameLst>
                          </p:cBhvr>
                          <p:tavLst>
                            <p:tav tm="0">
                              <p:val>
                                <p:fltVal val="0.045999999999999999"/>
                              </p:val>
                            </p:tav>
                            <p:tav tm="100000">
                              <p:val>
                                <p:fltVal val="0"/>
                              </p:val>
                            </p:tav>
                          </p:tavLst>
                        </p:anim>
                      </p:childTnLst>
                    </p:cTn>
                  </p:par>
                  <p:par>
                    <p:cTn id="7" presetID="10" presetClass="entr" presetSubtype="0" fill="hold" grpId="0" nodeType="afterEffect">
                      <p:stCondLst>
                        <p:cond delay="150"/>
                      </p:stCondLst>
                      <p:childTnLst>
                        <p:set>
                          <p:cBhvr>
                            <p:cTn id="8" dur="1" fill="hold">
                              <p:stCondLst>
                                <p:cond delay="0"/>
                              </p:stCondLst>
                            </p:cTn>
                            <p:tgtEl>
                              <p:spTgt spid="1157139345"/>
                            </p:tgtEl>
                            <p:attrNameLst>
                              <p:attrName>style.visibility</p:attrName>
                            </p:attrNameLst>
                          </p:cBhvr>
                          <p:to>
                            <p:strVal val="visible"/>
                          </p:to>
                        </p:set>
                        <p:animEffect transition="in" filter="fade">
                          <p:cBhvr>
                            <p:cTn id="9" dur="400"/>
                            <p:tgtEl>
                              <p:spTgt spid="1157139345"/>
                            </p:tgtEl>
                          </p:cBhvr>
                        </p:animEffect>
                        <p:anim calcmode="lin" valueType="num">
                          <p:cBhvr additive="base">
                            <p:cTn id="10" dur="400" fill="hold"/>
                            <p:tgtEl>
                              <p:spTgt spid="1157139345"/>
                            </p:tgtEl>
                            <p:attrNameLst>
                              <p:attrName>ppt_y</p:attrName>
                            </p:attrNameLst>
                          </p:cBhvr>
                          <p:tavLst>
                            <p:tav tm="0">
                              <p:val>
                                <p:fltVal val="0.045999999999999999"/>
                              </p:val>
                            </p:tav>
                            <p:tav tm="100000">
                              <p:val>
                                <p:fltVal val="0"/>
                              </p:val>
                            </p:tav>
                          </p:tavLst>
                        </p:anim>
                      </p:childTnLst>
                    </p:cTn>
                  </p:par>
                  <p:par>
                    <p:cTn id="11" presetID="10" presetClass="entr" presetSubtype="0" fill="hold" grpId="0" nodeType="afterEffect">
                      <p:stCondLst>
                        <p:cond delay="150"/>
                      </p:stCondLst>
                      <p:childTnLst>
                        <p:set>
                          <p:cBhvr>
                            <p:cTn id="12" dur="1" fill="hold">
                              <p:stCondLst>
                                <p:cond delay="0"/>
                              </p:stCondLst>
                            </p:cTn>
                            <p:tgtEl>
                              <p:spTgt spid="199566050"/>
                            </p:tgtEl>
                            <p:attrNameLst>
                              <p:attrName>style.visibility</p:attrName>
                            </p:attrNameLst>
                          </p:cBhvr>
                          <p:to>
                            <p:strVal val="visible"/>
                          </p:to>
                        </p:set>
                        <p:animEffect transition="in" filter="fade">
                          <p:cBhvr>
                            <p:cTn id="13" dur="400"/>
                            <p:tgtEl>
                              <p:spTgt spid="199566050"/>
                            </p:tgtEl>
                          </p:cBhvr>
                        </p:animEffect>
                        <p:anim calcmode="lin" valueType="num">
                          <p:cBhvr additive="base">
                            <p:cTn id="14" dur="400" fill="hold"/>
                            <p:tgtEl>
                              <p:spTgt spid="199566050"/>
                            </p:tgtEl>
                            <p:attrNameLst>
                              <p:attrName>ppt_y</p:attrName>
                            </p:attrNameLst>
                          </p:cBhvr>
                          <p:tavLst>
                            <p:tav tm="0">
                              <p:val>
                                <p:fltVal val="0.045999999999999999"/>
                              </p:val>
                            </p:tav>
                            <p:tav tm="100000">
                              <p:val>
                                <p:fltVal val="0"/>
                              </p:val>
                            </p:tav>
                          </p:tavLst>
                        </p:anim>
                      </p:childTnLst>
                    </p:cTn>
                  </p:par>
                  <p:par>
                    <p:cTn id="19" presetID="10" presetClass="entr" presetSubtype="0" fill="hold" grpId="0" nodeType="afterEffect">
                      <p:stCondLst>
                        <p:cond delay="150"/>
                      </p:stCondLst>
                      <p:childTnLst>
                        <p:set>
                          <p:cBhvr>
                            <p:cTn id="20" dur="1" fill="hold">
                              <p:stCondLst>
                                <p:cond delay="0"/>
                              </p:stCondLst>
                            </p:cTn>
                            <p:tgtEl>
                              <p:spTgt spid="1509193197"/>
                            </p:tgtEl>
                            <p:attrNameLst>
                              <p:attrName>style.visibility</p:attrName>
                            </p:attrNameLst>
                          </p:cBhvr>
                          <p:to>
                            <p:strVal val="visible"/>
                          </p:to>
                        </p:set>
                        <p:animEffect transition="in" filter="fade">
                          <p:cBhvr>
                            <p:cTn id="21" dur="400"/>
                            <p:tgtEl>
                              <p:spTgt spid="1509193197"/>
                            </p:tgtEl>
                          </p:cBhvr>
                        </p:animEffect>
                        <p:anim calcmode="lin" valueType="num">
                          <p:cBhvr additive="base">
                            <p:cTn id="22" dur="400" fill="hold"/>
                            <p:tgtEl>
                              <p:spTgt spid="1509193197"/>
                            </p:tgtEl>
                            <p:attrNameLst>
                              <p:attrName>ppt_y</p:attrName>
                            </p:attrNameLst>
                          </p:cBhvr>
                          <p:tavLst>
                            <p:tav tm="0">
                              <p:val>
                                <p:fltVal val="0.045999999999999999"/>
                              </p:val>
                            </p:tav>
                            <p:tav tm="100000">
                              <p:val>
                                <p:fltVal val="0"/>
                              </p:val>
                            </p:tav>
                          </p:tavLst>
                        </p:anim>
                      </p:childTnLst>
                    </p:cTn>
                  </p:par>
                  <p:par>
                    <p:cTn id="23" presetID="10" presetClass="entr" presetSubtype="0" fill="hold" grpId="0" nodeType="afterEffect">
                      <p:stCondLst>
                        <p:cond delay="150"/>
                      </p:stCondLst>
                      <p:childTnLst>
                        <p:set>
                          <p:cBhvr>
                            <p:cTn id="24" dur="1" fill="hold">
                              <p:stCondLst>
                                <p:cond delay="0"/>
                              </p:stCondLst>
                            </p:cTn>
                            <p:tgtEl>
                              <p:spTgt spid="184863924"/>
                            </p:tgtEl>
                            <p:attrNameLst>
                              <p:attrName>style.visibility</p:attrName>
                            </p:attrNameLst>
                          </p:cBhvr>
                          <p:to>
                            <p:strVal val="visible"/>
                          </p:to>
                        </p:set>
                        <p:animEffect transition="in" filter="fade">
                          <p:cBhvr>
                            <p:cTn id="25" dur="400"/>
                            <p:tgtEl>
                              <p:spTgt spid="184863924"/>
                            </p:tgtEl>
                          </p:cBhvr>
                        </p:animEffect>
                        <p:anim calcmode="lin" valueType="num">
                          <p:cBhvr additive="base">
                            <p:cTn id="26" dur="400" fill="hold"/>
                            <p:tgtEl>
                              <p:spTgt spid="184863924"/>
                            </p:tgtEl>
                            <p:attrNameLst>
                              <p:attrName>ppt_y</p:attrName>
                            </p:attrNameLst>
                          </p:cBhvr>
                          <p:tavLst>
                            <p:tav tm="0">
                              <p:val>
                                <p:fltVal val="0.045999999999999999"/>
                              </p:val>
                            </p:tav>
                            <p:tav tm="100000">
                              <p:val>
                                <p:fltVal val="0"/>
                              </p:val>
                            </p:tav>
                          </p:tavLst>
                        </p:anim>
                      </p:childTnLst>
                    </p:cTn>
                  </p:par>
                  <p:par>
                    <p:cTn id="27" presetID="10" presetClass="entr" presetSubtype="0" fill="hold" grpId="0" nodeType="afterEffect">
                      <p:stCondLst>
                        <p:cond delay="150"/>
                      </p:stCondLst>
                      <p:childTnLst>
                        <p:set>
                          <p:cBhvr>
                            <p:cTn id="28" dur="1" fill="hold">
                              <p:stCondLst>
                                <p:cond delay="0"/>
                              </p:stCondLst>
                            </p:cTn>
                            <p:tgtEl>
                              <p:spTgt spid="1613181637"/>
                            </p:tgtEl>
                            <p:attrNameLst>
                              <p:attrName>style.visibility</p:attrName>
                            </p:attrNameLst>
                          </p:cBhvr>
                          <p:to>
                            <p:strVal val="visible"/>
                          </p:to>
                        </p:set>
                        <p:animEffect transition="in" filter="fade">
                          <p:cBhvr>
                            <p:cTn id="29" dur="400"/>
                            <p:tgtEl>
                              <p:spTgt spid="1613181637"/>
                            </p:tgtEl>
                          </p:cBhvr>
                        </p:animEffect>
                        <p:anim calcmode="lin" valueType="num">
                          <p:cBhvr additive="base">
                            <p:cTn id="30" dur="400" fill="hold"/>
                            <p:tgtEl>
                              <p:spTgt spid="1613181637"/>
                            </p:tgtEl>
                            <p:attrNameLst>
                              <p:attrName>ppt_y</p:attrName>
                            </p:attrNameLst>
                          </p:cBhvr>
                          <p:tavLst>
                            <p:tav tm="0">
                              <p:val>
                                <p:fltVal val="0.045999999999999999"/>
                              </p:val>
                            </p:tav>
                            <p:tav tm="100000">
                              <p:val>
                                <p:fltVal val="0"/>
                              </p:val>
                            </p:tav>
                          </p:tavLst>
                        </p:anim>
                      </p:childTnLst>
                    </p:cTn>
                  </p:par>
                  <p:par>
                    <p:cTn id="31" presetID="10" presetClass="entr" presetSubtype="0" fill="hold" grpId="0" nodeType="afterEffect">
                      <p:stCondLst>
                        <p:cond delay="150"/>
                      </p:stCondLst>
                      <p:childTnLst>
                        <p:set>
                          <p:cBhvr>
                            <p:cTn id="32" dur="1" fill="hold">
                              <p:stCondLst>
                                <p:cond delay="0"/>
                              </p:stCondLst>
                            </p:cTn>
                            <p:tgtEl>
                              <p:spTgt spid="1089923807"/>
                            </p:tgtEl>
                            <p:attrNameLst>
                              <p:attrName>style.visibility</p:attrName>
                            </p:attrNameLst>
                          </p:cBhvr>
                          <p:to>
                            <p:strVal val="visible"/>
                          </p:to>
                        </p:set>
                        <p:animEffect transition="in" filter="fade">
                          <p:cBhvr>
                            <p:cTn id="33" dur="400"/>
                            <p:tgtEl>
                              <p:spTgt spid="1089923807"/>
                            </p:tgtEl>
                          </p:cBhvr>
                        </p:animEffect>
                        <p:anim calcmode="lin" valueType="num">
                          <p:cBhvr additive="base">
                            <p:cTn id="34" dur="400" fill="hold"/>
                            <p:tgtEl>
                              <p:spTgt spid="1089923807"/>
                            </p:tgtEl>
                            <p:attrNameLst>
                              <p:attrName>ppt_y</p:attrName>
                            </p:attrNameLst>
                          </p:cBhvr>
                          <p:tavLst>
                            <p:tav tm="0">
                              <p:val>
                                <p:fltVal val="0.045999999999999999"/>
                              </p:val>
                            </p:tav>
                            <p:tav tm="100000">
                              <p:val>
                                <p:fltVal val="0"/>
                              </p:val>
                            </p:tav>
                          </p:tavLst>
                        </p:anim>
                      </p:childTnLst>
                    </p:cTn>
                  </p:par>
                </p:childTnLst>
              </p:cTn>
            </p:par>
          </p:childTnLst>
        </p:cTn>
      </p:par>
    </p:tnLst>
    <p:bldLst>
      <p:bldP spid="1100574353" grpId="0" animBg="1"/>
      <p:bldP spid="1157139345" grpId="0" animBg="1"/>
      <p:bldP spid="199566050" grpId="0" animBg="1"/>
      <p:bldP spid="1509193197" grpId="0" animBg="1"/>
      <p:bldP spid="184863924" grpId="0" animBg="1"/>
      <p:bldP spid="1613181637" grpId="0" animBg="1"/>
      <p:bldP spid="1089923807" grpId="0" animBg="1"/>
    </p:bldLst>
  </p:timing>
</p:sld>
</file>

<file path=ppt/slides/slide2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66574371" name="Eyebrow"/>
          <p:cNvSpPr txBox="1"/>
          <p:nvPr/>
        </p:nvSpPr>
        <p:spPr bwMode="auto">
          <a:xfrm>
            <a:off x="914400" y="584200"/>
            <a:ext cx="9144000" cy="254000"/>
          </a:xfrm>
          <a:prstGeom prst="rect">
            <a:avLst/>
          </a:prstGeom>
          <a:noFill/>
          <a:ln>
            <a:noFill/>
          </a:ln>
        </p:spPr>
        <p:txBody>
          <a:bodyPr wrap="square" lIns="0" tIns="0" rIns="0" bIns="0" anchor="t">
            <a:normAutofit/>
          </a:bodyPr>
          <a:lstStyle/>
          <a:p>
            <a:pPr>
              <a:buNone/>
              <a:defRPr/>
            </a:pPr>
            <a:r>
              <a:rPr lang="fr-FR" sz="1400" b="1" spc="240">
                <a:solidFill>
                  <a:srgbClr val="64748B"/>
                </a:solidFill>
              </a:rPr>
              <a:t>06 · CONCLUSION</a:t>
            </a:r>
            <a:endParaRPr/>
          </a:p>
        </p:txBody>
      </p:sp>
      <p:sp>
        <p:nvSpPr>
          <p:cNvPr id="1068864985" name="Titre"/>
          <p:cNvSpPr txBox="1"/>
          <p:nvPr/>
        </p:nvSpPr>
        <p:spPr bwMode="auto">
          <a:xfrm>
            <a:off x="914400" y="863599"/>
            <a:ext cx="10363200" cy="508000"/>
          </a:xfrm>
          <a:prstGeom prst="rect">
            <a:avLst/>
          </a:prstGeom>
          <a:noFill/>
          <a:ln>
            <a:noFill/>
          </a:ln>
        </p:spPr>
        <p:txBody>
          <a:bodyPr wrap="square" lIns="0" tIns="0" rIns="0" bIns="0" anchor="t">
            <a:normAutofit/>
          </a:bodyPr>
          <a:lstStyle/>
          <a:p>
            <a:pPr>
              <a:buNone/>
              <a:defRPr/>
            </a:pPr>
            <a:r>
              <a:rPr lang="fr-FR" sz="3000">
                <a:solidFill>
                  <a:srgbClr val="0B1F3A"/>
                </a:solidFill>
                <a:latin typeface="Segoe UI Semibold"/>
              </a:rPr>
              <a:t>Bilan du POC</a:t>
            </a:r>
            <a:endParaRPr/>
          </a:p>
        </p:txBody>
      </p:sp>
      <p:sp>
        <p:nvSpPr>
          <p:cNvPr id="800876137" name="Filet"/>
          <p:cNvSpPr/>
          <p:nvPr/>
        </p:nvSpPr>
        <p:spPr bwMode="auto">
          <a:xfrm>
            <a:off x="914400" y="1473200"/>
            <a:ext cx="685800" cy="50800"/>
          </a:xfrm>
          <a:prstGeom prst="rect">
            <a:avLst/>
          </a:prstGeom>
          <a:solidFill>
            <a:srgbClr val="2563EB"/>
          </a:solidFill>
          <a:ln>
            <a:noFill/>
          </a:ln>
        </p:spPr>
        <p:txBody>
          <a:bodyPr wrap="square" lIns="0" tIns="0" rIns="0" bIns="0" anchor="t">
            <a:normAutofit/>
          </a:bodyPr>
          <a:lstStyle/>
          <a:p>
            <a:pPr>
              <a:defRPr/>
            </a:pPr>
            <a:endParaRPr/>
          </a:p>
        </p:txBody>
      </p:sp>
      <p:sp>
        <p:nvSpPr>
          <p:cNvPr id="2092128929" name="Card0"/>
          <p:cNvSpPr/>
          <p:nvPr/>
        </p:nvSpPr>
        <p:spPr bwMode="auto">
          <a:xfrm>
            <a:off x="914400" y="2032000"/>
            <a:ext cx="4978400" cy="1905000"/>
          </a:xfrm>
          <a:prstGeom prst="roundRect">
            <a:avLst>
              <a:gd name="adj" fmla="val 7000"/>
            </a:avLst>
          </a:prstGeom>
          <a:solidFill>
            <a:srgbClr val="FFFFFF"/>
          </a:solidFill>
          <a:ln w="9525">
            <a:solidFill>
              <a:srgbClr val="E2E8F0"/>
            </a:solidFill>
          </a:ln>
        </p:spPr>
        <p:txBody>
          <a:bodyPr wrap="square" lIns="1016000" tIns="254000" rIns="254000" bIns="254000" anchor="ctr">
            <a:normAutofit/>
          </a:bodyPr>
          <a:lstStyle/>
          <a:p>
            <a:pPr>
              <a:buNone/>
              <a:defRPr/>
            </a:pPr>
            <a:r>
              <a:rPr lang="fr-FR" sz="1800">
                <a:solidFill>
                  <a:srgbClr val="0B1F3A"/>
                </a:solidFill>
                <a:latin typeface="Segoe UI Semibold"/>
              </a:rPr>
              <a:t>POC livré</a:t>
            </a:r>
            <a:endParaRPr/>
          </a:p>
          <a:p>
            <a:pPr>
              <a:spcBef>
                <a:spcPts val="500"/>
              </a:spcBef>
              <a:buNone/>
              <a:defRPr/>
            </a:pPr>
            <a:r>
              <a:rPr lang="fr-FR" sz="1500">
                <a:solidFill>
                  <a:srgbClr val="64748B"/>
                </a:solidFill>
              </a:rPr>
              <a:t>Pipeline complet, du brut au dashboard.</a:t>
            </a:r>
            <a:endParaRPr/>
          </a:p>
        </p:txBody>
      </p:sp>
      <p:sp>
        <p:nvSpPr>
          <p:cNvPr id="791833163" name="Card1"/>
          <p:cNvSpPr/>
          <p:nvPr/>
        </p:nvSpPr>
        <p:spPr bwMode="auto">
          <a:xfrm>
            <a:off x="6146800" y="2032000"/>
            <a:ext cx="4978400" cy="1905000"/>
          </a:xfrm>
          <a:prstGeom prst="roundRect">
            <a:avLst>
              <a:gd name="adj" fmla="val 7000"/>
            </a:avLst>
          </a:prstGeom>
          <a:solidFill>
            <a:srgbClr val="FFFFFF"/>
          </a:solidFill>
          <a:ln w="9525">
            <a:solidFill>
              <a:srgbClr val="E2E8F0"/>
            </a:solidFill>
          </a:ln>
        </p:spPr>
        <p:txBody>
          <a:bodyPr wrap="square" lIns="1016000" tIns="254000" rIns="254000" bIns="254000" anchor="ctr">
            <a:normAutofit/>
          </a:bodyPr>
          <a:lstStyle/>
          <a:p>
            <a:pPr>
              <a:buNone/>
              <a:defRPr/>
            </a:pPr>
            <a:r>
              <a:rPr lang="fr-FR" sz="1800">
                <a:solidFill>
                  <a:srgbClr val="0B1F3A"/>
                </a:solidFill>
                <a:latin typeface="Segoe UI Semibold"/>
              </a:rPr>
              <a:t>76,7 % d'accuracy</a:t>
            </a:r>
            <a:endParaRPr/>
          </a:p>
          <a:p>
            <a:pPr>
              <a:spcBef>
                <a:spcPts val="500"/>
              </a:spcBef>
              <a:buNone/>
              <a:defRPr/>
            </a:pPr>
            <a:r>
              <a:rPr lang="fr-FR" sz="1500">
                <a:solidFill>
                  <a:srgbClr val="64748B"/>
                </a:solidFill>
              </a:rPr>
              <a:t>Précision du modèle retenu (XGBoost).</a:t>
            </a:r>
            <a:endParaRPr/>
          </a:p>
        </p:txBody>
      </p:sp>
      <p:sp>
        <p:nvSpPr>
          <p:cNvPr id="653338451" name="Card2"/>
          <p:cNvSpPr/>
          <p:nvPr/>
        </p:nvSpPr>
        <p:spPr bwMode="auto">
          <a:xfrm>
            <a:off x="914400" y="4191000"/>
            <a:ext cx="4978400" cy="1905000"/>
          </a:xfrm>
          <a:prstGeom prst="roundRect">
            <a:avLst>
              <a:gd name="adj" fmla="val 7000"/>
            </a:avLst>
          </a:prstGeom>
          <a:solidFill>
            <a:srgbClr val="FFFFFF"/>
          </a:solidFill>
          <a:ln w="9525">
            <a:solidFill>
              <a:srgbClr val="E2E8F0"/>
            </a:solidFill>
          </a:ln>
        </p:spPr>
        <p:txBody>
          <a:bodyPr wrap="square" lIns="1016000" tIns="254000" rIns="254000" bIns="254000" anchor="ctr">
            <a:normAutofit/>
          </a:bodyPr>
          <a:lstStyle/>
          <a:p>
            <a:pPr>
              <a:buNone/>
              <a:defRPr/>
            </a:pPr>
            <a:r>
              <a:rPr lang="fr-FR" sz="1800">
                <a:solidFill>
                  <a:srgbClr val="E11D48"/>
                </a:solidFill>
                <a:latin typeface="Segoe UI Semibold"/>
              </a:rPr>
              <a:t>Délinquance : facteur n°1</a:t>
            </a:r>
            <a:endParaRPr/>
          </a:p>
          <a:p>
            <a:pPr>
              <a:spcBef>
                <a:spcPts val="500"/>
              </a:spcBef>
              <a:buNone/>
              <a:defRPr/>
            </a:pPr>
            <a:r>
              <a:rPr lang="fr-FR" sz="1500">
                <a:solidFill>
                  <a:srgbClr val="64748B"/>
                </a:solidFill>
              </a:rPr>
              <a:t>Variable la plus prédictive du modèle.</a:t>
            </a:r>
            <a:endParaRPr/>
          </a:p>
        </p:txBody>
      </p:sp>
      <p:sp>
        <p:nvSpPr>
          <p:cNvPr id="1072055909" name="Card3"/>
          <p:cNvSpPr/>
          <p:nvPr/>
        </p:nvSpPr>
        <p:spPr bwMode="auto">
          <a:xfrm>
            <a:off x="6146800" y="4191000"/>
            <a:ext cx="4978400" cy="1905000"/>
          </a:xfrm>
          <a:prstGeom prst="roundRect">
            <a:avLst>
              <a:gd name="adj" fmla="val 7000"/>
            </a:avLst>
          </a:prstGeom>
          <a:solidFill>
            <a:srgbClr val="FFFFFF"/>
          </a:solidFill>
          <a:ln w="9525">
            <a:solidFill>
              <a:srgbClr val="E2E8F0"/>
            </a:solidFill>
          </a:ln>
        </p:spPr>
        <p:txBody>
          <a:bodyPr wrap="square" lIns="1016000" tIns="254000" rIns="254000" bIns="254000" anchor="ctr">
            <a:normAutofit/>
          </a:bodyPr>
          <a:lstStyle/>
          <a:p>
            <a:pPr>
              <a:buNone/>
              <a:defRPr/>
            </a:pPr>
            <a:r>
              <a:rPr lang="fr-FR" sz="1800">
                <a:solidFill>
                  <a:srgbClr val="0B1F3A"/>
                </a:solidFill>
                <a:latin typeface="Segoe UI Semibold"/>
              </a:rPr>
              <a:t>Données publiques</a:t>
            </a:r>
            <a:endParaRPr/>
          </a:p>
          <a:p>
            <a:pPr>
              <a:spcBef>
                <a:spcPts val="500"/>
              </a:spcBef>
              <a:buNone/>
              <a:defRPr/>
            </a:pPr>
            <a:r>
              <a:rPr lang="fr-FR" sz="1500">
                <a:solidFill>
                  <a:srgbClr val="64748B"/>
                </a:solidFill>
              </a:rPr>
              <a:t>Sources ouvertes, conforme RGPD.</a:t>
            </a:r>
            <a:endParaRPr/>
          </a:p>
        </p:txBody>
      </p:sp>
      <p:sp>
        <p:nvSpPr>
          <p:cNvPr id="930761354" name="Page"/>
          <p:cNvSpPr txBox="1"/>
          <p:nvPr/>
        </p:nvSpPr>
        <p:spPr bwMode="auto">
          <a:xfrm>
            <a:off x="10515600" y="6451600"/>
            <a:ext cx="914400" cy="254000"/>
          </a:xfrm>
          <a:prstGeom prst="rect">
            <a:avLst/>
          </a:prstGeom>
          <a:noFill/>
          <a:ln>
            <a:noFill/>
          </a:ln>
        </p:spPr>
        <p:txBody>
          <a:bodyPr wrap="square" lIns="0" tIns="0" rIns="0" bIns="0" anchor="t">
            <a:normAutofit/>
          </a:bodyPr>
          <a:lstStyle/>
          <a:p>
            <a:pPr algn="r">
              <a:buNone/>
              <a:defRPr/>
            </a:pPr>
            <a:r>
              <a:rPr lang="fr-FR" sz="1400">
                <a:solidFill>
                  <a:srgbClr val="64748B"/>
                </a:solidFill>
              </a:rPr>
              <a:t>27</a:t>
            </a:r>
            <a:endParaRPr/>
          </a:p>
        </p:txBody>
      </p:sp>
      <p:pic>
        <p:nvPicPr>
          <p:cNvPr id="1878908984" name="Graphic 54" descr="POC livré"/>
          <p:cNvPicPr>
            <a:picLocks noChangeAspect="1"/>
          </p:cNvPicPr>
          <p:nvPr/>
        </p:nvPicPr>
        <p:blipFill rotWithShape="1">
          <a:blip r:embed="rId3">
            <a:extLst>
              <a:ext uri="{96DAC541-7B7A-43D3-8B79-37D633B846F1}">
                <asvg:svgBlip xmlns:asvg="http://schemas.microsoft.com/office/drawing/2016/SVG/main" r:embed="rId4"/>
              </a:ext>
            </a:extLst>
          </a:blip>
          <a:stretch/>
        </p:blipFill>
        <p:spPr bwMode="auto">
          <a:xfrm>
            <a:off x="1168400" y="2730500"/>
            <a:ext cx="508000" cy="508000"/>
          </a:xfrm>
          <a:prstGeom prst="rect">
            <a:avLst/>
          </a:prstGeom>
        </p:spPr>
      </p:pic>
      <p:pic>
        <p:nvPicPr>
          <p:cNvPr id="1553176941" name="Graphic 55" descr="Accuracy"/>
          <p:cNvPicPr>
            <a:picLocks noChangeAspect="1"/>
          </p:cNvPicPr>
          <p:nvPr/>
        </p:nvPicPr>
        <p:blipFill rotWithShape="1">
          <a:blip r:embed="rId5">
            <a:extLst>
              <a:ext uri="{96DAC541-7B7A-43D3-8B79-37D633B846F1}">
                <asvg:svgBlip xmlns:asvg="http://schemas.microsoft.com/office/drawing/2016/SVG/main" r:embed="rId6"/>
              </a:ext>
            </a:extLst>
          </a:blip>
          <a:stretch/>
        </p:blipFill>
        <p:spPr bwMode="auto">
          <a:xfrm>
            <a:off x="6400800" y="2730500"/>
            <a:ext cx="508000" cy="508000"/>
          </a:xfrm>
          <a:prstGeom prst="rect">
            <a:avLst/>
          </a:prstGeom>
        </p:spPr>
      </p:pic>
      <p:pic>
        <p:nvPicPr>
          <p:cNvPr id="647411373" name="Graphic 56" descr="Délinquance facteur 1"/>
          <p:cNvPicPr>
            <a:picLocks noChangeAspect="1"/>
          </p:cNvPicPr>
          <p:nvPr/>
        </p:nvPicPr>
        <p:blipFill rotWithShape="1">
          <a:blip r:embed="rId7">
            <a:extLst>
              <a:ext uri="{96DAC541-7B7A-43D3-8B79-37D633B846F1}">
                <asvg:svgBlip xmlns:asvg="http://schemas.microsoft.com/office/drawing/2016/SVG/main" r:embed="rId8"/>
              </a:ext>
            </a:extLst>
          </a:blip>
          <a:stretch/>
        </p:blipFill>
        <p:spPr bwMode="auto">
          <a:xfrm>
            <a:off x="1168400" y="4889500"/>
            <a:ext cx="508000" cy="508000"/>
          </a:xfrm>
          <a:prstGeom prst="rect">
            <a:avLst/>
          </a:prstGeom>
        </p:spPr>
      </p:pic>
      <p:pic>
        <p:nvPicPr>
          <p:cNvPr id="562459478" name="Graphic 57" descr="RGPD conforme"/>
          <p:cNvPicPr>
            <a:picLocks noChangeAspect="1"/>
          </p:cNvPicPr>
          <p:nvPr/>
        </p:nvPicPr>
        <p:blipFill rotWithShape="1">
          <a:blip r:embed="rId9">
            <a:extLst>
              <a:ext uri="{96DAC541-7B7A-43D3-8B79-37D633B846F1}">
                <asvg:svgBlip xmlns:asvg="http://schemas.microsoft.com/office/drawing/2016/SVG/main" r:embed="rId10"/>
              </a:ext>
            </a:extLst>
          </a:blip>
          <a:stretch/>
        </p:blipFill>
        <p:spPr bwMode="auto">
          <a:xfrm>
            <a:off x="6400800" y="4889500"/>
            <a:ext cx="508000" cy="508000"/>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med" p14:dur="500" advClick="1">
        <p:fade thruBlk="0"/>
      </p:transition>
    </mc:Choice>
    <mc:Fallback>
      <p:transition spd="med" advClick="1">
        <p:fade thruBlk="0"/>
      </p:transition>
    </mc:Fallback>
  </mc:AlternateContent>
  <p:timing>
    <p:tnLst>
      <p:par>
        <p:cTn id="1" dur="indefinite" restart="never" nodeType="tmRoot">
          <p:childTnLst>
            <p:par>
              <p:cTn id="2" fill="hold">
                <p:stCondLst>
                  <p:cond delay="0"/>
                </p:stCondLst>
                <p:childTnLst>
                  <p:par>
                    <p:cTn id="3" presetID="10" presetClass="entr" presetSubtype="0" fill="hold" grpId="0" nodeType="afterEffect">
                      <p:stCondLst>
                        <p:cond delay="500"/>
                      </p:stCondLst>
                      <p:childTnLst>
                        <p:set>
                          <p:cBhvr>
                            <p:cTn id="4" dur="1" fill="hold">
                              <p:stCondLst>
                                <p:cond delay="0"/>
                              </p:stCondLst>
                            </p:cTn>
                            <p:tgtEl>
                              <p:spTgt spid="166574371"/>
                            </p:tgtEl>
                            <p:attrNameLst>
                              <p:attrName>style.visibility</p:attrName>
                            </p:attrNameLst>
                          </p:cBhvr>
                          <p:to>
                            <p:strVal val="visible"/>
                          </p:to>
                        </p:set>
                        <p:animEffect transition="in" filter="fade">
                          <p:cBhvr>
                            <p:cTn id="5" dur="400"/>
                            <p:tgtEl>
                              <p:spTgt spid="166574371"/>
                            </p:tgtEl>
                          </p:cBhvr>
                        </p:animEffect>
                        <p:anim calcmode="lin" valueType="num">
                          <p:cBhvr additive="base">
                            <p:cTn id="6" dur="400" fill="hold"/>
                            <p:tgtEl>
                              <p:spTgt spid="166574371"/>
                            </p:tgtEl>
                            <p:attrNameLst>
                              <p:attrName>ppt_y</p:attrName>
                            </p:attrNameLst>
                          </p:cBhvr>
                          <p:tavLst>
                            <p:tav tm="0">
                              <p:val>
                                <p:fltVal val="0.045999999999999999"/>
                              </p:val>
                            </p:tav>
                            <p:tav tm="100000">
                              <p:val>
                                <p:fltVal val="0"/>
                              </p:val>
                            </p:tav>
                          </p:tavLst>
                        </p:anim>
                      </p:childTnLst>
                    </p:cTn>
                  </p:par>
                  <p:par>
                    <p:cTn id="7" presetID="10" presetClass="entr" presetSubtype="0" fill="hold" grpId="0" nodeType="afterEffect">
                      <p:stCondLst>
                        <p:cond delay="150"/>
                      </p:stCondLst>
                      <p:childTnLst>
                        <p:set>
                          <p:cBhvr>
                            <p:cTn id="8" dur="1" fill="hold">
                              <p:stCondLst>
                                <p:cond delay="0"/>
                              </p:stCondLst>
                            </p:cTn>
                            <p:tgtEl>
                              <p:spTgt spid="1068864985"/>
                            </p:tgtEl>
                            <p:attrNameLst>
                              <p:attrName>style.visibility</p:attrName>
                            </p:attrNameLst>
                          </p:cBhvr>
                          <p:to>
                            <p:strVal val="visible"/>
                          </p:to>
                        </p:set>
                        <p:animEffect transition="in" filter="fade">
                          <p:cBhvr>
                            <p:cTn id="9" dur="400"/>
                            <p:tgtEl>
                              <p:spTgt spid="1068864985"/>
                            </p:tgtEl>
                          </p:cBhvr>
                        </p:animEffect>
                        <p:anim calcmode="lin" valueType="num">
                          <p:cBhvr additive="base">
                            <p:cTn id="10" dur="400" fill="hold"/>
                            <p:tgtEl>
                              <p:spTgt spid="1068864985"/>
                            </p:tgtEl>
                            <p:attrNameLst>
                              <p:attrName>ppt_y</p:attrName>
                            </p:attrNameLst>
                          </p:cBhvr>
                          <p:tavLst>
                            <p:tav tm="0">
                              <p:val>
                                <p:fltVal val="0.045999999999999999"/>
                              </p:val>
                            </p:tav>
                            <p:tav tm="100000">
                              <p:val>
                                <p:fltVal val="0"/>
                              </p:val>
                            </p:tav>
                          </p:tavLst>
                        </p:anim>
                      </p:childTnLst>
                    </p:cTn>
                  </p:par>
                  <p:par>
                    <p:cTn id="11" presetID="10" presetClass="entr" presetSubtype="0" fill="hold" grpId="0" nodeType="afterEffect">
                      <p:stCondLst>
                        <p:cond delay="150"/>
                      </p:stCondLst>
                      <p:childTnLst>
                        <p:set>
                          <p:cBhvr>
                            <p:cTn id="12" dur="1" fill="hold">
                              <p:stCondLst>
                                <p:cond delay="0"/>
                              </p:stCondLst>
                            </p:cTn>
                            <p:tgtEl>
                              <p:spTgt spid="800876137"/>
                            </p:tgtEl>
                            <p:attrNameLst>
                              <p:attrName>style.visibility</p:attrName>
                            </p:attrNameLst>
                          </p:cBhvr>
                          <p:to>
                            <p:strVal val="visible"/>
                          </p:to>
                        </p:set>
                        <p:animEffect transition="in" filter="fade">
                          <p:cBhvr>
                            <p:cTn id="13" dur="400"/>
                            <p:tgtEl>
                              <p:spTgt spid="800876137"/>
                            </p:tgtEl>
                          </p:cBhvr>
                        </p:animEffect>
                        <p:anim calcmode="lin" valueType="num">
                          <p:cBhvr additive="base">
                            <p:cTn id="14" dur="400" fill="hold"/>
                            <p:tgtEl>
                              <p:spTgt spid="800876137"/>
                            </p:tgtEl>
                            <p:attrNameLst>
                              <p:attrName>ppt_y</p:attrName>
                            </p:attrNameLst>
                          </p:cBhvr>
                          <p:tavLst>
                            <p:tav tm="0">
                              <p:val>
                                <p:fltVal val="0.045999999999999999"/>
                              </p:val>
                            </p:tav>
                            <p:tav tm="100000">
                              <p:val>
                                <p:fltVal val="0"/>
                              </p:val>
                            </p:tav>
                          </p:tavLst>
                        </p:anim>
                      </p:childTnLst>
                    </p:cTn>
                  </p:par>
                  <p:par>
                    <p:cTn id="15" presetID="10" presetClass="entr" presetSubtype="0" fill="hold" grpId="0" nodeType="afterEffect">
                      <p:stCondLst>
                        <p:cond delay="150"/>
                      </p:stCondLst>
                      <p:childTnLst>
                        <p:set>
                          <p:cBhvr>
                            <p:cTn id="16" dur="1" fill="hold">
                              <p:stCondLst>
                                <p:cond delay="0"/>
                              </p:stCondLst>
                            </p:cTn>
                            <p:tgtEl>
                              <p:spTgt spid="2092128929"/>
                            </p:tgtEl>
                            <p:attrNameLst>
                              <p:attrName>style.visibility</p:attrName>
                            </p:attrNameLst>
                          </p:cBhvr>
                          <p:to>
                            <p:strVal val="visible"/>
                          </p:to>
                        </p:set>
                        <p:animEffect transition="in" filter="fade">
                          <p:cBhvr>
                            <p:cTn id="17" dur="400"/>
                            <p:tgtEl>
                              <p:spTgt spid="2092128929"/>
                            </p:tgtEl>
                          </p:cBhvr>
                        </p:animEffect>
                        <p:anim calcmode="lin" valueType="num">
                          <p:cBhvr additive="base">
                            <p:cTn id="18" dur="400" fill="hold"/>
                            <p:tgtEl>
                              <p:spTgt spid="2092128929"/>
                            </p:tgtEl>
                            <p:attrNameLst>
                              <p:attrName>ppt_y</p:attrName>
                            </p:attrNameLst>
                          </p:cBhvr>
                          <p:tavLst>
                            <p:tav tm="0">
                              <p:val>
                                <p:fltVal val="0.045999999999999999"/>
                              </p:val>
                            </p:tav>
                            <p:tav tm="100000">
                              <p:val>
                                <p:fltVal val="0"/>
                              </p:val>
                            </p:tav>
                          </p:tavLst>
                        </p:anim>
                      </p:childTnLst>
                    </p:cTn>
                  </p:par>
                  <p:par>
                    <p:cTn id="19" presetID="10" presetClass="entr" presetSubtype="0" fill="hold" grpId="0" nodeType="afterEffect">
                      <p:stCondLst>
                        <p:cond delay="150"/>
                      </p:stCondLst>
                      <p:childTnLst>
                        <p:set>
                          <p:cBhvr>
                            <p:cTn id="20" dur="1" fill="hold">
                              <p:stCondLst>
                                <p:cond delay="0"/>
                              </p:stCondLst>
                            </p:cTn>
                            <p:tgtEl>
                              <p:spTgt spid="791833163"/>
                            </p:tgtEl>
                            <p:attrNameLst>
                              <p:attrName>style.visibility</p:attrName>
                            </p:attrNameLst>
                          </p:cBhvr>
                          <p:to>
                            <p:strVal val="visible"/>
                          </p:to>
                        </p:set>
                        <p:animEffect transition="in" filter="fade">
                          <p:cBhvr>
                            <p:cTn id="21" dur="400"/>
                            <p:tgtEl>
                              <p:spTgt spid="791833163"/>
                            </p:tgtEl>
                          </p:cBhvr>
                        </p:animEffect>
                        <p:anim calcmode="lin" valueType="num">
                          <p:cBhvr additive="base">
                            <p:cTn id="22" dur="400" fill="hold"/>
                            <p:tgtEl>
                              <p:spTgt spid="791833163"/>
                            </p:tgtEl>
                            <p:attrNameLst>
                              <p:attrName>ppt_y</p:attrName>
                            </p:attrNameLst>
                          </p:cBhvr>
                          <p:tavLst>
                            <p:tav tm="0">
                              <p:val>
                                <p:fltVal val="0.045999999999999999"/>
                              </p:val>
                            </p:tav>
                            <p:tav tm="100000">
                              <p:val>
                                <p:fltVal val="0"/>
                              </p:val>
                            </p:tav>
                          </p:tavLst>
                        </p:anim>
                      </p:childTnLst>
                    </p:cTn>
                  </p:par>
                  <p:par>
                    <p:cTn id="23" presetID="10" presetClass="entr" presetSubtype="0" fill="hold" grpId="0" nodeType="afterEffect">
                      <p:stCondLst>
                        <p:cond delay="150"/>
                      </p:stCondLst>
                      <p:childTnLst>
                        <p:set>
                          <p:cBhvr>
                            <p:cTn id="24" dur="1" fill="hold">
                              <p:stCondLst>
                                <p:cond delay="0"/>
                              </p:stCondLst>
                            </p:cTn>
                            <p:tgtEl>
                              <p:spTgt spid="653338451"/>
                            </p:tgtEl>
                            <p:attrNameLst>
                              <p:attrName>style.visibility</p:attrName>
                            </p:attrNameLst>
                          </p:cBhvr>
                          <p:to>
                            <p:strVal val="visible"/>
                          </p:to>
                        </p:set>
                        <p:animEffect transition="in" filter="fade">
                          <p:cBhvr>
                            <p:cTn id="25" dur="400"/>
                            <p:tgtEl>
                              <p:spTgt spid="653338451"/>
                            </p:tgtEl>
                          </p:cBhvr>
                        </p:animEffect>
                        <p:anim calcmode="lin" valueType="num">
                          <p:cBhvr additive="base">
                            <p:cTn id="26" dur="400" fill="hold"/>
                            <p:tgtEl>
                              <p:spTgt spid="653338451"/>
                            </p:tgtEl>
                            <p:attrNameLst>
                              <p:attrName>ppt_y</p:attrName>
                            </p:attrNameLst>
                          </p:cBhvr>
                          <p:tavLst>
                            <p:tav tm="0">
                              <p:val>
                                <p:fltVal val="0.045999999999999999"/>
                              </p:val>
                            </p:tav>
                            <p:tav tm="100000">
                              <p:val>
                                <p:fltVal val="0"/>
                              </p:val>
                            </p:tav>
                          </p:tavLst>
                        </p:anim>
                      </p:childTnLst>
                    </p:cTn>
                  </p:par>
                  <p:par>
                    <p:cTn id="27" presetID="10" presetClass="entr" presetSubtype="0" fill="hold" grpId="0" nodeType="afterEffect">
                      <p:stCondLst>
                        <p:cond delay="150"/>
                      </p:stCondLst>
                      <p:childTnLst>
                        <p:set>
                          <p:cBhvr>
                            <p:cTn id="28" dur="1" fill="hold">
                              <p:stCondLst>
                                <p:cond delay="0"/>
                              </p:stCondLst>
                            </p:cTn>
                            <p:tgtEl>
                              <p:spTgt spid="1072055909"/>
                            </p:tgtEl>
                            <p:attrNameLst>
                              <p:attrName>style.visibility</p:attrName>
                            </p:attrNameLst>
                          </p:cBhvr>
                          <p:to>
                            <p:strVal val="visible"/>
                          </p:to>
                        </p:set>
                        <p:animEffect transition="in" filter="fade">
                          <p:cBhvr>
                            <p:cTn id="29" dur="400"/>
                            <p:tgtEl>
                              <p:spTgt spid="1072055909"/>
                            </p:tgtEl>
                          </p:cBhvr>
                        </p:animEffect>
                        <p:anim calcmode="lin" valueType="num">
                          <p:cBhvr additive="base">
                            <p:cTn id="30" dur="400" fill="hold"/>
                            <p:tgtEl>
                              <p:spTgt spid="1072055909"/>
                            </p:tgtEl>
                            <p:attrNameLst>
                              <p:attrName>ppt_y</p:attrName>
                            </p:attrNameLst>
                          </p:cBhvr>
                          <p:tavLst>
                            <p:tav tm="0">
                              <p:val>
                                <p:fltVal val="0.045999999999999999"/>
                              </p:val>
                            </p:tav>
                            <p:tav tm="100000">
                              <p:val>
                                <p:fltVal val="0"/>
                              </p:val>
                            </p:tav>
                          </p:tavLst>
                        </p:anim>
                      </p:childTnLst>
                    </p:cTn>
                  </p:par>
                  <p:par>
                    <p:cTn id="31" presetID="10" presetClass="entr" presetSubtype="0" fill="hold" grpId="0" nodeType="afterEffect">
                      <p:stCondLst>
                        <p:cond delay="150"/>
                      </p:stCondLst>
                      <p:childTnLst>
                        <p:set>
                          <p:cBhvr>
                            <p:cTn id="32" dur="1" fill="hold">
                              <p:stCondLst>
                                <p:cond delay="0"/>
                              </p:stCondLst>
                            </p:cTn>
                            <p:tgtEl>
                              <p:spTgt spid="930761354"/>
                            </p:tgtEl>
                            <p:attrNameLst>
                              <p:attrName>style.visibility</p:attrName>
                            </p:attrNameLst>
                          </p:cBhvr>
                          <p:to>
                            <p:strVal val="visible"/>
                          </p:to>
                        </p:set>
                        <p:animEffect transition="in" filter="fade">
                          <p:cBhvr>
                            <p:cTn id="33" dur="400"/>
                            <p:tgtEl>
                              <p:spTgt spid="930761354"/>
                            </p:tgtEl>
                          </p:cBhvr>
                        </p:animEffect>
                        <p:anim calcmode="lin" valueType="num">
                          <p:cBhvr additive="base">
                            <p:cTn id="34" dur="400" fill="hold"/>
                            <p:tgtEl>
                              <p:spTgt spid="930761354"/>
                            </p:tgtEl>
                            <p:attrNameLst>
                              <p:attrName>ppt_y</p:attrName>
                            </p:attrNameLst>
                          </p:cBhvr>
                          <p:tavLst>
                            <p:tav tm="0">
                              <p:val>
                                <p:fltVal val="0.045999999999999999"/>
                              </p:val>
                            </p:tav>
                            <p:tav tm="100000">
                              <p:val>
                                <p:fltVal val="0"/>
                              </p:val>
                            </p:tav>
                          </p:tavLst>
                        </p:anim>
                      </p:childTnLst>
                    </p:cTn>
                  </p:par>
                </p:childTnLst>
              </p:cTn>
            </p:par>
          </p:childTnLst>
        </p:cTn>
      </p:par>
    </p:tnLst>
    <p:bldLst>
      <p:bldP spid="166574371" grpId="0" animBg="1"/>
      <p:bldP spid="1068864985" grpId="0" animBg="1"/>
      <p:bldP spid="800876137" grpId="0" animBg="1"/>
      <p:bldP spid="2092128929" grpId="0" animBg="1"/>
      <p:bldP spid="791833163" grpId="0" animBg="1"/>
      <p:bldP spid="653338451" grpId="0" animBg="1"/>
      <p:bldP spid="1072055909" grpId="0" animBg="1"/>
      <p:bldP spid="930761354" grpId="0" animBg="1"/>
    </p:bldLst>
  </p:timing>
</p:sld>
</file>

<file path=ppt/slides/slide2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325920124" name="Eyebrow"/>
          <p:cNvSpPr txBox="1"/>
          <p:nvPr/>
        </p:nvSpPr>
        <p:spPr bwMode="auto">
          <a:xfrm>
            <a:off x="914400" y="584200"/>
            <a:ext cx="9144000" cy="254000"/>
          </a:xfrm>
          <a:prstGeom prst="rect">
            <a:avLst/>
          </a:prstGeom>
          <a:noFill/>
          <a:ln>
            <a:noFill/>
          </a:ln>
        </p:spPr>
        <p:txBody>
          <a:bodyPr wrap="square" lIns="0" tIns="0" rIns="0" bIns="0" anchor="t">
            <a:normAutofit/>
          </a:bodyPr>
          <a:lstStyle/>
          <a:p>
            <a:pPr>
              <a:buNone/>
              <a:defRPr/>
            </a:pPr>
            <a:r>
              <a:rPr lang="fr-FR" sz="1400" b="1" spc="240">
                <a:solidFill>
                  <a:srgbClr val="64748B"/>
                </a:solidFill>
              </a:rPr>
              <a:t>06 · CONCLUSION</a:t>
            </a:r>
            <a:endParaRPr/>
          </a:p>
        </p:txBody>
      </p:sp>
      <p:sp>
        <p:nvSpPr>
          <p:cNvPr id="628004624" name="Titre"/>
          <p:cNvSpPr txBox="1"/>
          <p:nvPr/>
        </p:nvSpPr>
        <p:spPr bwMode="auto">
          <a:xfrm>
            <a:off x="914400" y="863599"/>
            <a:ext cx="10363200" cy="508000"/>
          </a:xfrm>
          <a:prstGeom prst="rect">
            <a:avLst/>
          </a:prstGeom>
          <a:noFill/>
          <a:ln>
            <a:noFill/>
          </a:ln>
        </p:spPr>
        <p:txBody>
          <a:bodyPr wrap="square" lIns="0" tIns="0" rIns="0" bIns="0" anchor="t">
            <a:normAutofit/>
          </a:bodyPr>
          <a:lstStyle/>
          <a:p>
            <a:pPr>
              <a:buNone/>
              <a:defRPr/>
            </a:pPr>
            <a:r>
              <a:rPr lang="fr-FR" sz="3000">
                <a:solidFill>
                  <a:srgbClr val="0B1F3A"/>
                </a:solidFill>
                <a:latin typeface="Segoe UI Semibold"/>
              </a:rPr>
              <a:t>Limites &amp; recommandations</a:t>
            </a:r>
            <a:endParaRPr/>
          </a:p>
        </p:txBody>
      </p:sp>
      <p:sp>
        <p:nvSpPr>
          <p:cNvPr id="1177375508" name="Filet"/>
          <p:cNvSpPr/>
          <p:nvPr/>
        </p:nvSpPr>
        <p:spPr bwMode="auto">
          <a:xfrm>
            <a:off x="914400" y="1473200"/>
            <a:ext cx="685800" cy="50800"/>
          </a:xfrm>
          <a:prstGeom prst="rect">
            <a:avLst/>
          </a:prstGeom>
          <a:solidFill>
            <a:srgbClr val="2563EB"/>
          </a:solidFill>
          <a:ln>
            <a:noFill/>
          </a:ln>
        </p:spPr>
        <p:txBody>
          <a:bodyPr wrap="square" lIns="0" tIns="0" rIns="0" bIns="0" anchor="t">
            <a:normAutofit/>
          </a:bodyPr>
          <a:lstStyle/>
          <a:p>
            <a:pPr>
              <a:defRPr/>
            </a:pPr>
            <a:endParaRPr/>
          </a:p>
        </p:txBody>
      </p:sp>
      <p:sp>
        <p:nvSpPr>
          <p:cNvPr id="1577763949" name="PanelL"/>
          <p:cNvSpPr/>
          <p:nvPr/>
        </p:nvSpPr>
        <p:spPr bwMode="auto">
          <a:xfrm>
            <a:off x="914400" y="1905000"/>
            <a:ext cx="5054600" cy="4089400"/>
          </a:xfrm>
          <a:prstGeom prst="roundRect">
            <a:avLst>
              <a:gd name="adj" fmla="val 5000"/>
            </a:avLst>
          </a:prstGeom>
          <a:solidFill>
            <a:srgbClr val="FFFFFF"/>
          </a:solidFill>
          <a:ln w="9525">
            <a:solidFill>
              <a:srgbClr val="E2E8F0"/>
            </a:solidFill>
          </a:ln>
        </p:spPr>
        <p:txBody>
          <a:bodyPr wrap="square" lIns="0" tIns="0" rIns="0" bIns="0" anchor="t">
            <a:normAutofit/>
          </a:bodyPr>
          <a:lstStyle/>
          <a:p>
            <a:pPr>
              <a:defRPr/>
            </a:pPr>
            <a:endParaRPr/>
          </a:p>
        </p:txBody>
      </p:sp>
      <p:sp>
        <p:nvSpPr>
          <p:cNvPr id="1989609465" name="PanelR"/>
          <p:cNvSpPr/>
          <p:nvPr/>
        </p:nvSpPr>
        <p:spPr bwMode="auto">
          <a:xfrm>
            <a:off x="6223000" y="1905000"/>
            <a:ext cx="5054600" cy="4089400"/>
          </a:xfrm>
          <a:prstGeom prst="roundRect">
            <a:avLst>
              <a:gd name="adj" fmla="val 5000"/>
            </a:avLst>
          </a:prstGeom>
          <a:solidFill>
            <a:srgbClr val="F1F5F9"/>
          </a:solidFill>
          <a:ln w="9525">
            <a:solidFill>
              <a:srgbClr val="E2E8F0"/>
            </a:solidFill>
          </a:ln>
        </p:spPr>
        <p:txBody>
          <a:bodyPr wrap="square" lIns="0" tIns="0" rIns="0" bIns="0" anchor="t">
            <a:normAutofit/>
          </a:bodyPr>
          <a:lstStyle/>
          <a:p>
            <a:pPr>
              <a:defRPr/>
            </a:pPr>
            <a:endParaRPr/>
          </a:p>
        </p:txBody>
      </p:sp>
      <p:sp>
        <p:nvSpPr>
          <p:cNvPr id="942266723" name="HL"/>
          <p:cNvSpPr txBox="1"/>
          <p:nvPr/>
        </p:nvSpPr>
        <p:spPr bwMode="auto">
          <a:xfrm>
            <a:off x="1219200" y="2235200"/>
            <a:ext cx="4445000" cy="304800"/>
          </a:xfrm>
          <a:prstGeom prst="rect">
            <a:avLst/>
          </a:prstGeom>
          <a:noFill/>
          <a:ln>
            <a:noFill/>
          </a:ln>
        </p:spPr>
        <p:txBody>
          <a:bodyPr wrap="square" lIns="0" tIns="0" rIns="0" bIns="0" anchor="t">
            <a:normAutofit/>
          </a:bodyPr>
          <a:lstStyle/>
          <a:p>
            <a:pPr>
              <a:buNone/>
              <a:defRPr/>
            </a:pPr>
            <a:r>
              <a:rPr lang="fr-FR" sz="1500" b="1" spc="200">
                <a:solidFill>
                  <a:srgbClr val="64748B"/>
                </a:solidFill>
              </a:rPr>
              <a:t>LIMITES</a:t>
            </a:r>
            <a:endParaRPr/>
          </a:p>
        </p:txBody>
      </p:sp>
      <p:sp>
        <p:nvSpPr>
          <p:cNvPr id="1332488655" name="BL"/>
          <p:cNvSpPr txBox="1"/>
          <p:nvPr/>
        </p:nvSpPr>
        <p:spPr bwMode="auto">
          <a:xfrm>
            <a:off x="1219200" y="2667000"/>
            <a:ext cx="4445000" cy="3175000"/>
          </a:xfrm>
          <a:prstGeom prst="rect">
            <a:avLst/>
          </a:prstGeom>
          <a:noFill/>
          <a:ln>
            <a:noFill/>
          </a:ln>
        </p:spPr>
        <p:txBody>
          <a:bodyPr wrap="square" lIns="0" tIns="0" rIns="0" bIns="0" anchor="t">
            <a:normAutofit/>
          </a:bodyPr>
          <a:lstStyle/>
          <a:p>
            <a:pPr marL="285750" indent="-285750">
              <a:lnSpc>
                <a:spcPts val="2000"/>
              </a:lnSpc>
              <a:spcBef>
                <a:spcPts val="900"/>
              </a:spcBef>
              <a:buClr>
                <a:srgbClr val="64748B"/>
              </a:buClr>
              <a:buFont typeface="Arial"/>
              <a:buChar char="•"/>
              <a:defRPr/>
            </a:pPr>
            <a:r>
              <a:rPr lang="fr-FR" sz="1600">
                <a:solidFill>
                  <a:srgbClr val="0B1F3A"/>
                </a:solidFill>
              </a:rPr>
              <a:t>Délinquance disponible à la maille départementale seulement.</a:t>
            </a:r>
            <a:endParaRPr/>
          </a:p>
          <a:p>
            <a:pPr marL="285750" indent="-285750">
              <a:lnSpc>
                <a:spcPts val="2000"/>
              </a:lnSpc>
              <a:spcBef>
                <a:spcPts val="900"/>
              </a:spcBef>
              <a:buClr>
                <a:srgbClr val="64748B"/>
              </a:buClr>
              <a:buFont typeface="Arial"/>
              <a:buChar char="•"/>
              <a:defRPr/>
            </a:pPr>
            <a:r>
              <a:rPr lang="fr-FR" sz="1600">
                <a:solidFill>
                  <a:srgbClr val="0B1F3A"/>
                </a:solidFill>
              </a:rPr>
              <a:t>Données statiques, sans mise à jour en temps réel.</a:t>
            </a:r>
            <a:endParaRPr/>
          </a:p>
          <a:p>
            <a:pPr marL="285750" indent="-285750">
              <a:lnSpc>
                <a:spcPts val="2000"/>
              </a:lnSpc>
              <a:spcBef>
                <a:spcPts val="900"/>
              </a:spcBef>
              <a:buClr>
                <a:srgbClr val="64748B"/>
              </a:buClr>
              <a:buFont typeface="Arial"/>
              <a:buChar char="•"/>
              <a:defRPr/>
            </a:pPr>
            <a:r>
              <a:rPr lang="fr-FR" sz="1600">
                <a:solidFill>
                  <a:srgbClr val="0B1F3A"/>
                </a:solidFill>
              </a:rPr>
              <a:t>Périmètre limité à une seule région.</a:t>
            </a:r>
            <a:endParaRPr/>
          </a:p>
        </p:txBody>
      </p:sp>
      <p:sp>
        <p:nvSpPr>
          <p:cNvPr id="1450434049" name="HR"/>
          <p:cNvSpPr txBox="1"/>
          <p:nvPr/>
        </p:nvSpPr>
        <p:spPr bwMode="auto">
          <a:xfrm>
            <a:off x="6527800" y="2235200"/>
            <a:ext cx="4445000" cy="304800"/>
          </a:xfrm>
          <a:prstGeom prst="rect">
            <a:avLst/>
          </a:prstGeom>
          <a:noFill/>
          <a:ln>
            <a:noFill/>
          </a:ln>
        </p:spPr>
        <p:txBody>
          <a:bodyPr wrap="square" lIns="0" tIns="0" rIns="0" bIns="0" anchor="t">
            <a:normAutofit/>
          </a:bodyPr>
          <a:lstStyle/>
          <a:p>
            <a:pPr>
              <a:buNone/>
              <a:defRPr/>
            </a:pPr>
            <a:r>
              <a:rPr lang="fr-FR" sz="1500" b="1" spc="200">
                <a:solidFill>
                  <a:srgbClr val="2563EB"/>
                </a:solidFill>
              </a:rPr>
              <a:t>RECOMMANDATIONS</a:t>
            </a:r>
            <a:endParaRPr/>
          </a:p>
        </p:txBody>
      </p:sp>
      <p:sp>
        <p:nvSpPr>
          <p:cNvPr id="1510534980" name="BR"/>
          <p:cNvSpPr txBox="1"/>
          <p:nvPr/>
        </p:nvSpPr>
        <p:spPr bwMode="auto">
          <a:xfrm>
            <a:off x="6527800" y="2667000"/>
            <a:ext cx="4445000" cy="3175000"/>
          </a:xfrm>
          <a:prstGeom prst="rect">
            <a:avLst/>
          </a:prstGeom>
          <a:noFill/>
          <a:ln>
            <a:noFill/>
          </a:ln>
        </p:spPr>
        <p:txBody>
          <a:bodyPr wrap="square" lIns="0" tIns="0" rIns="0" bIns="0" anchor="t">
            <a:normAutofit/>
          </a:bodyPr>
          <a:lstStyle/>
          <a:p>
            <a:pPr marL="285750" indent="-285750">
              <a:lnSpc>
                <a:spcPts val="2000"/>
              </a:lnSpc>
              <a:spcBef>
                <a:spcPts val="900"/>
              </a:spcBef>
              <a:buClr>
                <a:srgbClr val="2563EB"/>
              </a:buClr>
              <a:buFont typeface="Arial"/>
              <a:buChar char="•"/>
              <a:defRPr/>
            </a:pPr>
            <a:r>
              <a:rPr lang="fr-FR" sz="1600">
                <a:solidFill>
                  <a:srgbClr val="0B1F3A"/>
                </a:solidFill>
              </a:rPr>
              <a:t>Descendre la délinquance à la maille cantonale.</a:t>
            </a:r>
            <a:endParaRPr/>
          </a:p>
          <a:p>
            <a:pPr marL="285750" indent="-285750">
              <a:lnSpc>
                <a:spcPts val="2000"/>
              </a:lnSpc>
              <a:spcBef>
                <a:spcPts val="900"/>
              </a:spcBef>
              <a:buClr>
                <a:srgbClr val="2563EB"/>
              </a:buClr>
              <a:buFont typeface="Arial"/>
              <a:buChar char="•"/>
              <a:defRPr/>
            </a:pPr>
            <a:r>
              <a:rPr lang="fr-FR" sz="1600">
                <a:solidFill>
                  <a:srgbClr val="0B1F3A"/>
                </a:solidFill>
              </a:rPr>
              <a:t>Mise à jour automatique des données via API.</a:t>
            </a:r>
            <a:endParaRPr/>
          </a:p>
          <a:p>
            <a:pPr marL="285750" indent="-285750">
              <a:lnSpc>
                <a:spcPts val="2000"/>
              </a:lnSpc>
              <a:spcBef>
                <a:spcPts val="900"/>
              </a:spcBef>
              <a:buClr>
                <a:srgbClr val="2563EB"/>
              </a:buClr>
              <a:buFont typeface="Arial"/>
              <a:buChar char="•"/>
              <a:defRPr/>
            </a:pPr>
            <a:r>
              <a:rPr lang="fr-FR" sz="1600">
                <a:solidFill>
                  <a:srgbClr val="0B1F3A"/>
                </a:solidFill>
              </a:rPr>
              <a:t>Extension de l'approche à l'échelle nationale.</a:t>
            </a:r>
            <a:endParaRPr/>
          </a:p>
        </p:txBody>
      </p:sp>
      <p:sp>
        <p:nvSpPr>
          <p:cNvPr id="1494519940" name="Page"/>
          <p:cNvSpPr txBox="1"/>
          <p:nvPr/>
        </p:nvSpPr>
        <p:spPr bwMode="auto">
          <a:xfrm>
            <a:off x="10515600" y="6451600"/>
            <a:ext cx="914400" cy="254000"/>
          </a:xfrm>
          <a:prstGeom prst="rect">
            <a:avLst/>
          </a:prstGeom>
          <a:noFill/>
          <a:ln>
            <a:noFill/>
          </a:ln>
        </p:spPr>
        <p:txBody>
          <a:bodyPr wrap="square" lIns="0" tIns="0" rIns="0" bIns="0" anchor="t">
            <a:normAutofit/>
          </a:bodyPr>
          <a:lstStyle/>
          <a:p>
            <a:pPr algn="r">
              <a:buNone/>
              <a:defRPr/>
            </a:pPr>
            <a:r>
              <a:rPr lang="fr-FR" sz="1400">
                <a:solidFill>
                  <a:srgbClr val="64748B"/>
                </a:solidFill>
              </a:rPr>
              <a:t>28</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med" p14:dur="500" advClick="1">
        <p:fade thruBlk="0"/>
      </p:transition>
    </mc:Choice>
    <mc:Fallback>
      <p:transition spd="med" advClick="1">
        <p:fade thruBlk="0"/>
      </p:transition>
    </mc:Fallback>
  </mc:AlternateContent>
  <p:timing>
    <p:tnLst>
      <p:par>
        <p:cTn id="1" dur="indefinite" restart="never" nodeType="tmRoot">
          <p:childTnLst>
            <p:par>
              <p:cTn id="2" fill="hold">
                <p:stCondLst>
                  <p:cond delay="0"/>
                </p:stCondLst>
                <p:childTnLst>
                  <p:par>
                    <p:cTn id="3" presetID="10" presetClass="entr" presetSubtype="0" fill="hold" grpId="0" nodeType="afterEffect">
                      <p:stCondLst>
                        <p:cond delay="500"/>
                      </p:stCondLst>
                      <p:childTnLst>
                        <p:set>
                          <p:cBhvr>
                            <p:cTn id="4" dur="1" fill="hold">
                              <p:stCondLst>
                                <p:cond delay="0"/>
                              </p:stCondLst>
                            </p:cTn>
                            <p:tgtEl>
                              <p:spTgt spid="1325920124"/>
                            </p:tgtEl>
                            <p:attrNameLst>
                              <p:attrName>style.visibility</p:attrName>
                            </p:attrNameLst>
                          </p:cBhvr>
                          <p:to>
                            <p:strVal val="visible"/>
                          </p:to>
                        </p:set>
                        <p:animEffect transition="in" filter="fade">
                          <p:cBhvr>
                            <p:cTn id="5" dur="400"/>
                            <p:tgtEl>
                              <p:spTgt spid="1325920124"/>
                            </p:tgtEl>
                          </p:cBhvr>
                        </p:animEffect>
                        <p:anim calcmode="lin" valueType="num">
                          <p:cBhvr additive="base">
                            <p:cTn id="6" dur="400" fill="hold"/>
                            <p:tgtEl>
                              <p:spTgt spid="1325920124"/>
                            </p:tgtEl>
                            <p:attrNameLst>
                              <p:attrName>ppt_y</p:attrName>
                            </p:attrNameLst>
                          </p:cBhvr>
                          <p:tavLst>
                            <p:tav tm="0">
                              <p:val>
                                <p:fltVal val="0.045999999999999999"/>
                              </p:val>
                            </p:tav>
                            <p:tav tm="100000">
                              <p:val>
                                <p:fltVal val="0"/>
                              </p:val>
                            </p:tav>
                          </p:tavLst>
                        </p:anim>
                      </p:childTnLst>
                    </p:cTn>
                  </p:par>
                  <p:par>
                    <p:cTn id="7" presetID="10" presetClass="entr" presetSubtype="0" fill="hold" grpId="0" nodeType="afterEffect">
                      <p:stCondLst>
                        <p:cond delay="150"/>
                      </p:stCondLst>
                      <p:childTnLst>
                        <p:set>
                          <p:cBhvr>
                            <p:cTn id="8" dur="1" fill="hold">
                              <p:stCondLst>
                                <p:cond delay="0"/>
                              </p:stCondLst>
                            </p:cTn>
                            <p:tgtEl>
                              <p:spTgt spid="628004624"/>
                            </p:tgtEl>
                            <p:attrNameLst>
                              <p:attrName>style.visibility</p:attrName>
                            </p:attrNameLst>
                          </p:cBhvr>
                          <p:to>
                            <p:strVal val="visible"/>
                          </p:to>
                        </p:set>
                        <p:animEffect transition="in" filter="fade">
                          <p:cBhvr>
                            <p:cTn id="9" dur="400"/>
                            <p:tgtEl>
                              <p:spTgt spid="628004624"/>
                            </p:tgtEl>
                          </p:cBhvr>
                        </p:animEffect>
                        <p:anim calcmode="lin" valueType="num">
                          <p:cBhvr additive="base">
                            <p:cTn id="10" dur="400" fill="hold"/>
                            <p:tgtEl>
                              <p:spTgt spid="628004624"/>
                            </p:tgtEl>
                            <p:attrNameLst>
                              <p:attrName>ppt_y</p:attrName>
                            </p:attrNameLst>
                          </p:cBhvr>
                          <p:tavLst>
                            <p:tav tm="0">
                              <p:val>
                                <p:fltVal val="0.045999999999999999"/>
                              </p:val>
                            </p:tav>
                            <p:tav tm="100000">
                              <p:val>
                                <p:fltVal val="0"/>
                              </p:val>
                            </p:tav>
                          </p:tavLst>
                        </p:anim>
                      </p:childTnLst>
                    </p:cTn>
                  </p:par>
                  <p:par>
                    <p:cTn id="11" presetID="10" presetClass="entr" presetSubtype="0" fill="hold" grpId="0" nodeType="afterEffect">
                      <p:stCondLst>
                        <p:cond delay="150"/>
                      </p:stCondLst>
                      <p:childTnLst>
                        <p:set>
                          <p:cBhvr>
                            <p:cTn id="12" dur="1" fill="hold">
                              <p:stCondLst>
                                <p:cond delay="0"/>
                              </p:stCondLst>
                            </p:cTn>
                            <p:tgtEl>
                              <p:spTgt spid="1177375508"/>
                            </p:tgtEl>
                            <p:attrNameLst>
                              <p:attrName>style.visibility</p:attrName>
                            </p:attrNameLst>
                          </p:cBhvr>
                          <p:to>
                            <p:strVal val="visible"/>
                          </p:to>
                        </p:set>
                        <p:animEffect transition="in" filter="fade">
                          <p:cBhvr>
                            <p:cTn id="13" dur="400"/>
                            <p:tgtEl>
                              <p:spTgt spid="1177375508"/>
                            </p:tgtEl>
                          </p:cBhvr>
                        </p:animEffect>
                        <p:anim calcmode="lin" valueType="num">
                          <p:cBhvr additive="base">
                            <p:cTn id="14" dur="400" fill="hold"/>
                            <p:tgtEl>
                              <p:spTgt spid="1177375508"/>
                            </p:tgtEl>
                            <p:attrNameLst>
                              <p:attrName>ppt_y</p:attrName>
                            </p:attrNameLst>
                          </p:cBhvr>
                          <p:tavLst>
                            <p:tav tm="0">
                              <p:val>
                                <p:fltVal val="0.045999999999999999"/>
                              </p:val>
                            </p:tav>
                            <p:tav tm="100000">
                              <p:val>
                                <p:fltVal val="0"/>
                              </p:val>
                            </p:tav>
                          </p:tavLst>
                        </p:anim>
                      </p:childTnLst>
                    </p:cTn>
                  </p:par>
                  <p:par>
                    <p:cTn id="15" presetID="10" presetClass="entr" presetSubtype="0" fill="hold" grpId="0" nodeType="afterEffect">
                      <p:stCondLst>
                        <p:cond delay="150"/>
                      </p:stCondLst>
                      <p:childTnLst>
                        <p:set>
                          <p:cBhvr>
                            <p:cTn id="16" dur="1" fill="hold">
                              <p:stCondLst>
                                <p:cond delay="0"/>
                              </p:stCondLst>
                            </p:cTn>
                            <p:tgtEl>
                              <p:spTgt spid="1577763949"/>
                            </p:tgtEl>
                            <p:attrNameLst>
                              <p:attrName>style.visibility</p:attrName>
                            </p:attrNameLst>
                          </p:cBhvr>
                          <p:to>
                            <p:strVal val="visible"/>
                          </p:to>
                        </p:set>
                        <p:animEffect transition="in" filter="fade">
                          <p:cBhvr>
                            <p:cTn id="17" dur="400"/>
                            <p:tgtEl>
                              <p:spTgt spid="1577763949"/>
                            </p:tgtEl>
                          </p:cBhvr>
                        </p:animEffect>
                        <p:anim calcmode="lin" valueType="num">
                          <p:cBhvr additive="base">
                            <p:cTn id="18" dur="400" fill="hold"/>
                            <p:tgtEl>
                              <p:spTgt spid="1577763949"/>
                            </p:tgtEl>
                            <p:attrNameLst>
                              <p:attrName>ppt_y</p:attrName>
                            </p:attrNameLst>
                          </p:cBhvr>
                          <p:tavLst>
                            <p:tav tm="0">
                              <p:val>
                                <p:fltVal val="0.045999999999999999"/>
                              </p:val>
                            </p:tav>
                            <p:tav tm="100000">
                              <p:val>
                                <p:fltVal val="0"/>
                              </p:val>
                            </p:tav>
                          </p:tavLst>
                        </p:anim>
                      </p:childTnLst>
                    </p:cTn>
                  </p:par>
                  <p:par>
                    <p:cTn id="19" presetID="10" presetClass="entr" presetSubtype="0" fill="hold" grpId="0" nodeType="afterEffect">
                      <p:stCondLst>
                        <p:cond delay="150"/>
                      </p:stCondLst>
                      <p:childTnLst>
                        <p:set>
                          <p:cBhvr>
                            <p:cTn id="20" dur="1" fill="hold">
                              <p:stCondLst>
                                <p:cond delay="0"/>
                              </p:stCondLst>
                            </p:cTn>
                            <p:tgtEl>
                              <p:spTgt spid="1989609465"/>
                            </p:tgtEl>
                            <p:attrNameLst>
                              <p:attrName>style.visibility</p:attrName>
                            </p:attrNameLst>
                          </p:cBhvr>
                          <p:to>
                            <p:strVal val="visible"/>
                          </p:to>
                        </p:set>
                        <p:animEffect transition="in" filter="fade">
                          <p:cBhvr>
                            <p:cTn id="21" dur="400"/>
                            <p:tgtEl>
                              <p:spTgt spid="1989609465"/>
                            </p:tgtEl>
                          </p:cBhvr>
                        </p:animEffect>
                        <p:anim calcmode="lin" valueType="num">
                          <p:cBhvr additive="base">
                            <p:cTn id="22" dur="400" fill="hold"/>
                            <p:tgtEl>
                              <p:spTgt spid="1989609465"/>
                            </p:tgtEl>
                            <p:attrNameLst>
                              <p:attrName>ppt_y</p:attrName>
                            </p:attrNameLst>
                          </p:cBhvr>
                          <p:tavLst>
                            <p:tav tm="0">
                              <p:val>
                                <p:fltVal val="0.045999999999999999"/>
                              </p:val>
                            </p:tav>
                            <p:tav tm="100000">
                              <p:val>
                                <p:fltVal val="0"/>
                              </p:val>
                            </p:tav>
                          </p:tavLst>
                        </p:anim>
                      </p:childTnLst>
                    </p:cTn>
                  </p:par>
                  <p:par>
                    <p:cTn id="23" presetID="10" presetClass="entr" presetSubtype="0" fill="hold" grpId="0" nodeType="afterEffect">
                      <p:stCondLst>
                        <p:cond delay="150"/>
                      </p:stCondLst>
                      <p:childTnLst>
                        <p:set>
                          <p:cBhvr>
                            <p:cTn id="24" dur="1" fill="hold">
                              <p:stCondLst>
                                <p:cond delay="0"/>
                              </p:stCondLst>
                            </p:cTn>
                            <p:tgtEl>
                              <p:spTgt spid="942266723"/>
                            </p:tgtEl>
                            <p:attrNameLst>
                              <p:attrName>style.visibility</p:attrName>
                            </p:attrNameLst>
                          </p:cBhvr>
                          <p:to>
                            <p:strVal val="visible"/>
                          </p:to>
                        </p:set>
                        <p:animEffect transition="in" filter="fade">
                          <p:cBhvr>
                            <p:cTn id="25" dur="400"/>
                            <p:tgtEl>
                              <p:spTgt spid="942266723"/>
                            </p:tgtEl>
                          </p:cBhvr>
                        </p:animEffect>
                        <p:anim calcmode="lin" valueType="num">
                          <p:cBhvr additive="base">
                            <p:cTn id="26" dur="400" fill="hold"/>
                            <p:tgtEl>
                              <p:spTgt spid="942266723"/>
                            </p:tgtEl>
                            <p:attrNameLst>
                              <p:attrName>ppt_y</p:attrName>
                            </p:attrNameLst>
                          </p:cBhvr>
                          <p:tavLst>
                            <p:tav tm="0">
                              <p:val>
                                <p:fltVal val="0.045999999999999999"/>
                              </p:val>
                            </p:tav>
                            <p:tav tm="100000">
                              <p:val>
                                <p:fltVal val="0"/>
                              </p:val>
                            </p:tav>
                          </p:tavLst>
                        </p:anim>
                      </p:childTnLst>
                    </p:cTn>
                  </p:par>
                  <p:par>
                    <p:cTn id="27" presetID="10" presetClass="entr" presetSubtype="0" fill="hold" grpId="0" nodeType="afterEffect">
                      <p:stCondLst>
                        <p:cond delay="150"/>
                      </p:stCondLst>
                      <p:childTnLst>
                        <p:set>
                          <p:cBhvr>
                            <p:cTn id="28" dur="1" fill="hold">
                              <p:stCondLst>
                                <p:cond delay="0"/>
                              </p:stCondLst>
                            </p:cTn>
                            <p:tgtEl>
                              <p:spTgt spid="1332488655"/>
                            </p:tgtEl>
                            <p:attrNameLst>
                              <p:attrName>style.visibility</p:attrName>
                            </p:attrNameLst>
                          </p:cBhvr>
                          <p:to>
                            <p:strVal val="visible"/>
                          </p:to>
                        </p:set>
                        <p:animEffect transition="in" filter="fade">
                          <p:cBhvr>
                            <p:cTn id="29" dur="400"/>
                            <p:tgtEl>
                              <p:spTgt spid="1332488655"/>
                            </p:tgtEl>
                          </p:cBhvr>
                        </p:animEffect>
                        <p:anim calcmode="lin" valueType="num">
                          <p:cBhvr additive="base">
                            <p:cTn id="30" dur="400" fill="hold"/>
                            <p:tgtEl>
                              <p:spTgt spid="1332488655"/>
                            </p:tgtEl>
                            <p:attrNameLst>
                              <p:attrName>ppt_y</p:attrName>
                            </p:attrNameLst>
                          </p:cBhvr>
                          <p:tavLst>
                            <p:tav tm="0">
                              <p:val>
                                <p:fltVal val="0.045999999999999999"/>
                              </p:val>
                            </p:tav>
                            <p:tav tm="100000">
                              <p:val>
                                <p:fltVal val="0"/>
                              </p:val>
                            </p:tav>
                          </p:tavLst>
                        </p:anim>
                      </p:childTnLst>
                    </p:cTn>
                  </p:par>
                  <p:par>
                    <p:cTn id="31" presetID="10" presetClass="entr" presetSubtype="0" fill="hold" grpId="0" nodeType="afterEffect">
                      <p:stCondLst>
                        <p:cond delay="150"/>
                      </p:stCondLst>
                      <p:childTnLst>
                        <p:set>
                          <p:cBhvr>
                            <p:cTn id="32" dur="1" fill="hold">
                              <p:stCondLst>
                                <p:cond delay="0"/>
                              </p:stCondLst>
                            </p:cTn>
                            <p:tgtEl>
                              <p:spTgt spid="1450434049"/>
                            </p:tgtEl>
                            <p:attrNameLst>
                              <p:attrName>style.visibility</p:attrName>
                            </p:attrNameLst>
                          </p:cBhvr>
                          <p:to>
                            <p:strVal val="visible"/>
                          </p:to>
                        </p:set>
                        <p:animEffect transition="in" filter="fade">
                          <p:cBhvr>
                            <p:cTn id="33" dur="400"/>
                            <p:tgtEl>
                              <p:spTgt spid="1450434049"/>
                            </p:tgtEl>
                          </p:cBhvr>
                        </p:animEffect>
                        <p:anim calcmode="lin" valueType="num">
                          <p:cBhvr additive="base">
                            <p:cTn id="34" dur="400" fill="hold"/>
                            <p:tgtEl>
                              <p:spTgt spid="1450434049"/>
                            </p:tgtEl>
                            <p:attrNameLst>
                              <p:attrName>ppt_y</p:attrName>
                            </p:attrNameLst>
                          </p:cBhvr>
                          <p:tavLst>
                            <p:tav tm="0">
                              <p:val>
                                <p:fltVal val="0.045999999999999999"/>
                              </p:val>
                            </p:tav>
                            <p:tav tm="100000">
                              <p:val>
                                <p:fltVal val="0"/>
                              </p:val>
                            </p:tav>
                          </p:tavLst>
                        </p:anim>
                      </p:childTnLst>
                    </p:cTn>
                  </p:par>
                  <p:par>
                    <p:cTn id="35" presetID="10" presetClass="entr" presetSubtype="0" fill="hold" grpId="0" nodeType="afterEffect">
                      <p:stCondLst>
                        <p:cond delay="150"/>
                      </p:stCondLst>
                      <p:childTnLst>
                        <p:set>
                          <p:cBhvr>
                            <p:cTn id="36" dur="1" fill="hold">
                              <p:stCondLst>
                                <p:cond delay="0"/>
                              </p:stCondLst>
                            </p:cTn>
                            <p:tgtEl>
                              <p:spTgt spid="1510534980"/>
                            </p:tgtEl>
                            <p:attrNameLst>
                              <p:attrName>style.visibility</p:attrName>
                            </p:attrNameLst>
                          </p:cBhvr>
                          <p:to>
                            <p:strVal val="visible"/>
                          </p:to>
                        </p:set>
                        <p:animEffect transition="in" filter="fade">
                          <p:cBhvr>
                            <p:cTn id="37" dur="400"/>
                            <p:tgtEl>
                              <p:spTgt spid="1510534980"/>
                            </p:tgtEl>
                          </p:cBhvr>
                        </p:animEffect>
                        <p:anim calcmode="lin" valueType="num">
                          <p:cBhvr additive="base">
                            <p:cTn id="38" dur="400" fill="hold"/>
                            <p:tgtEl>
                              <p:spTgt spid="1510534980"/>
                            </p:tgtEl>
                            <p:attrNameLst>
                              <p:attrName>ppt_y</p:attrName>
                            </p:attrNameLst>
                          </p:cBhvr>
                          <p:tavLst>
                            <p:tav tm="0">
                              <p:val>
                                <p:fltVal val="0.045999999999999999"/>
                              </p:val>
                            </p:tav>
                            <p:tav tm="100000">
                              <p:val>
                                <p:fltVal val="0"/>
                              </p:val>
                            </p:tav>
                          </p:tavLst>
                        </p:anim>
                      </p:childTnLst>
                    </p:cTn>
                  </p:par>
                  <p:par>
                    <p:cTn id="39" presetID="10" presetClass="entr" presetSubtype="0" fill="hold" grpId="0" nodeType="afterEffect">
                      <p:stCondLst>
                        <p:cond delay="150"/>
                      </p:stCondLst>
                      <p:childTnLst>
                        <p:set>
                          <p:cBhvr>
                            <p:cTn id="40" dur="1" fill="hold">
                              <p:stCondLst>
                                <p:cond delay="0"/>
                              </p:stCondLst>
                            </p:cTn>
                            <p:tgtEl>
                              <p:spTgt spid="1494519940"/>
                            </p:tgtEl>
                            <p:attrNameLst>
                              <p:attrName>style.visibility</p:attrName>
                            </p:attrNameLst>
                          </p:cBhvr>
                          <p:to>
                            <p:strVal val="visible"/>
                          </p:to>
                        </p:set>
                        <p:animEffect transition="in" filter="fade">
                          <p:cBhvr>
                            <p:cTn id="41" dur="400"/>
                            <p:tgtEl>
                              <p:spTgt spid="1494519940"/>
                            </p:tgtEl>
                          </p:cBhvr>
                        </p:animEffect>
                        <p:anim calcmode="lin" valueType="num">
                          <p:cBhvr additive="base">
                            <p:cTn id="42" dur="400" fill="hold"/>
                            <p:tgtEl>
                              <p:spTgt spid="1494519940"/>
                            </p:tgtEl>
                            <p:attrNameLst>
                              <p:attrName>ppt_y</p:attrName>
                            </p:attrNameLst>
                          </p:cBhvr>
                          <p:tavLst>
                            <p:tav tm="0">
                              <p:val>
                                <p:fltVal val="0.045999999999999999"/>
                              </p:val>
                            </p:tav>
                            <p:tav tm="100000">
                              <p:val>
                                <p:fltVal val="0"/>
                              </p:val>
                            </p:tav>
                          </p:tavLst>
                        </p:anim>
                      </p:childTnLst>
                    </p:cTn>
                  </p:par>
                </p:childTnLst>
              </p:cTn>
            </p:par>
          </p:childTnLst>
        </p:cTn>
      </p:par>
    </p:tnLst>
    <p:bldLst>
      <p:bldP spid="1325920124" grpId="0" animBg="1"/>
      <p:bldP spid="628004624" grpId="0" animBg="1"/>
      <p:bldP spid="1177375508" grpId="0" animBg="1"/>
      <p:bldP spid="1577763949" grpId="0" animBg="1"/>
      <p:bldP spid="1989609465" grpId="0" animBg="1"/>
      <p:bldP spid="942266723" grpId="0" animBg="1"/>
      <p:bldP spid="1332488655" grpId="0" animBg="1"/>
      <p:bldP spid="1450434049" grpId="0" animBg="1"/>
      <p:bldP spid="1510534980" grpId="0" animBg="1"/>
      <p:bldP spid="1494519940" grpId="0" animBg="1"/>
    </p:bldLst>
  </p:timing>
</p:sld>
</file>

<file path=ppt/slides/slide2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719331377" name="Eyebrow"/>
          <p:cNvSpPr txBox="1"/>
          <p:nvPr/>
        </p:nvSpPr>
        <p:spPr bwMode="auto">
          <a:xfrm>
            <a:off x="914400" y="584200"/>
            <a:ext cx="9144000" cy="254000"/>
          </a:xfrm>
          <a:prstGeom prst="rect">
            <a:avLst/>
          </a:prstGeom>
          <a:noFill/>
          <a:ln>
            <a:noFill/>
          </a:ln>
        </p:spPr>
        <p:txBody>
          <a:bodyPr wrap="square" lIns="0" tIns="0" rIns="0" bIns="0" anchor="t">
            <a:normAutofit/>
          </a:bodyPr>
          <a:lstStyle/>
          <a:p>
            <a:pPr>
              <a:buNone/>
              <a:defRPr/>
            </a:pPr>
            <a:r>
              <a:rPr lang="fr-FR" sz="1400" b="1" spc="240">
                <a:solidFill>
                  <a:srgbClr val="64748B"/>
                </a:solidFill>
              </a:rPr>
              <a:t>06 · CONCLUSION</a:t>
            </a:r>
            <a:endParaRPr/>
          </a:p>
        </p:txBody>
      </p:sp>
      <p:sp>
        <p:nvSpPr>
          <p:cNvPr id="820960524" name="Titre"/>
          <p:cNvSpPr txBox="1"/>
          <p:nvPr/>
        </p:nvSpPr>
        <p:spPr bwMode="auto">
          <a:xfrm>
            <a:off x="914400" y="863599"/>
            <a:ext cx="10363200" cy="508000"/>
          </a:xfrm>
          <a:prstGeom prst="rect">
            <a:avLst/>
          </a:prstGeom>
          <a:noFill/>
          <a:ln>
            <a:noFill/>
          </a:ln>
        </p:spPr>
        <p:txBody>
          <a:bodyPr wrap="square" lIns="0" tIns="0" rIns="0" bIns="0" anchor="t">
            <a:normAutofit/>
          </a:bodyPr>
          <a:lstStyle/>
          <a:p>
            <a:pPr>
              <a:buNone/>
              <a:defRPr/>
            </a:pPr>
            <a:r>
              <a:rPr lang="fr-FR" sz="3000">
                <a:solidFill>
                  <a:srgbClr val="0B1F3A"/>
                </a:solidFill>
                <a:latin typeface="Segoe UI Semibold"/>
              </a:rPr>
              <a:t>Objectif atteint &amp; compétences acquises</a:t>
            </a:r>
            <a:endParaRPr/>
          </a:p>
        </p:txBody>
      </p:sp>
      <p:sp>
        <p:nvSpPr>
          <p:cNvPr id="1634486851" name="Filet"/>
          <p:cNvSpPr/>
          <p:nvPr/>
        </p:nvSpPr>
        <p:spPr bwMode="auto">
          <a:xfrm>
            <a:off x="914400" y="1473200"/>
            <a:ext cx="685800" cy="50800"/>
          </a:xfrm>
          <a:prstGeom prst="rect">
            <a:avLst/>
          </a:prstGeom>
          <a:solidFill>
            <a:srgbClr val="2563EB"/>
          </a:solidFill>
          <a:ln>
            <a:noFill/>
          </a:ln>
        </p:spPr>
        <p:txBody>
          <a:bodyPr wrap="square" lIns="0" tIns="0" rIns="0" bIns="0" anchor="t">
            <a:normAutofit/>
          </a:bodyPr>
          <a:lstStyle/>
          <a:p>
            <a:pPr>
              <a:defRPr/>
            </a:pPr>
            <a:endParaRPr/>
          </a:p>
        </p:txBody>
      </p:sp>
      <p:sp>
        <p:nvSpPr>
          <p:cNvPr id="1908862013" name="PanelL"/>
          <p:cNvSpPr/>
          <p:nvPr/>
        </p:nvSpPr>
        <p:spPr bwMode="auto">
          <a:xfrm>
            <a:off x="914400" y="1905000"/>
            <a:ext cx="5080000" cy="4089400"/>
          </a:xfrm>
          <a:prstGeom prst="roundRect">
            <a:avLst>
              <a:gd name="adj" fmla="val 5000"/>
            </a:avLst>
          </a:prstGeom>
          <a:solidFill>
            <a:srgbClr val="F1F5F9"/>
          </a:solidFill>
          <a:ln w="9525">
            <a:solidFill>
              <a:srgbClr val="E2E8F0"/>
            </a:solidFill>
          </a:ln>
        </p:spPr>
        <p:txBody>
          <a:bodyPr wrap="square" lIns="0" tIns="0" rIns="0" bIns="0" anchor="t">
            <a:normAutofit/>
          </a:bodyPr>
          <a:lstStyle/>
          <a:p>
            <a:pPr>
              <a:defRPr/>
            </a:pPr>
            <a:endParaRPr/>
          </a:p>
        </p:txBody>
      </p:sp>
      <p:sp>
        <p:nvSpPr>
          <p:cNvPr id="1532721015" name="ObjLabel"/>
          <p:cNvSpPr txBox="1"/>
          <p:nvPr/>
        </p:nvSpPr>
        <p:spPr bwMode="auto">
          <a:xfrm>
            <a:off x="1244600" y="2311399"/>
            <a:ext cx="4419600" cy="304800"/>
          </a:xfrm>
          <a:prstGeom prst="rect">
            <a:avLst/>
          </a:prstGeom>
          <a:noFill/>
          <a:ln>
            <a:noFill/>
          </a:ln>
        </p:spPr>
        <p:txBody>
          <a:bodyPr wrap="square" lIns="0" tIns="0" rIns="0" bIns="0" anchor="t">
            <a:normAutofit/>
          </a:bodyPr>
          <a:lstStyle/>
          <a:p>
            <a:pPr>
              <a:buNone/>
              <a:defRPr/>
            </a:pPr>
            <a:r>
              <a:rPr lang="fr-FR" sz="1500" b="1" spc="200">
                <a:solidFill>
                  <a:srgbClr val="2563EB"/>
                </a:solidFill>
              </a:rPr>
              <a:t>OBJECTIF ATTEINT</a:t>
            </a:r>
            <a:endParaRPr/>
          </a:p>
        </p:txBody>
      </p:sp>
      <p:sp>
        <p:nvSpPr>
          <p:cNvPr id="1817786245" name="ObjStmt"/>
          <p:cNvSpPr txBox="1"/>
          <p:nvPr/>
        </p:nvSpPr>
        <p:spPr bwMode="auto">
          <a:xfrm>
            <a:off x="1244600" y="2819400"/>
            <a:ext cx="4419600" cy="2540000"/>
          </a:xfrm>
          <a:prstGeom prst="rect">
            <a:avLst/>
          </a:prstGeom>
          <a:noFill/>
          <a:ln>
            <a:noFill/>
          </a:ln>
        </p:spPr>
        <p:txBody>
          <a:bodyPr wrap="square" lIns="0" tIns="0" rIns="0" bIns="0" anchor="t">
            <a:normAutofit/>
          </a:bodyPr>
          <a:lstStyle/>
          <a:p>
            <a:pPr>
              <a:lnSpc>
                <a:spcPts val="2500"/>
              </a:lnSpc>
              <a:buNone/>
              <a:defRPr/>
            </a:pPr>
            <a:r>
              <a:rPr lang="fr-FR" sz="1900">
                <a:solidFill>
                  <a:srgbClr val="0B1F3A"/>
                </a:solidFill>
                <a:latin typeface="Segoe UI Semibold"/>
              </a:rPr>
              <a:t>Le POC démontre la faisabilité de prédire les tendances à partir d'indicateurs socio-économiques.</a:t>
            </a:r>
            <a:endParaRPr/>
          </a:p>
          <a:p>
            <a:pPr>
              <a:spcBef>
                <a:spcPts val="800"/>
              </a:spcBef>
              <a:buNone/>
              <a:defRPr/>
            </a:pPr>
            <a:r>
              <a:rPr lang="fr-FR" sz="1500">
                <a:solidFill>
                  <a:srgbClr val="64748B"/>
                </a:solidFill>
              </a:rPr>
              <a:t>Hypothèse validée sur la Nouvelle-Aquitaine.</a:t>
            </a:r>
            <a:endParaRPr/>
          </a:p>
        </p:txBody>
      </p:sp>
      <p:sp>
        <p:nvSpPr>
          <p:cNvPr id="1822721600" name="CompLabel"/>
          <p:cNvSpPr txBox="1"/>
          <p:nvPr/>
        </p:nvSpPr>
        <p:spPr bwMode="auto">
          <a:xfrm>
            <a:off x="6451600" y="2260600"/>
            <a:ext cx="4826000" cy="254000"/>
          </a:xfrm>
          <a:prstGeom prst="rect">
            <a:avLst/>
          </a:prstGeom>
          <a:noFill/>
          <a:ln>
            <a:noFill/>
          </a:ln>
        </p:spPr>
        <p:txBody>
          <a:bodyPr wrap="square" lIns="0" tIns="0" rIns="0" bIns="0" anchor="t">
            <a:normAutofit/>
          </a:bodyPr>
          <a:lstStyle/>
          <a:p>
            <a:pPr>
              <a:buNone/>
              <a:defRPr/>
            </a:pPr>
            <a:r>
              <a:rPr lang="fr-FR" sz="1400" b="1" spc="200">
                <a:solidFill>
                  <a:srgbClr val="64748B"/>
                </a:solidFill>
              </a:rPr>
              <a:t>COMPÉTENCES ACQUISES</a:t>
            </a:r>
            <a:endParaRPr/>
          </a:p>
        </p:txBody>
      </p:sp>
      <p:sp>
        <p:nvSpPr>
          <p:cNvPr id="1917371620" name="Comp0"/>
          <p:cNvSpPr/>
          <p:nvPr/>
        </p:nvSpPr>
        <p:spPr bwMode="auto">
          <a:xfrm>
            <a:off x="6451600" y="2692400"/>
            <a:ext cx="4826000" cy="533400"/>
          </a:xfrm>
          <a:prstGeom prst="roundRect">
            <a:avLst>
              <a:gd name="adj" fmla="val 30000"/>
            </a:avLst>
          </a:prstGeom>
          <a:solidFill>
            <a:srgbClr val="EEF2FB"/>
          </a:solidFill>
          <a:ln>
            <a:noFill/>
          </a:ln>
        </p:spPr>
        <p:txBody>
          <a:bodyPr wrap="square" lIns="254000" tIns="76200" rIns="76200" bIns="76200" anchor="ctr">
            <a:normAutofit/>
          </a:bodyPr>
          <a:lstStyle/>
          <a:p>
            <a:pPr algn="l">
              <a:buNone/>
              <a:defRPr/>
            </a:pPr>
            <a:r>
              <a:rPr lang="fr-FR" sz="1500">
                <a:solidFill>
                  <a:srgbClr val="0B1F3A"/>
                </a:solidFill>
                <a:latin typeface="Segoe UI Semibold"/>
              </a:rPr>
              <a:t>ETL &amp; Big Data</a:t>
            </a:r>
            <a:endParaRPr/>
          </a:p>
        </p:txBody>
      </p:sp>
      <p:sp>
        <p:nvSpPr>
          <p:cNvPr id="1990506561" name="Comp1"/>
          <p:cNvSpPr/>
          <p:nvPr/>
        </p:nvSpPr>
        <p:spPr bwMode="auto">
          <a:xfrm>
            <a:off x="6451600" y="3378200"/>
            <a:ext cx="4826000" cy="533400"/>
          </a:xfrm>
          <a:prstGeom prst="roundRect">
            <a:avLst>
              <a:gd name="adj" fmla="val 30000"/>
            </a:avLst>
          </a:prstGeom>
          <a:solidFill>
            <a:srgbClr val="EEF2FB"/>
          </a:solidFill>
          <a:ln>
            <a:noFill/>
          </a:ln>
        </p:spPr>
        <p:txBody>
          <a:bodyPr wrap="square" lIns="254000" tIns="76200" rIns="76200" bIns="76200" anchor="ctr">
            <a:normAutofit/>
          </a:bodyPr>
          <a:lstStyle/>
          <a:p>
            <a:pPr algn="l">
              <a:buNone/>
              <a:defRPr/>
            </a:pPr>
            <a:r>
              <a:rPr lang="fr-FR" sz="1500">
                <a:solidFill>
                  <a:srgbClr val="0B1F3A"/>
                </a:solidFill>
                <a:latin typeface="Segoe UI Semibold"/>
              </a:rPr>
              <a:t>Machine Learning multiclasse</a:t>
            </a:r>
            <a:endParaRPr/>
          </a:p>
        </p:txBody>
      </p:sp>
      <p:sp>
        <p:nvSpPr>
          <p:cNvPr id="4584380" name="Comp2"/>
          <p:cNvSpPr/>
          <p:nvPr/>
        </p:nvSpPr>
        <p:spPr bwMode="auto">
          <a:xfrm>
            <a:off x="6451600" y="4064000"/>
            <a:ext cx="4826000" cy="533400"/>
          </a:xfrm>
          <a:prstGeom prst="roundRect">
            <a:avLst>
              <a:gd name="adj" fmla="val 30000"/>
            </a:avLst>
          </a:prstGeom>
          <a:solidFill>
            <a:srgbClr val="EEF2FB"/>
          </a:solidFill>
          <a:ln>
            <a:noFill/>
          </a:ln>
        </p:spPr>
        <p:txBody>
          <a:bodyPr wrap="square" lIns="254000" tIns="76200" rIns="76200" bIns="76200" anchor="ctr">
            <a:normAutofit/>
          </a:bodyPr>
          <a:lstStyle/>
          <a:p>
            <a:pPr algn="l">
              <a:buNone/>
              <a:defRPr/>
            </a:pPr>
            <a:r>
              <a:rPr lang="fr-FR" sz="1500">
                <a:solidFill>
                  <a:srgbClr val="0B1F3A"/>
                </a:solidFill>
                <a:latin typeface="Segoe UI Semibold"/>
              </a:rPr>
              <a:t>Dashboard interactif</a:t>
            </a:r>
            <a:endParaRPr/>
          </a:p>
        </p:txBody>
      </p:sp>
      <p:sp>
        <p:nvSpPr>
          <p:cNvPr id="1428912896" name="Comp3"/>
          <p:cNvSpPr/>
          <p:nvPr/>
        </p:nvSpPr>
        <p:spPr bwMode="auto">
          <a:xfrm>
            <a:off x="6451600" y="4749800"/>
            <a:ext cx="4826000" cy="533400"/>
          </a:xfrm>
          <a:prstGeom prst="roundRect">
            <a:avLst>
              <a:gd name="adj" fmla="val 30000"/>
            </a:avLst>
          </a:prstGeom>
          <a:solidFill>
            <a:srgbClr val="EEF2FB"/>
          </a:solidFill>
          <a:ln>
            <a:noFill/>
          </a:ln>
        </p:spPr>
        <p:txBody>
          <a:bodyPr wrap="square" lIns="254000" tIns="76200" rIns="76200" bIns="76200" anchor="ctr">
            <a:normAutofit/>
          </a:bodyPr>
          <a:lstStyle/>
          <a:p>
            <a:pPr algn="l">
              <a:buNone/>
              <a:defRPr/>
            </a:pPr>
            <a:r>
              <a:rPr lang="fr-FR" sz="1500">
                <a:solidFill>
                  <a:srgbClr val="0B1F3A"/>
                </a:solidFill>
                <a:latin typeface="Segoe UI Semibold"/>
              </a:rPr>
              <a:t>Gestion de projet (Agile / Trello)</a:t>
            </a:r>
            <a:endParaRPr/>
          </a:p>
        </p:txBody>
      </p:sp>
      <p:sp>
        <p:nvSpPr>
          <p:cNvPr id="1209294551" name="Page"/>
          <p:cNvSpPr txBox="1"/>
          <p:nvPr/>
        </p:nvSpPr>
        <p:spPr bwMode="auto">
          <a:xfrm>
            <a:off x="10515600" y="6451600"/>
            <a:ext cx="914400" cy="254000"/>
          </a:xfrm>
          <a:prstGeom prst="rect">
            <a:avLst/>
          </a:prstGeom>
          <a:noFill/>
          <a:ln>
            <a:noFill/>
          </a:ln>
        </p:spPr>
        <p:txBody>
          <a:bodyPr wrap="square" lIns="0" tIns="0" rIns="0" bIns="0" anchor="t">
            <a:normAutofit/>
          </a:bodyPr>
          <a:lstStyle/>
          <a:p>
            <a:pPr algn="r">
              <a:buNone/>
              <a:defRPr/>
            </a:pPr>
            <a:r>
              <a:rPr lang="fr-FR" sz="1400">
                <a:solidFill>
                  <a:srgbClr val="64748B"/>
                </a:solidFill>
              </a:rPr>
              <a:t>29</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med" p14:dur="500" advClick="1">
        <p:fade thruBlk="0"/>
      </p:transition>
    </mc:Choice>
    <mc:Fallback>
      <p:transition spd="med" advClick="1">
        <p:fade thruBlk="0"/>
      </p:transition>
    </mc:Fallback>
  </mc:AlternateContent>
  <p:timing>
    <p:tnLst>
      <p:par>
        <p:cTn id="1" dur="indefinite" restart="never" nodeType="tmRoot">
          <p:childTnLst>
            <p:par>
              <p:cTn id="2" fill="hold">
                <p:stCondLst>
                  <p:cond delay="0"/>
                </p:stCondLst>
                <p:childTnLst>
                  <p:par>
                    <p:cTn id="3" presetID="10" presetClass="entr" presetSubtype="0" fill="hold" grpId="0" nodeType="afterEffect">
                      <p:stCondLst>
                        <p:cond delay="500"/>
                      </p:stCondLst>
                      <p:childTnLst>
                        <p:set>
                          <p:cBhvr>
                            <p:cTn id="4" dur="1" fill="hold">
                              <p:stCondLst>
                                <p:cond delay="0"/>
                              </p:stCondLst>
                            </p:cTn>
                            <p:tgtEl>
                              <p:spTgt spid="719331377"/>
                            </p:tgtEl>
                            <p:attrNameLst>
                              <p:attrName>style.visibility</p:attrName>
                            </p:attrNameLst>
                          </p:cBhvr>
                          <p:to>
                            <p:strVal val="visible"/>
                          </p:to>
                        </p:set>
                        <p:animEffect transition="in" filter="fade">
                          <p:cBhvr>
                            <p:cTn id="5" dur="400"/>
                            <p:tgtEl>
                              <p:spTgt spid="719331377"/>
                            </p:tgtEl>
                          </p:cBhvr>
                        </p:animEffect>
                        <p:anim calcmode="lin" valueType="num">
                          <p:cBhvr additive="base">
                            <p:cTn id="6" dur="400" fill="hold"/>
                            <p:tgtEl>
                              <p:spTgt spid="719331377"/>
                            </p:tgtEl>
                            <p:attrNameLst>
                              <p:attrName>ppt_y</p:attrName>
                            </p:attrNameLst>
                          </p:cBhvr>
                          <p:tavLst>
                            <p:tav tm="0">
                              <p:val>
                                <p:fltVal val="0.045999999999999999"/>
                              </p:val>
                            </p:tav>
                            <p:tav tm="100000">
                              <p:val>
                                <p:fltVal val="0"/>
                              </p:val>
                            </p:tav>
                          </p:tavLst>
                        </p:anim>
                      </p:childTnLst>
                    </p:cTn>
                  </p:par>
                  <p:par>
                    <p:cTn id="7" presetID="10" presetClass="entr" presetSubtype="0" fill="hold" grpId="0" nodeType="afterEffect">
                      <p:stCondLst>
                        <p:cond delay="150"/>
                      </p:stCondLst>
                      <p:childTnLst>
                        <p:set>
                          <p:cBhvr>
                            <p:cTn id="8" dur="1" fill="hold">
                              <p:stCondLst>
                                <p:cond delay="0"/>
                              </p:stCondLst>
                            </p:cTn>
                            <p:tgtEl>
                              <p:spTgt spid="820960524"/>
                            </p:tgtEl>
                            <p:attrNameLst>
                              <p:attrName>style.visibility</p:attrName>
                            </p:attrNameLst>
                          </p:cBhvr>
                          <p:to>
                            <p:strVal val="visible"/>
                          </p:to>
                        </p:set>
                        <p:animEffect transition="in" filter="fade">
                          <p:cBhvr>
                            <p:cTn id="9" dur="400"/>
                            <p:tgtEl>
                              <p:spTgt spid="820960524"/>
                            </p:tgtEl>
                          </p:cBhvr>
                        </p:animEffect>
                        <p:anim calcmode="lin" valueType="num">
                          <p:cBhvr additive="base">
                            <p:cTn id="10" dur="400" fill="hold"/>
                            <p:tgtEl>
                              <p:spTgt spid="820960524"/>
                            </p:tgtEl>
                            <p:attrNameLst>
                              <p:attrName>ppt_y</p:attrName>
                            </p:attrNameLst>
                          </p:cBhvr>
                          <p:tavLst>
                            <p:tav tm="0">
                              <p:val>
                                <p:fltVal val="0.045999999999999999"/>
                              </p:val>
                            </p:tav>
                            <p:tav tm="100000">
                              <p:val>
                                <p:fltVal val="0"/>
                              </p:val>
                            </p:tav>
                          </p:tavLst>
                        </p:anim>
                      </p:childTnLst>
                    </p:cTn>
                  </p:par>
                  <p:par>
                    <p:cTn id="11" presetID="10" presetClass="entr" presetSubtype="0" fill="hold" grpId="0" nodeType="afterEffect">
                      <p:stCondLst>
                        <p:cond delay="150"/>
                      </p:stCondLst>
                      <p:childTnLst>
                        <p:set>
                          <p:cBhvr>
                            <p:cTn id="12" dur="1" fill="hold">
                              <p:stCondLst>
                                <p:cond delay="0"/>
                              </p:stCondLst>
                            </p:cTn>
                            <p:tgtEl>
                              <p:spTgt spid="1634486851"/>
                            </p:tgtEl>
                            <p:attrNameLst>
                              <p:attrName>style.visibility</p:attrName>
                            </p:attrNameLst>
                          </p:cBhvr>
                          <p:to>
                            <p:strVal val="visible"/>
                          </p:to>
                        </p:set>
                        <p:animEffect transition="in" filter="fade">
                          <p:cBhvr>
                            <p:cTn id="13" dur="400"/>
                            <p:tgtEl>
                              <p:spTgt spid="1634486851"/>
                            </p:tgtEl>
                          </p:cBhvr>
                        </p:animEffect>
                        <p:anim calcmode="lin" valueType="num">
                          <p:cBhvr additive="base">
                            <p:cTn id="14" dur="400" fill="hold"/>
                            <p:tgtEl>
                              <p:spTgt spid="1634486851"/>
                            </p:tgtEl>
                            <p:attrNameLst>
                              <p:attrName>ppt_y</p:attrName>
                            </p:attrNameLst>
                          </p:cBhvr>
                          <p:tavLst>
                            <p:tav tm="0">
                              <p:val>
                                <p:fltVal val="0.045999999999999999"/>
                              </p:val>
                            </p:tav>
                            <p:tav tm="100000">
                              <p:val>
                                <p:fltVal val="0"/>
                              </p:val>
                            </p:tav>
                          </p:tavLst>
                        </p:anim>
                      </p:childTnLst>
                    </p:cTn>
                  </p:par>
                  <p:par>
                    <p:cTn id="15" presetID="10" presetClass="entr" presetSubtype="0" fill="hold" grpId="0" nodeType="afterEffect">
                      <p:stCondLst>
                        <p:cond delay="150"/>
                      </p:stCondLst>
                      <p:childTnLst>
                        <p:set>
                          <p:cBhvr>
                            <p:cTn id="16" dur="1" fill="hold">
                              <p:stCondLst>
                                <p:cond delay="0"/>
                              </p:stCondLst>
                            </p:cTn>
                            <p:tgtEl>
                              <p:spTgt spid="1908862013"/>
                            </p:tgtEl>
                            <p:attrNameLst>
                              <p:attrName>style.visibility</p:attrName>
                            </p:attrNameLst>
                          </p:cBhvr>
                          <p:to>
                            <p:strVal val="visible"/>
                          </p:to>
                        </p:set>
                        <p:animEffect transition="in" filter="fade">
                          <p:cBhvr>
                            <p:cTn id="17" dur="400"/>
                            <p:tgtEl>
                              <p:spTgt spid="1908862013"/>
                            </p:tgtEl>
                          </p:cBhvr>
                        </p:animEffect>
                        <p:anim calcmode="lin" valueType="num">
                          <p:cBhvr additive="base">
                            <p:cTn id="18" dur="400" fill="hold"/>
                            <p:tgtEl>
                              <p:spTgt spid="1908862013"/>
                            </p:tgtEl>
                            <p:attrNameLst>
                              <p:attrName>ppt_y</p:attrName>
                            </p:attrNameLst>
                          </p:cBhvr>
                          <p:tavLst>
                            <p:tav tm="0">
                              <p:val>
                                <p:fltVal val="0.045999999999999999"/>
                              </p:val>
                            </p:tav>
                            <p:tav tm="100000">
                              <p:val>
                                <p:fltVal val="0"/>
                              </p:val>
                            </p:tav>
                          </p:tavLst>
                        </p:anim>
                      </p:childTnLst>
                    </p:cTn>
                  </p:par>
                  <p:par>
                    <p:cTn id="19" presetID="10" presetClass="entr" presetSubtype="0" fill="hold" grpId="0" nodeType="afterEffect">
                      <p:stCondLst>
                        <p:cond delay="150"/>
                      </p:stCondLst>
                      <p:childTnLst>
                        <p:set>
                          <p:cBhvr>
                            <p:cTn id="20" dur="1" fill="hold">
                              <p:stCondLst>
                                <p:cond delay="0"/>
                              </p:stCondLst>
                            </p:cTn>
                            <p:tgtEl>
                              <p:spTgt spid="1532721015"/>
                            </p:tgtEl>
                            <p:attrNameLst>
                              <p:attrName>style.visibility</p:attrName>
                            </p:attrNameLst>
                          </p:cBhvr>
                          <p:to>
                            <p:strVal val="visible"/>
                          </p:to>
                        </p:set>
                        <p:animEffect transition="in" filter="fade">
                          <p:cBhvr>
                            <p:cTn id="21" dur="400"/>
                            <p:tgtEl>
                              <p:spTgt spid="1532721015"/>
                            </p:tgtEl>
                          </p:cBhvr>
                        </p:animEffect>
                        <p:anim calcmode="lin" valueType="num">
                          <p:cBhvr additive="base">
                            <p:cTn id="22" dur="400" fill="hold"/>
                            <p:tgtEl>
                              <p:spTgt spid="1532721015"/>
                            </p:tgtEl>
                            <p:attrNameLst>
                              <p:attrName>ppt_y</p:attrName>
                            </p:attrNameLst>
                          </p:cBhvr>
                          <p:tavLst>
                            <p:tav tm="0">
                              <p:val>
                                <p:fltVal val="0.045999999999999999"/>
                              </p:val>
                            </p:tav>
                            <p:tav tm="100000">
                              <p:val>
                                <p:fltVal val="0"/>
                              </p:val>
                            </p:tav>
                          </p:tavLst>
                        </p:anim>
                      </p:childTnLst>
                    </p:cTn>
                  </p:par>
                  <p:par>
                    <p:cTn id="23" presetID="10" presetClass="entr" presetSubtype="0" fill="hold" grpId="0" nodeType="afterEffect">
                      <p:stCondLst>
                        <p:cond delay="150"/>
                      </p:stCondLst>
                      <p:childTnLst>
                        <p:set>
                          <p:cBhvr>
                            <p:cTn id="24" dur="1" fill="hold">
                              <p:stCondLst>
                                <p:cond delay="0"/>
                              </p:stCondLst>
                            </p:cTn>
                            <p:tgtEl>
                              <p:spTgt spid="1817786245"/>
                            </p:tgtEl>
                            <p:attrNameLst>
                              <p:attrName>style.visibility</p:attrName>
                            </p:attrNameLst>
                          </p:cBhvr>
                          <p:to>
                            <p:strVal val="visible"/>
                          </p:to>
                        </p:set>
                        <p:animEffect transition="in" filter="fade">
                          <p:cBhvr>
                            <p:cTn id="25" dur="400"/>
                            <p:tgtEl>
                              <p:spTgt spid="1817786245"/>
                            </p:tgtEl>
                          </p:cBhvr>
                        </p:animEffect>
                        <p:anim calcmode="lin" valueType="num">
                          <p:cBhvr additive="base">
                            <p:cTn id="26" dur="400" fill="hold"/>
                            <p:tgtEl>
                              <p:spTgt spid="1817786245"/>
                            </p:tgtEl>
                            <p:attrNameLst>
                              <p:attrName>ppt_y</p:attrName>
                            </p:attrNameLst>
                          </p:cBhvr>
                          <p:tavLst>
                            <p:tav tm="0">
                              <p:val>
                                <p:fltVal val="0.045999999999999999"/>
                              </p:val>
                            </p:tav>
                            <p:tav tm="100000">
                              <p:val>
                                <p:fltVal val="0"/>
                              </p:val>
                            </p:tav>
                          </p:tavLst>
                        </p:anim>
                      </p:childTnLst>
                    </p:cTn>
                  </p:par>
                  <p:par>
                    <p:cTn id="27" presetID="10" presetClass="entr" presetSubtype="0" fill="hold" grpId="0" nodeType="afterEffect">
                      <p:stCondLst>
                        <p:cond delay="150"/>
                      </p:stCondLst>
                      <p:childTnLst>
                        <p:set>
                          <p:cBhvr>
                            <p:cTn id="28" dur="1" fill="hold">
                              <p:stCondLst>
                                <p:cond delay="0"/>
                              </p:stCondLst>
                            </p:cTn>
                            <p:tgtEl>
                              <p:spTgt spid="1822721600"/>
                            </p:tgtEl>
                            <p:attrNameLst>
                              <p:attrName>style.visibility</p:attrName>
                            </p:attrNameLst>
                          </p:cBhvr>
                          <p:to>
                            <p:strVal val="visible"/>
                          </p:to>
                        </p:set>
                        <p:animEffect transition="in" filter="fade">
                          <p:cBhvr>
                            <p:cTn id="29" dur="400"/>
                            <p:tgtEl>
                              <p:spTgt spid="1822721600"/>
                            </p:tgtEl>
                          </p:cBhvr>
                        </p:animEffect>
                        <p:anim calcmode="lin" valueType="num">
                          <p:cBhvr additive="base">
                            <p:cTn id="30" dur="400" fill="hold"/>
                            <p:tgtEl>
                              <p:spTgt spid="1822721600"/>
                            </p:tgtEl>
                            <p:attrNameLst>
                              <p:attrName>ppt_y</p:attrName>
                            </p:attrNameLst>
                          </p:cBhvr>
                          <p:tavLst>
                            <p:tav tm="0">
                              <p:val>
                                <p:fltVal val="0.045999999999999999"/>
                              </p:val>
                            </p:tav>
                            <p:tav tm="100000">
                              <p:val>
                                <p:fltVal val="0"/>
                              </p:val>
                            </p:tav>
                          </p:tavLst>
                        </p:anim>
                      </p:childTnLst>
                    </p:cTn>
                  </p:par>
                  <p:par>
                    <p:cTn id="31" presetID="10" presetClass="entr" presetSubtype="0" fill="hold" grpId="0" nodeType="afterEffect">
                      <p:stCondLst>
                        <p:cond delay="150"/>
                      </p:stCondLst>
                      <p:childTnLst>
                        <p:set>
                          <p:cBhvr>
                            <p:cTn id="32" dur="1" fill="hold">
                              <p:stCondLst>
                                <p:cond delay="0"/>
                              </p:stCondLst>
                            </p:cTn>
                            <p:tgtEl>
                              <p:spTgt spid="1917371620"/>
                            </p:tgtEl>
                            <p:attrNameLst>
                              <p:attrName>style.visibility</p:attrName>
                            </p:attrNameLst>
                          </p:cBhvr>
                          <p:to>
                            <p:strVal val="visible"/>
                          </p:to>
                        </p:set>
                        <p:animEffect transition="in" filter="fade">
                          <p:cBhvr>
                            <p:cTn id="33" dur="400"/>
                            <p:tgtEl>
                              <p:spTgt spid="1917371620"/>
                            </p:tgtEl>
                          </p:cBhvr>
                        </p:animEffect>
                        <p:anim calcmode="lin" valueType="num">
                          <p:cBhvr additive="base">
                            <p:cTn id="34" dur="400" fill="hold"/>
                            <p:tgtEl>
                              <p:spTgt spid="1917371620"/>
                            </p:tgtEl>
                            <p:attrNameLst>
                              <p:attrName>ppt_y</p:attrName>
                            </p:attrNameLst>
                          </p:cBhvr>
                          <p:tavLst>
                            <p:tav tm="0">
                              <p:val>
                                <p:fltVal val="0.045999999999999999"/>
                              </p:val>
                            </p:tav>
                            <p:tav tm="100000">
                              <p:val>
                                <p:fltVal val="0"/>
                              </p:val>
                            </p:tav>
                          </p:tavLst>
                        </p:anim>
                      </p:childTnLst>
                    </p:cTn>
                  </p:par>
                  <p:par>
                    <p:cTn id="35" presetID="10" presetClass="entr" presetSubtype="0" fill="hold" grpId="0" nodeType="afterEffect">
                      <p:stCondLst>
                        <p:cond delay="150"/>
                      </p:stCondLst>
                      <p:childTnLst>
                        <p:set>
                          <p:cBhvr>
                            <p:cTn id="36" dur="1" fill="hold">
                              <p:stCondLst>
                                <p:cond delay="0"/>
                              </p:stCondLst>
                            </p:cTn>
                            <p:tgtEl>
                              <p:spTgt spid="1990506561"/>
                            </p:tgtEl>
                            <p:attrNameLst>
                              <p:attrName>style.visibility</p:attrName>
                            </p:attrNameLst>
                          </p:cBhvr>
                          <p:to>
                            <p:strVal val="visible"/>
                          </p:to>
                        </p:set>
                        <p:animEffect transition="in" filter="fade">
                          <p:cBhvr>
                            <p:cTn id="37" dur="400"/>
                            <p:tgtEl>
                              <p:spTgt spid="1990506561"/>
                            </p:tgtEl>
                          </p:cBhvr>
                        </p:animEffect>
                        <p:anim calcmode="lin" valueType="num">
                          <p:cBhvr additive="base">
                            <p:cTn id="38" dur="400" fill="hold"/>
                            <p:tgtEl>
                              <p:spTgt spid="1990506561"/>
                            </p:tgtEl>
                            <p:attrNameLst>
                              <p:attrName>ppt_y</p:attrName>
                            </p:attrNameLst>
                          </p:cBhvr>
                          <p:tavLst>
                            <p:tav tm="0">
                              <p:val>
                                <p:fltVal val="0.045999999999999999"/>
                              </p:val>
                            </p:tav>
                            <p:tav tm="100000">
                              <p:val>
                                <p:fltVal val="0"/>
                              </p:val>
                            </p:tav>
                          </p:tavLst>
                        </p:anim>
                      </p:childTnLst>
                    </p:cTn>
                  </p:par>
                  <p:par>
                    <p:cTn id="39" presetID="10" presetClass="entr" presetSubtype="0" fill="hold" grpId="0" nodeType="afterEffect">
                      <p:stCondLst>
                        <p:cond delay="150"/>
                      </p:stCondLst>
                      <p:childTnLst>
                        <p:set>
                          <p:cBhvr>
                            <p:cTn id="40" dur="1" fill="hold">
                              <p:stCondLst>
                                <p:cond delay="0"/>
                              </p:stCondLst>
                            </p:cTn>
                            <p:tgtEl>
                              <p:spTgt spid="4584380"/>
                            </p:tgtEl>
                            <p:attrNameLst>
                              <p:attrName>style.visibility</p:attrName>
                            </p:attrNameLst>
                          </p:cBhvr>
                          <p:to>
                            <p:strVal val="visible"/>
                          </p:to>
                        </p:set>
                        <p:animEffect transition="in" filter="fade">
                          <p:cBhvr>
                            <p:cTn id="41" dur="400"/>
                            <p:tgtEl>
                              <p:spTgt spid="4584380"/>
                            </p:tgtEl>
                          </p:cBhvr>
                        </p:animEffect>
                        <p:anim calcmode="lin" valueType="num">
                          <p:cBhvr additive="base">
                            <p:cTn id="42" dur="400" fill="hold"/>
                            <p:tgtEl>
                              <p:spTgt spid="4584380"/>
                            </p:tgtEl>
                            <p:attrNameLst>
                              <p:attrName>ppt_y</p:attrName>
                            </p:attrNameLst>
                          </p:cBhvr>
                          <p:tavLst>
                            <p:tav tm="0">
                              <p:val>
                                <p:fltVal val="0.045999999999999999"/>
                              </p:val>
                            </p:tav>
                            <p:tav tm="100000">
                              <p:val>
                                <p:fltVal val="0"/>
                              </p:val>
                            </p:tav>
                          </p:tavLst>
                        </p:anim>
                      </p:childTnLst>
                    </p:cTn>
                  </p:par>
                  <p:par>
                    <p:cTn id="43" presetID="10" presetClass="entr" presetSubtype="0" fill="hold" grpId="0" nodeType="afterEffect">
                      <p:stCondLst>
                        <p:cond delay="150"/>
                      </p:stCondLst>
                      <p:childTnLst>
                        <p:set>
                          <p:cBhvr>
                            <p:cTn id="44" dur="1" fill="hold">
                              <p:stCondLst>
                                <p:cond delay="0"/>
                              </p:stCondLst>
                            </p:cTn>
                            <p:tgtEl>
                              <p:spTgt spid="1428912896"/>
                            </p:tgtEl>
                            <p:attrNameLst>
                              <p:attrName>style.visibility</p:attrName>
                            </p:attrNameLst>
                          </p:cBhvr>
                          <p:to>
                            <p:strVal val="visible"/>
                          </p:to>
                        </p:set>
                        <p:animEffect transition="in" filter="fade">
                          <p:cBhvr>
                            <p:cTn id="45" dur="400"/>
                            <p:tgtEl>
                              <p:spTgt spid="1428912896"/>
                            </p:tgtEl>
                          </p:cBhvr>
                        </p:animEffect>
                        <p:anim calcmode="lin" valueType="num">
                          <p:cBhvr additive="base">
                            <p:cTn id="46" dur="400" fill="hold"/>
                            <p:tgtEl>
                              <p:spTgt spid="1428912896"/>
                            </p:tgtEl>
                            <p:attrNameLst>
                              <p:attrName>ppt_y</p:attrName>
                            </p:attrNameLst>
                          </p:cBhvr>
                          <p:tavLst>
                            <p:tav tm="0">
                              <p:val>
                                <p:fltVal val="0.045999999999999999"/>
                              </p:val>
                            </p:tav>
                            <p:tav tm="100000">
                              <p:val>
                                <p:fltVal val="0"/>
                              </p:val>
                            </p:tav>
                          </p:tavLst>
                        </p:anim>
                      </p:childTnLst>
                    </p:cTn>
                  </p:par>
                  <p:par>
                    <p:cTn id="47" presetID="10" presetClass="entr" presetSubtype="0" fill="hold" grpId="0" nodeType="afterEffect">
                      <p:stCondLst>
                        <p:cond delay="150"/>
                      </p:stCondLst>
                      <p:childTnLst>
                        <p:set>
                          <p:cBhvr>
                            <p:cTn id="48" dur="1" fill="hold">
                              <p:stCondLst>
                                <p:cond delay="0"/>
                              </p:stCondLst>
                            </p:cTn>
                            <p:tgtEl>
                              <p:spTgt spid="1209294551"/>
                            </p:tgtEl>
                            <p:attrNameLst>
                              <p:attrName>style.visibility</p:attrName>
                            </p:attrNameLst>
                          </p:cBhvr>
                          <p:to>
                            <p:strVal val="visible"/>
                          </p:to>
                        </p:set>
                        <p:animEffect transition="in" filter="fade">
                          <p:cBhvr>
                            <p:cTn id="49" dur="400"/>
                            <p:tgtEl>
                              <p:spTgt spid="1209294551"/>
                            </p:tgtEl>
                          </p:cBhvr>
                        </p:animEffect>
                        <p:anim calcmode="lin" valueType="num">
                          <p:cBhvr additive="base">
                            <p:cTn id="50" dur="400" fill="hold"/>
                            <p:tgtEl>
                              <p:spTgt spid="1209294551"/>
                            </p:tgtEl>
                            <p:attrNameLst>
                              <p:attrName>ppt_y</p:attrName>
                            </p:attrNameLst>
                          </p:cBhvr>
                          <p:tavLst>
                            <p:tav tm="0">
                              <p:val>
                                <p:fltVal val="0.045999999999999999"/>
                              </p:val>
                            </p:tav>
                            <p:tav tm="100000">
                              <p:val>
                                <p:fltVal val="0"/>
                              </p:val>
                            </p:tav>
                          </p:tavLst>
                        </p:anim>
                      </p:childTnLst>
                    </p:cTn>
                  </p:par>
                </p:childTnLst>
              </p:cTn>
            </p:par>
          </p:childTnLst>
        </p:cTn>
      </p:par>
    </p:tnLst>
    <p:bldLst>
      <p:bldP spid="719331377" grpId="0" animBg="1"/>
      <p:bldP spid="820960524" grpId="0" animBg="1"/>
      <p:bldP spid="1634486851" grpId="0" animBg="1"/>
      <p:bldP spid="1908862013" grpId="0" animBg="1"/>
      <p:bldP spid="1532721015" grpId="0" animBg="1"/>
      <p:bldP spid="1817786245" grpId="0" animBg="1"/>
      <p:bldP spid="1822721600" grpId="0" animBg="1"/>
      <p:bldP spid="1917371620" grpId="0" animBg="1"/>
      <p:bldP spid="1990506561" grpId="0" animBg="1"/>
      <p:bldP spid="4584380" grpId="0" animBg="1"/>
      <p:bldP spid="1428912896" grpId="0" animBg="1"/>
      <p:bldP spid="1209294551" grpId="0" animBg="1"/>
    </p:bldLst>
  </p:timing>
</p:sld>
</file>

<file path=ppt/slides/slide3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03684574" name="Eyebrow"/>
          <p:cNvSpPr txBox="1"/>
          <p:nvPr/>
        </p:nvSpPr>
        <p:spPr bwMode="auto">
          <a:xfrm>
            <a:off x="914400" y="1981200"/>
            <a:ext cx="10363200" cy="304800"/>
          </a:xfrm>
          <a:prstGeom prst="rect">
            <a:avLst/>
          </a:prstGeom>
          <a:noFill/>
          <a:ln>
            <a:noFill/>
          </a:ln>
        </p:spPr>
        <p:txBody>
          <a:bodyPr wrap="square" lIns="0" tIns="0" rIns="0" bIns="0" anchor="t">
            <a:normAutofit/>
          </a:bodyPr>
          <a:lstStyle/>
          <a:p>
            <a:pPr algn="ctr">
              <a:buNone/>
              <a:defRPr/>
            </a:pPr>
            <a:r>
              <a:rPr lang="fr-FR" sz="1400" b="1" spc="260">
                <a:solidFill>
                  <a:srgbClr val="2563EB"/>
                </a:solidFill>
                <a:latin typeface="Segoe UI Semibold"/>
              </a:rPr>
              <a:t>POC ELECTIO-ANALYTICS</a:t>
            </a:r>
            <a:endParaRPr/>
          </a:p>
        </p:txBody>
      </p:sp>
      <p:sp>
        <p:nvSpPr>
          <p:cNvPr id="1924080970" name="Merci"/>
          <p:cNvSpPr txBox="1"/>
          <p:nvPr/>
        </p:nvSpPr>
        <p:spPr bwMode="auto">
          <a:xfrm>
            <a:off x="914400" y="2616200"/>
            <a:ext cx="10363200" cy="762000"/>
          </a:xfrm>
          <a:prstGeom prst="rect">
            <a:avLst/>
          </a:prstGeom>
          <a:noFill/>
          <a:ln>
            <a:noFill/>
          </a:ln>
        </p:spPr>
        <p:txBody>
          <a:bodyPr wrap="square" lIns="0" tIns="0" rIns="0" bIns="0" anchor="t">
            <a:normAutofit/>
          </a:bodyPr>
          <a:lstStyle/>
          <a:p>
            <a:pPr algn="ctr">
              <a:buNone/>
              <a:defRPr/>
            </a:pPr>
            <a:r>
              <a:rPr lang="fr-FR" sz="4000">
                <a:solidFill>
                  <a:srgbClr val="0B1F3A"/>
                </a:solidFill>
                <a:latin typeface="Segoe UI Semibold"/>
              </a:rPr>
              <a:t>Merci de votre attention</a:t>
            </a:r>
            <a:endParaRPr/>
          </a:p>
        </p:txBody>
      </p:sp>
      <p:sp>
        <p:nvSpPr>
          <p:cNvPr id="1491648852" name="Questions"/>
          <p:cNvSpPr txBox="1"/>
          <p:nvPr/>
        </p:nvSpPr>
        <p:spPr bwMode="auto">
          <a:xfrm>
            <a:off x="914400" y="3556000"/>
            <a:ext cx="10363200" cy="508000"/>
          </a:xfrm>
          <a:prstGeom prst="rect">
            <a:avLst/>
          </a:prstGeom>
          <a:noFill/>
          <a:ln>
            <a:noFill/>
          </a:ln>
        </p:spPr>
        <p:txBody>
          <a:bodyPr wrap="square" lIns="0" tIns="0" rIns="0" bIns="0" anchor="t">
            <a:normAutofit/>
          </a:bodyPr>
          <a:lstStyle/>
          <a:p>
            <a:pPr algn="ctr">
              <a:buNone/>
              <a:defRPr/>
            </a:pPr>
            <a:r>
              <a:rPr lang="fr-FR" sz="2600">
                <a:solidFill>
                  <a:srgbClr val="2563EB"/>
                </a:solidFill>
                <a:latin typeface="Segoe UI Semibold"/>
              </a:rPr>
              <a:t>Questions ?</a:t>
            </a:r>
            <a:endParaRPr/>
          </a:p>
        </p:txBody>
      </p:sp>
      <p:sp>
        <p:nvSpPr>
          <p:cNvPr id="418444772" name="Filet"/>
          <p:cNvSpPr/>
          <p:nvPr/>
        </p:nvSpPr>
        <p:spPr bwMode="auto">
          <a:xfrm>
            <a:off x="5740400" y="4368800"/>
            <a:ext cx="711200" cy="50800"/>
          </a:xfrm>
          <a:prstGeom prst="rect">
            <a:avLst/>
          </a:prstGeom>
          <a:solidFill>
            <a:srgbClr val="2563EB"/>
          </a:solidFill>
          <a:ln>
            <a:noFill/>
          </a:ln>
        </p:spPr>
        <p:txBody>
          <a:bodyPr wrap="square" lIns="0" tIns="0" rIns="0" bIns="0" anchor="t">
            <a:normAutofit/>
          </a:bodyPr>
          <a:lstStyle/>
          <a:p>
            <a:pPr>
              <a:defRPr/>
            </a:pPr>
            <a:endParaRPr/>
          </a:p>
        </p:txBody>
      </p:sp>
      <p:sp>
        <p:nvSpPr>
          <p:cNvPr id="346508288" name="Equipe"/>
          <p:cNvSpPr txBox="1"/>
          <p:nvPr/>
        </p:nvSpPr>
        <p:spPr bwMode="auto">
          <a:xfrm>
            <a:off x="914400" y="4724399"/>
            <a:ext cx="10363200" cy="304800"/>
          </a:xfrm>
          <a:prstGeom prst="rect">
            <a:avLst/>
          </a:prstGeom>
          <a:noFill/>
          <a:ln>
            <a:noFill/>
          </a:ln>
        </p:spPr>
        <p:txBody>
          <a:bodyPr wrap="square" lIns="0" tIns="0" rIns="0" bIns="0" anchor="t">
            <a:normAutofit/>
          </a:bodyPr>
          <a:lstStyle/>
          <a:p>
            <a:pPr algn="ctr">
              <a:buNone/>
              <a:defRPr/>
            </a:pPr>
            <a:r>
              <a:rPr lang="fr-FR" sz="1500">
                <a:solidFill>
                  <a:srgbClr val="0B1F3A"/>
                </a:solidFill>
              </a:rPr>
              <a:t>Stephane DOUNGUE · Kelly TSANGA · Sara HADDAD · Lamiaa KHALIL · Sofiane CHELGHOUM</a:t>
            </a:r>
            <a:endParaRPr/>
          </a:p>
        </p:txBody>
      </p:sp>
      <p:sp>
        <p:nvSpPr>
          <p:cNvPr id="2051257270" name="Sous"/>
          <p:cNvSpPr txBox="1"/>
          <p:nvPr/>
        </p:nvSpPr>
        <p:spPr bwMode="auto">
          <a:xfrm>
            <a:off x="914400" y="5105400"/>
            <a:ext cx="10363200" cy="279400"/>
          </a:xfrm>
          <a:prstGeom prst="rect">
            <a:avLst/>
          </a:prstGeom>
          <a:noFill/>
          <a:ln>
            <a:noFill/>
          </a:ln>
        </p:spPr>
        <p:txBody>
          <a:bodyPr wrap="square" lIns="0" tIns="0" rIns="0" bIns="0" anchor="t">
            <a:normAutofit/>
          </a:bodyPr>
          <a:lstStyle/>
          <a:p>
            <a:pPr algn="ctr">
              <a:buNone/>
              <a:defRPr/>
            </a:pPr>
            <a:r>
              <a:rPr lang="fr-FR" sz="1400">
                <a:solidFill>
                  <a:srgbClr val="64748B"/>
                </a:solidFill>
              </a:rPr>
              <a:t>MSPR Big Data · Bloc 3 · EPSI · Juin 2026   —   Encadrant : Ali Zahaf</a:t>
            </a:r>
            <a:endParaRPr/>
          </a:p>
        </p:txBody>
      </p:sp>
      <p:sp>
        <p:nvSpPr>
          <p:cNvPr id="2067981110" name="Page"/>
          <p:cNvSpPr txBox="1"/>
          <p:nvPr/>
        </p:nvSpPr>
        <p:spPr bwMode="auto">
          <a:xfrm>
            <a:off x="10515600" y="6451600"/>
            <a:ext cx="914400" cy="254000"/>
          </a:xfrm>
          <a:prstGeom prst="rect">
            <a:avLst/>
          </a:prstGeom>
          <a:noFill/>
          <a:ln>
            <a:noFill/>
          </a:ln>
        </p:spPr>
        <p:txBody>
          <a:bodyPr wrap="square" lIns="0" tIns="0" rIns="0" bIns="0" anchor="t">
            <a:normAutofit/>
          </a:bodyPr>
          <a:lstStyle/>
          <a:p>
            <a:pPr algn="r">
              <a:buNone/>
              <a:defRPr/>
            </a:pPr>
            <a:r>
              <a:rPr lang="fr-FR" sz="1400">
                <a:solidFill>
                  <a:srgbClr val="64748B"/>
                </a:solidFill>
              </a:rPr>
              <a:t>30</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med" p14:dur="500" advClick="1">
        <p:fade thruBlk="0"/>
      </p:transition>
    </mc:Choice>
    <mc:Fallback>
      <p:transition spd="med" advClick="1">
        <p:fade thruBlk="0"/>
      </p:transition>
    </mc:Fallback>
  </mc:AlternateContent>
  <p:timing>
    <p:tnLst>
      <p:par>
        <p:cTn id="1" dur="indefinite" restart="never" nodeType="tmRoot">
          <p:childTnLst>
            <p:par>
              <p:cTn id="2" fill="hold">
                <p:stCondLst>
                  <p:cond delay="0"/>
                </p:stCondLst>
                <p:childTnLst>
                  <p:par>
                    <p:cTn id="3" presetID="10" presetClass="entr" presetSubtype="0" fill="hold" grpId="0" nodeType="afterEffect">
                      <p:stCondLst>
                        <p:cond delay="500"/>
                      </p:stCondLst>
                      <p:childTnLst>
                        <p:set>
                          <p:cBhvr>
                            <p:cTn id="4" dur="1" fill="hold">
                              <p:stCondLst>
                                <p:cond delay="0"/>
                              </p:stCondLst>
                            </p:cTn>
                            <p:tgtEl>
                              <p:spTgt spid="103684574"/>
                            </p:tgtEl>
                            <p:attrNameLst>
                              <p:attrName>style.visibility</p:attrName>
                            </p:attrNameLst>
                          </p:cBhvr>
                          <p:to>
                            <p:strVal val="visible"/>
                          </p:to>
                        </p:set>
                        <p:animEffect transition="in" filter="fade">
                          <p:cBhvr>
                            <p:cTn id="5" dur="400"/>
                            <p:tgtEl>
                              <p:spTgt spid="103684574"/>
                            </p:tgtEl>
                          </p:cBhvr>
                        </p:animEffect>
                        <p:anim calcmode="lin" valueType="num">
                          <p:cBhvr additive="base">
                            <p:cTn id="6" dur="400" fill="hold"/>
                            <p:tgtEl>
                              <p:spTgt spid="103684574"/>
                            </p:tgtEl>
                            <p:attrNameLst>
                              <p:attrName>ppt_y</p:attrName>
                            </p:attrNameLst>
                          </p:cBhvr>
                          <p:tavLst>
                            <p:tav tm="0">
                              <p:val>
                                <p:fltVal val="0.045999999999999999"/>
                              </p:val>
                            </p:tav>
                            <p:tav tm="100000">
                              <p:val>
                                <p:fltVal val="0"/>
                              </p:val>
                            </p:tav>
                          </p:tavLst>
                        </p:anim>
                      </p:childTnLst>
                    </p:cTn>
                  </p:par>
                  <p:par>
                    <p:cTn id="7" presetID="10" presetClass="entr" presetSubtype="0" fill="hold" grpId="0" nodeType="afterEffect">
                      <p:stCondLst>
                        <p:cond delay="150"/>
                      </p:stCondLst>
                      <p:childTnLst>
                        <p:set>
                          <p:cBhvr>
                            <p:cTn id="8" dur="1" fill="hold">
                              <p:stCondLst>
                                <p:cond delay="0"/>
                              </p:stCondLst>
                            </p:cTn>
                            <p:tgtEl>
                              <p:spTgt spid="1924080970"/>
                            </p:tgtEl>
                            <p:attrNameLst>
                              <p:attrName>style.visibility</p:attrName>
                            </p:attrNameLst>
                          </p:cBhvr>
                          <p:to>
                            <p:strVal val="visible"/>
                          </p:to>
                        </p:set>
                        <p:animEffect transition="in" filter="fade">
                          <p:cBhvr>
                            <p:cTn id="9" dur="400"/>
                            <p:tgtEl>
                              <p:spTgt spid="1924080970"/>
                            </p:tgtEl>
                          </p:cBhvr>
                        </p:animEffect>
                        <p:anim calcmode="lin" valueType="num">
                          <p:cBhvr additive="base">
                            <p:cTn id="10" dur="400" fill="hold"/>
                            <p:tgtEl>
                              <p:spTgt spid="1924080970"/>
                            </p:tgtEl>
                            <p:attrNameLst>
                              <p:attrName>ppt_y</p:attrName>
                            </p:attrNameLst>
                          </p:cBhvr>
                          <p:tavLst>
                            <p:tav tm="0">
                              <p:val>
                                <p:fltVal val="0.045999999999999999"/>
                              </p:val>
                            </p:tav>
                            <p:tav tm="100000">
                              <p:val>
                                <p:fltVal val="0"/>
                              </p:val>
                            </p:tav>
                          </p:tavLst>
                        </p:anim>
                      </p:childTnLst>
                    </p:cTn>
                  </p:par>
                  <p:par>
                    <p:cTn id="11" presetID="10" presetClass="entr" presetSubtype="0" fill="hold" grpId="0" nodeType="afterEffect">
                      <p:stCondLst>
                        <p:cond delay="150"/>
                      </p:stCondLst>
                      <p:childTnLst>
                        <p:set>
                          <p:cBhvr>
                            <p:cTn id="12" dur="1" fill="hold">
                              <p:stCondLst>
                                <p:cond delay="0"/>
                              </p:stCondLst>
                            </p:cTn>
                            <p:tgtEl>
                              <p:spTgt spid="1491648852"/>
                            </p:tgtEl>
                            <p:attrNameLst>
                              <p:attrName>style.visibility</p:attrName>
                            </p:attrNameLst>
                          </p:cBhvr>
                          <p:to>
                            <p:strVal val="visible"/>
                          </p:to>
                        </p:set>
                        <p:animEffect transition="in" filter="fade">
                          <p:cBhvr>
                            <p:cTn id="13" dur="400"/>
                            <p:tgtEl>
                              <p:spTgt spid="1491648852"/>
                            </p:tgtEl>
                          </p:cBhvr>
                        </p:animEffect>
                        <p:anim calcmode="lin" valueType="num">
                          <p:cBhvr additive="base">
                            <p:cTn id="14" dur="400" fill="hold"/>
                            <p:tgtEl>
                              <p:spTgt spid="1491648852"/>
                            </p:tgtEl>
                            <p:attrNameLst>
                              <p:attrName>ppt_y</p:attrName>
                            </p:attrNameLst>
                          </p:cBhvr>
                          <p:tavLst>
                            <p:tav tm="0">
                              <p:val>
                                <p:fltVal val="0.045999999999999999"/>
                              </p:val>
                            </p:tav>
                            <p:tav tm="100000">
                              <p:val>
                                <p:fltVal val="0"/>
                              </p:val>
                            </p:tav>
                          </p:tavLst>
                        </p:anim>
                      </p:childTnLst>
                    </p:cTn>
                  </p:par>
                  <p:par>
                    <p:cTn id="15" presetID="10" presetClass="entr" presetSubtype="0" fill="hold" grpId="0" nodeType="afterEffect">
                      <p:stCondLst>
                        <p:cond delay="150"/>
                      </p:stCondLst>
                      <p:childTnLst>
                        <p:set>
                          <p:cBhvr>
                            <p:cTn id="16" dur="1" fill="hold">
                              <p:stCondLst>
                                <p:cond delay="0"/>
                              </p:stCondLst>
                            </p:cTn>
                            <p:tgtEl>
                              <p:spTgt spid="418444772"/>
                            </p:tgtEl>
                            <p:attrNameLst>
                              <p:attrName>style.visibility</p:attrName>
                            </p:attrNameLst>
                          </p:cBhvr>
                          <p:to>
                            <p:strVal val="visible"/>
                          </p:to>
                        </p:set>
                        <p:animEffect transition="in" filter="fade">
                          <p:cBhvr>
                            <p:cTn id="17" dur="400"/>
                            <p:tgtEl>
                              <p:spTgt spid="418444772"/>
                            </p:tgtEl>
                          </p:cBhvr>
                        </p:animEffect>
                        <p:anim calcmode="lin" valueType="num">
                          <p:cBhvr additive="base">
                            <p:cTn id="18" dur="400" fill="hold"/>
                            <p:tgtEl>
                              <p:spTgt spid="418444772"/>
                            </p:tgtEl>
                            <p:attrNameLst>
                              <p:attrName>ppt_y</p:attrName>
                            </p:attrNameLst>
                          </p:cBhvr>
                          <p:tavLst>
                            <p:tav tm="0">
                              <p:val>
                                <p:fltVal val="0.045999999999999999"/>
                              </p:val>
                            </p:tav>
                            <p:tav tm="100000">
                              <p:val>
                                <p:fltVal val="0"/>
                              </p:val>
                            </p:tav>
                          </p:tavLst>
                        </p:anim>
                      </p:childTnLst>
                    </p:cTn>
                  </p:par>
                  <p:par>
                    <p:cTn id="19" presetID="10" presetClass="entr" presetSubtype="0" fill="hold" grpId="0" nodeType="afterEffect">
                      <p:stCondLst>
                        <p:cond delay="150"/>
                      </p:stCondLst>
                      <p:childTnLst>
                        <p:set>
                          <p:cBhvr>
                            <p:cTn id="20" dur="1" fill="hold">
                              <p:stCondLst>
                                <p:cond delay="0"/>
                              </p:stCondLst>
                            </p:cTn>
                            <p:tgtEl>
                              <p:spTgt spid="346508288"/>
                            </p:tgtEl>
                            <p:attrNameLst>
                              <p:attrName>style.visibility</p:attrName>
                            </p:attrNameLst>
                          </p:cBhvr>
                          <p:to>
                            <p:strVal val="visible"/>
                          </p:to>
                        </p:set>
                        <p:animEffect transition="in" filter="fade">
                          <p:cBhvr>
                            <p:cTn id="21" dur="400"/>
                            <p:tgtEl>
                              <p:spTgt spid="346508288"/>
                            </p:tgtEl>
                          </p:cBhvr>
                        </p:animEffect>
                        <p:anim calcmode="lin" valueType="num">
                          <p:cBhvr additive="base">
                            <p:cTn id="22" dur="400" fill="hold"/>
                            <p:tgtEl>
                              <p:spTgt spid="346508288"/>
                            </p:tgtEl>
                            <p:attrNameLst>
                              <p:attrName>ppt_y</p:attrName>
                            </p:attrNameLst>
                          </p:cBhvr>
                          <p:tavLst>
                            <p:tav tm="0">
                              <p:val>
                                <p:fltVal val="0.045999999999999999"/>
                              </p:val>
                            </p:tav>
                            <p:tav tm="100000">
                              <p:val>
                                <p:fltVal val="0"/>
                              </p:val>
                            </p:tav>
                          </p:tavLst>
                        </p:anim>
                      </p:childTnLst>
                    </p:cTn>
                  </p:par>
                  <p:par>
                    <p:cTn id="23" presetID="10" presetClass="entr" presetSubtype="0" fill="hold" grpId="0" nodeType="afterEffect">
                      <p:stCondLst>
                        <p:cond delay="150"/>
                      </p:stCondLst>
                      <p:childTnLst>
                        <p:set>
                          <p:cBhvr>
                            <p:cTn id="24" dur="1" fill="hold">
                              <p:stCondLst>
                                <p:cond delay="0"/>
                              </p:stCondLst>
                            </p:cTn>
                            <p:tgtEl>
                              <p:spTgt spid="2051257270"/>
                            </p:tgtEl>
                            <p:attrNameLst>
                              <p:attrName>style.visibility</p:attrName>
                            </p:attrNameLst>
                          </p:cBhvr>
                          <p:to>
                            <p:strVal val="visible"/>
                          </p:to>
                        </p:set>
                        <p:animEffect transition="in" filter="fade">
                          <p:cBhvr>
                            <p:cTn id="25" dur="400"/>
                            <p:tgtEl>
                              <p:spTgt spid="2051257270"/>
                            </p:tgtEl>
                          </p:cBhvr>
                        </p:animEffect>
                        <p:anim calcmode="lin" valueType="num">
                          <p:cBhvr additive="base">
                            <p:cTn id="26" dur="400" fill="hold"/>
                            <p:tgtEl>
                              <p:spTgt spid="2051257270"/>
                            </p:tgtEl>
                            <p:attrNameLst>
                              <p:attrName>ppt_y</p:attrName>
                            </p:attrNameLst>
                          </p:cBhvr>
                          <p:tavLst>
                            <p:tav tm="0">
                              <p:val>
                                <p:fltVal val="0.045999999999999999"/>
                              </p:val>
                            </p:tav>
                            <p:tav tm="100000">
                              <p:val>
                                <p:fltVal val="0"/>
                              </p:val>
                            </p:tav>
                          </p:tavLst>
                        </p:anim>
                      </p:childTnLst>
                    </p:cTn>
                  </p:par>
                  <p:par>
                    <p:cTn id="27" presetID="10" presetClass="entr" presetSubtype="0" fill="hold" grpId="0" nodeType="afterEffect">
                      <p:stCondLst>
                        <p:cond delay="150"/>
                      </p:stCondLst>
                      <p:childTnLst>
                        <p:set>
                          <p:cBhvr>
                            <p:cTn id="28" dur="1" fill="hold">
                              <p:stCondLst>
                                <p:cond delay="0"/>
                              </p:stCondLst>
                            </p:cTn>
                            <p:tgtEl>
                              <p:spTgt spid="2067981110"/>
                            </p:tgtEl>
                            <p:attrNameLst>
                              <p:attrName>style.visibility</p:attrName>
                            </p:attrNameLst>
                          </p:cBhvr>
                          <p:to>
                            <p:strVal val="visible"/>
                          </p:to>
                        </p:set>
                        <p:animEffect transition="in" filter="fade">
                          <p:cBhvr>
                            <p:cTn id="29" dur="400"/>
                            <p:tgtEl>
                              <p:spTgt spid="2067981110"/>
                            </p:tgtEl>
                          </p:cBhvr>
                        </p:animEffect>
                        <p:anim calcmode="lin" valueType="num">
                          <p:cBhvr additive="base">
                            <p:cTn id="30" dur="400" fill="hold"/>
                            <p:tgtEl>
                              <p:spTgt spid="2067981110"/>
                            </p:tgtEl>
                            <p:attrNameLst>
                              <p:attrName>ppt_y</p:attrName>
                            </p:attrNameLst>
                          </p:cBhvr>
                          <p:tavLst>
                            <p:tav tm="0">
                              <p:val>
                                <p:fltVal val="0.045999999999999999"/>
                              </p:val>
                            </p:tav>
                            <p:tav tm="100000">
                              <p:val>
                                <p:fltVal val="0"/>
                              </p:val>
                            </p:tav>
                          </p:tavLst>
                        </p:anim>
                      </p:childTnLst>
                    </p:cTn>
                  </p:par>
                </p:childTnLst>
              </p:cTn>
            </p:par>
          </p:childTnLst>
        </p:cTn>
      </p:par>
    </p:tnLst>
    <p:bldLst>
      <p:bldP spid="103684574" grpId="0" animBg="1"/>
      <p:bldP spid="1924080970" grpId="0" animBg="1"/>
      <p:bldP spid="1491648852" grpId="0" animBg="1"/>
      <p:bldP spid="418444772" grpId="0" animBg="1"/>
      <p:bldP spid="346508288" grpId="0" animBg="1"/>
      <p:bldP spid="2051257270" grpId="0" animBg="1"/>
      <p:bldP spid="2067981110" grpId="0" animBg="1"/>
    </p:bldLst>
  </p:timing>
</p:sld>
</file>

<file path=ppt/theme/_rels/theme1.xml.rels><?xml version="1.0" encoding="UTF-8" standalone="yes"?><Relationships xmlns="http://schemas.openxmlformats.org/package/2006/relationships"></Relationships>
</file>

<file path=ppt/theme/_rels/theme2.xml.rels><?xml version="1.0" encoding="UTF-8" standalone="yes"?><Relationships xmlns="http://schemas.openxmlformats.org/package/2006/relationships"></Relationships>
</file>

<file path=ppt/theme/theme1.xml><?xml version="1.0" encoding="utf-8"?>
<a:theme xmlns:a="http://schemas.openxmlformats.org/drawingml/2006/main" xmlns:r="http://schemas.openxmlformats.org/officeDocument/2006/relationships" xmlns:p="http://schemas.openxmlformats.org/presentationml/2006/main" name="Thème Office [1781039774291]">
  <a:themeElements>
    <a:clrScheme name="Office">
      <a:dk1>
        <a:srgbClr val="0B1F3A"/>
      </a:dk1>
      <a:lt1>
        <a:srgbClr val="F8F9FB"/>
      </a:lt1>
      <a:dk2>
        <a:srgbClr val="64748B"/>
      </a:dk2>
      <a:lt2>
        <a:srgbClr val="E8ECF2"/>
      </a:lt2>
      <a:accent1>
        <a:srgbClr val="2563EB"/>
      </a:accent1>
      <a:accent2>
        <a:srgbClr val="E11D48"/>
      </a:accent2>
      <a:accent3>
        <a:srgbClr val="64748B"/>
      </a:accent3>
      <a:accent4>
        <a:srgbClr val="0B1F3A"/>
      </a:accent4>
      <a:accent5>
        <a:srgbClr val="2563EB"/>
      </a:accent5>
      <a:accent6>
        <a:srgbClr val="64748B"/>
      </a:accent6>
      <a:hlink>
        <a:srgbClr val="467886"/>
      </a:hlink>
      <a:folHlink>
        <a:srgbClr val="96607D"/>
      </a:folHlink>
    </a:clrScheme>
    <a:fontScheme name="Office">
      <a:majorFont>
        <a:latin typeface="Segoe UI Semibold"/>
        <a:ea typeface="Arial"/>
        <a:cs typeface="Arial"/>
      </a:majorFont>
      <a:minorFont>
        <a:latin typeface="Segoe UI Light"/>
        <a:ea typeface="Arial"/>
        <a:cs typeface="Arial"/>
      </a:minorFont>
    </a:fontScheme>
    <a:fmtScheme name="Office">
      <a:fillStyleLst>
        <a:solidFill>
          <a:schemeClr val="phClr"/>
        </a:solidFill>
        <a:gradFill>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bwMode="auto"/>
      <a:bodyPr/>
      <a:lstStyle/>
      <a:style>
        <a:lnRef idx="2">
          <a:schemeClr val="accent1"/>
        </a:lnRef>
        <a:fillRef idx="0">
          <a:schemeClr val="accent1"/>
        </a:fillRef>
        <a:effectRef idx="1">
          <a:schemeClr val="accent1"/>
        </a:effectRef>
        <a:fontRef idx="minor">
          <a:schemeClr val="tx1"/>
        </a:fontRef>
      </a:style>
    </a:lnDef>
  </a:objectDefaults>
</a:theme>
</file>

<file path=ppt/theme/theme2.xml><?xml version="1.0" encoding="utf-8"?>
<a:theme xmlns:a="http://schemas.openxmlformats.org/drawingml/2006/main" xmlns:r="http://schemas.openxmlformats.org/officeDocument/2006/relationships" xmlns:p="http://schemas.openxmlformats.org/presentation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Arial"/>
        <a:cs typeface="Arial"/>
      </a:majorFont>
      <a:minorFont>
        <a:latin typeface="Calibri"/>
        <a:ea typeface="Arial"/>
        <a:cs typeface="Arial"/>
      </a:minorFont>
    </a:fontScheme>
    <a:fmtScheme name="Office">
      <a:fillStyleLst>
        <a:solidFill>
          <a:schemeClr val="phClr"/>
        </a:solidFill>
        <a:gradFill>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heme>
</file>

<file path=docProps/app.xml><?xml version="1.0" encoding="utf-8"?>
<Properties xmlns="http://schemas.openxmlformats.org/officeDocument/2006/extended-properties" xmlns:vt="http://schemas.openxmlformats.org/officeDocument/2006/docPropsVTypes">
  <TotalTime>0</TotalTime>
  <Words>0</Words>
  <Application>ONLYOFFICE/9.2.0.100</Application>
  <PresentationFormat>On-screen Show (4:3)</PresentationFormat>
  <Paragraphs>0</Paragraphs>
  <Slides>30</Slides>
  <Notes>30</Notes>
  <HiddenSlides>0</HiddenSlides>
  <MMClips>2</MMClips>
  <ScaleCrop>0</ScaleCrop>
  <HeadingPairs>
    <vt:vector size="4" baseType="variant">
      <vt:variant>
        <vt:lpstr>Theme</vt:lpstr>
      </vt:variant>
      <vt:variant>
        <vt:i4>1</vt:i4>
      </vt:variant>
      <vt:variant>
        <vt:lpstr>Slide Titles</vt:lpstr>
      </vt:variant>
      <vt:variant>
        <vt:i4>30</vt:i4>
      </vt:variant>
    </vt:vector>
  </HeadingPairs>
  <TitlesOfParts>
    <vt:vector size="31" baseType="lpstr">
      <vt:lpstr>Theme 1</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vector>
  </TitlesOfParts>
  <Company/>
  <LinksUpToDate>0</LinksUpToDate>
  <SharedDoc>0</SharedDoc>
  <HyperlinksChanged>0</HyperlinksChanged>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93</cp:revision>
  <dcterms:created xsi:type="dcterms:W3CDTF">2026-06-09T20:59:46Z</dcterms:created>
  <dcterms:modified xsi:type="dcterms:W3CDTF">2026-06-10T19:30:15Z</dcterms:modified>
</cp:coreProperties>
</file>